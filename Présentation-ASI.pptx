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66" r:id="rId4"/>
  </p:sldMasterIdLst>
  <p:notesMasterIdLst>
    <p:notesMasterId r:id="rId20"/>
  </p:notesMasterIdLst>
  <p:handoutMasterIdLst>
    <p:handoutMasterId r:id="rId21"/>
  </p:handoutMasterIdLst>
  <p:sldIdLst>
    <p:sldId id="256" r:id="rId5"/>
    <p:sldId id="295" r:id="rId6"/>
    <p:sldId id="277" r:id="rId7"/>
    <p:sldId id="262" r:id="rId8"/>
    <p:sldId id="289" r:id="rId9"/>
    <p:sldId id="264" r:id="rId10"/>
    <p:sldId id="261" r:id="rId11"/>
    <p:sldId id="258" r:id="rId12"/>
    <p:sldId id="278" r:id="rId13"/>
    <p:sldId id="266" r:id="rId14"/>
    <p:sldId id="292" r:id="rId15"/>
    <p:sldId id="268" r:id="rId16"/>
    <p:sldId id="270" r:id="rId17"/>
    <p:sldId id="282" r:id="rId18"/>
    <p:sldId id="276" r:id="rId19"/>
  </p:sldIdLst>
  <p:sldSz cx="12192000" cy="6858000"/>
  <p:notesSz cx="6858000" cy="9144000"/>
  <p:embeddedFontLst>
    <p:embeddedFont>
      <p:font typeface="Tenorite" panose="00000500000000000000" pitchFamily="2" charset="0"/>
      <p:regular r:id="rId22"/>
      <p:bold r:id="rId23"/>
      <p:italic r:id="rId24"/>
      <p:boldItalic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C60CFC-0E2C-45B5-B6F9-933DFC1F147A}" v="2" dt="2026-05-17T18:17:41.555"/>
  </p1510:revLst>
</p1510:revInfo>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09" autoAdjust="0"/>
  </p:normalViewPr>
  <p:slideViewPr>
    <p:cSldViewPr snapToGrid="0">
      <p:cViewPr varScale="1">
        <p:scale>
          <a:sx n="64" d="100"/>
          <a:sy n="64" d="100"/>
        </p:scale>
        <p:origin x="978" y="78"/>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4.fnt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3.fntdata"/><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2.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1.fntdata"/><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5/18/2026</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5/18/2026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Master" Target="../slideMasters/slideMaster1.xml"/><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defRPr sz="3600" cap="all"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A04F1E16-9A84-4D0E-9706-79C396AF6AE6}"/>
              </a:ext>
            </a:extLst>
          </p:cNvPr>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bg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Lst>
          </p:cNvPr>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defRPr sz="2800" spc="150" baseline="0">
                <a:solidFill>
                  <a:schemeClr val="tx1">
                    <a:lumMod val="75000"/>
                    <a:lumOff val="25000"/>
                  </a:schemeClr>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a:lstStyle>
            <a:lvl1pPr>
              <a:defRPr sz="900"/>
            </a:lvl1pPr>
          </a:lstStyle>
          <a:p>
            <a:r>
              <a:rPr lang="en-US" dirty="0"/>
              <a:t>Pitch Deck</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dirty="0"/>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cxnSp>
        <p:nvCxnSpPr>
          <p:cNvPr id="3" name="Straight Connector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Straight Connector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Straight Connector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Straight Connector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Date Placeholder 4">
            <a:extLst>
              <a:ext uri="{FF2B5EF4-FFF2-40B4-BE49-F238E27FC236}">
                <a16:creationId xmlns:a16="http://schemas.microsoft.com/office/drawing/2014/main" id="{874DC36F-5D3E-439D-80B5-32633FC34434}"/>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a:lstStyle>
            <a:lvl1pPr algn="l">
              <a:defRPr sz="900"/>
            </a:lvl1pPr>
          </a:lstStyle>
          <a:p>
            <a:r>
              <a:rPr lang="en-US" dirty="0"/>
              <a:t>Pitch Deck</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accent2"/>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p:txBody>
          <a:body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p:txBody>
          <a:body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a:lstStyle/>
          <a:p>
            <a:fld id="{B5CEABB6-07DC-46E8-9B57-56EC44A396E5}" type="slidenum">
              <a:rPr lang="en-US" smtClean="0"/>
              <a:t>‹#›</a:t>
            </a:fld>
            <a:endParaRPr lang="en-US" dirty="0"/>
          </a:p>
        </p:txBody>
      </p:sp>
      <p:cxnSp>
        <p:nvCxnSpPr>
          <p:cNvPr id="2" name="Straight Connector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8" name="Graphic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pic>
        <p:nvPicPr>
          <p:cNvPr id="2" name="Graphic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14" name="Straight Connector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Date Placeholder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defRPr sz="3600" spc="150" baseline="0">
                <a:solidFill>
                  <a:schemeClr val="tx1">
                    <a:lumMod val="75000"/>
                    <a:lumOff val="25000"/>
                  </a:schemeClr>
                </a:solidFill>
              </a:defRPr>
            </a:lvl1pPr>
          </a:lstStyle>
          <a:p>
            <a:r>
              <a:rPr lang="en-US"/>
              <a:t>CLICK TO EDIT MASTER TITLE STYLE</a:t>
            </a:r>
          </a:p>
        </p:txBody>
      </p:sp>
      <p:pic>
        <p:nvPicPr>
          <p:cNvPr id="5" name="Graphic 4">
            <a:extLst>
              <a:ext uri="{FF2B5EF4-FFF2-40B4-BE49-F238E27FC236}">
                <a16:creationId xmlns:a16="http://schemas.microsoft.com/office/drawing/2014/main" id="{F05D2CCB-CCFC-4A8A-ADA9-C1E4D13B968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cxnSp>
        <p:nvCxnSpPr>
          <p:cNvPr id="9" name="Straight Connector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243104"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647665" y="3834606"/>
            <a:ext cx="2896671"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8066421"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rket comparison">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129698"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526261" y="4824188"/>
            <a:ext cx="3139479" cy="462927"/>
          </a:xfrm>
        </p:spPr>
        <p:txBody>
          <a:bodyPr>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pic>
        <p:nvPicPr>
          <p:cNvPr id="11" name="Graphic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13" name="Graphic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15" name="Graphic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25" name="Content Placeholder 3">
            <a:extLst>
              <a:ext uri="{FF2B5EF4-FFF2-40B4-BE49-F238E27FC236}">
                <a16:creationId xmlns:a16="http://schemas.microsoft.com/office/drawing/2014/main" id="{82D8880F-3EAC-45C9-91F2-19A193791A18}"/>
              </a:ext>
            </a:extLst>
          </p:cNvPr>
          <p:cNvSpPr>
            <a:spLocks noGrp="1"/>
          </p:cNvSpPr>
          <p:nvPr>
            <p:ph sz="half" idx="17"/>
          </p:nvPr>
        </p:nvSpPr>
        <p:spPr>
          <a:xfrm>
            <a:off x="1129698"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sz="quarter" idx="18"/>
          </p:nvPr>
        </p:nvSpPr>
        <p:spPr>
          <a:xfrm>
            <a:off x="4526261" y="5280763"/>
            <a:ext cx="3139479"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a:p>
            <a:pPr lvl="1"/>
            <a:r>
              <a:rPr lang="en-US"/>
              <a:t>Second level</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sz="half" idx="19"/>
          </p:nvPr>
        </p:nvSpPr>
        <p:spPr>
          <a:xfrm>
            <a:off x="7938210"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2933700" y="3834606"/>
            <a:ext cx="3924300"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7410173" y="3834606"/>
            <a:ext cx="3943627"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pic>
        <p:nvPicPr>
          <p:cNvPr id="11" name="Graphic 10">
            <a:extLst>
              <a:ext uri="{FF2B5EF4-FFF2-40B4-BE49-F238E27FC236}">
                <a16:creationId xmlns:a16="http://schemas.microsoft.com/office/drawing/2014/main" id="{EE24E1DB-1F20-4C28-8069-D9219D1F8BBD}"/>
              </a:ext>
            </a:extLst>
          </p:cNvPr>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hart and tab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sz="quarter" idx="16"/>
          </p:nvPr>
        </p:nvSpPr>
        <p:spPr>
          <a:xfrm>
            <a:off x="748749" y="1361938"/>
            <a:ext cx="6765925" cy="496888"/>
          </a:xfrm>
        </p:spPr>
        <p:txBody>
          <a:bodyPr>
            <a:noAutofit/>
          </a:bodyPr>
          <a:lstStyle>
            <a:lvl1pPr marL="0" indent="0">
              <a:buNone/>
              <a:defRPr sz="1800">
                <a:solidFill>
                  <a:schemeClr val="tx1">
                    <a:lumMod val="75000"/>
                    <a:lumOff val="25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sz="quarter" idx="13"/>
          </p:nvPr>
        </p:nvSpPr>
        <p:spPr>
          <a:xfrm>
            <a:off x="838200" y="2286002"/>
            <a:ext cx="6094270" cy="3542143"/>
          </a:xfrm>
        </p:spPr>
        <p:txBody>
          <a:bodyPr/>
          <a:lstStyle/>
          <a:p>
            <a:r>
              <a:rPr lang="en-US"/>
              <a:t>Click icon to add chart</a:t>
            </a:r>
            <a:endParaRPr lang="en-US" dirty="0"/>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sz="quarter" idx="14"/>
          </p:nvPr>
        </p:nvSpPr>
        <p:spPr>
          <a:xfrm>
            <a:off x="7858125" y="2284624"/>
            <a:ext cx="3147332" cy="306388"/>
          </a:xfrm>
        </p:spPr>
        <p:txBody>
          <a:bodyPr>
            <a:noAutofit/>
          </a:bodyPr>
          <a:lstStyle>
            <a:lvl1pPr marL="0" indent="0">
              <a:buNone/>
              <a:defRPr sz="1400" cap="all" spc="150" baseline="0">
                <a:solidFill>
                  <a:schemeClr val="tx1">
                    <a:lumMod val="75000"/>
                    <a:lumOff val="25000"/>
                  </a:schemeClr>
                </a:solidFill>
                <a:latin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lvl="0"/>
            <a:r>
              <a:rPr lang="en-US"/>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sz="quarter"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lvl="0"/>
            <a:r>
              <a:rPr lang="en-US" dirty="0"/>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290034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noProof="0" dirty="0"/>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a:lstStyle>
            <a:lvl1pPr>
              <a:defRPr sz="900"/>
            </a:lvl1pPr>
          </a:lstStyle>
          <a:p>
            <a:r>
              <a:rPr lang="en-US" noProof="0" dirty="0"/>
              <a:t>20XX</a:t>
            </a: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a:lstStyle>
            <a:lvl1pPr>
              <a:defRPr sz="900"/>
            </a:lvl1pPr>
          </a:lstStyle>
          <a:p>
            <a:r>
              <a:rPr lang="en-US" noProof="0" dirty="0"/>
              <a:t>Pitch Deck</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noProof="0" smtClean="0"/>
              <a:t>‹#›</a:t>
            </a:fld>
            <a:endParaRPr lang="en-US" noProof="0" dirty="0"/>
          </a:p>
        </p:txBody>
      </p:sp>
    </p:spTree>
    <p:extLst>
      <p:ext uri="{BB962C8B-B14F-4D97-AF65-F5344CB8AC3E}">
        <p14:creationId xmlns:p14="http://schemas.microsoft.com/office/powerpoint/2010/main" val="20563234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cxnSp>
        <p:nvCxnSpPr>
          <p:cNvPr id="10" name="Straight Connector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
        <p:nvSpPr>
          <p:cNvPr id="8" name="Content Placeholder 7">
            <a:extLst>
              <a:ext uri="{FF2B5EF4-FFF2-40B4-BE49-F238E27FC236}">
                <a16:creationId xmlns:a16="http://schemas.microsoft.com/office/drawing/2014/main" id="{F5756781-A599-0594-4502-A54BC85E87FF}"/>
              </a:ext>
            </a:extLst>
          </p:cNvPr>
          <p:cNvSpPr>
            <a:spLocks noGrp="1"/>
          </p:cNvSpPr>
          <p:nvPr>
            <p:ph sz="quarter" idx="16"/>
          </p:nvPr>
        </p:nvSpPr>
        <p:spPr>
          <a:xfrm>
            <a:off x="838199" y="2136775"/>
            <a:ext cx="10515599" cy="3697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487181"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3836914"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327578" y="2886074"/>
            <a:ext cx="1845511" cy="1845511"/>
          </a:xfrm>
          <a:solidFill>
            <a:schemeClr val="bg1">
              <a:lumMod val="95000"/>
            </a:schemeClr>
          </a:solidFill>
        </p:spPr>
        <p:txBody>
          <a:bodyPr>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8747458"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0" name="Straight Connector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bg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877176"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4226270"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716934" y="2428875"/>
            <a:ext cx="1066800" cy="1066800"/>
          </a:xfrm>
          <a:solidFill>
            <a:schemeClr val="tx1"/>
          </a:solidFill>
        </p:spPr>
        <p:txBody>
          <a:bodyPr>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9136814"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sz="quarter" idx="26"/>
          </p:nvPr>
        </p:nvSpPr>
        <p:spPr>
          <a:xfrm>
            <a:off x="1877176"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sz="quarter" idx="27"/>
          </p:nvPr>
        </p:nvSpPr>
        <p:spPr>
          <a:xfrm>
            <a:off x="4226270"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sz="quarter" idx="28"/>
          </p:nvPr>
        </p:nvSpPr>
        <p:spPr>
          <a:xfrm>
            <a:off x="6716934" y="4287711"/>
            <a:ext cx="1066800" cy="1066800"/>
          </a:xfrm>
          <a:solidFill>
            <a:schemeClr val="tx1"/>
          </a:solidFill>
        </p:spPr>
        <p:txBody>
          <a:bodyPr>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sz="quarter" idx="29"/>
          </p:nvPr>
        </p:nvSpPr>
        <p:spPr>
          <a:xfrm>
            <a:off x="9136814"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solidFill>
                  <a:srgbClr val="898989"/>
                </a:solidFill>
              </a:defRPr>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solidFill>
                  <a:srgbClr val="898989"/>
                </a:solidFill>
              </a:defRPr>
            </a:lvl1pPr>
          </a:lstStyle>
          <a:p>
            <a:fld id="{B5CEABB6-07DC-46E8-9B57-56EC44A396E5}" type="slidenum">
              <a:rPr lang="en-US" smtClean="0"/>
              <a:t>‹#›</a:t>
            </a:fld>
            <a:endParaRPr lang="en-US" dirty="0"/>
          </a:p>
        </p:txBody>
      </p:sp>
      <p:pic>
        <p:nvPicPr>
          <p:cNvPr id="13" name="Graphic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14" name="Graphic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Content Placeholder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838200"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4" name="Content Placeholder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3562665" y="5120722"/>
            <a:ext cx="2342205"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5" name="Content Placeholder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6298609"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6" name="Content Placeholder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492F9083-A886-4EEB-94D6-1FAE6DC33000}"/>
              </a:ext>
            </a:extLst>
          </p:cNvPr>
          <p:cNvSpPr>
            <a:spLocks noGrp="1"/>
          </p:cNvSpPr>
          <p:nvPr>
            <p:ph sz="half" idx="16"/>
          </p:nvPr>
        </p:nvSpPr>
        <p:spPr>
          <a:xfrm>
            <a:off x="9023074" y="5120366"/>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23" name="Straight Connector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200"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6" name="Graphic 5">
            <a:extLst>
              <a:ext uri="{FF2B5EF4-FFF2-40B4-BE49-F238E27FC236}">
                <a16:creationId xmlns:a16="http://schemas.microsoft.com/office/drawing/2014/main" id="{ED3361C9-310A-4255-A94E-B77588962D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20XX</a:t>
            </a: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700" r:id="rId12"/>
    <p:sldLayoutId id="2147483701" r:id="rId13"/>
    <p:sldLayoutId id="2147483692" r:id="rId14"/>
    <p:sldLayoutId id="2147483681" r:id="rId15"/>
    <p:sldLayoutId id="2147483674" r:id="rId16"/>
    <p:sldLayoutId id="2147483675" r:id="rId17"/>
    <p:sldLayoutId id="2147483696" r:id="rId18"/>
    <p:sldLayoutId id="2147483677" r:id="rId19"/>
    <p:sldLayoutId id="2147483678" r:id="rId20"/>
  </p:sldLayoutIdLst>
  <p:hf hdr="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8.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1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39.jpeg"/><Relationship Id="rId1" Type="http://schemas.openxmlformats.org/officeDocument/2006/relationships/slideLayout" Target="../slideLayouts/slideLayout16.xml"/><Relationship Id="rId5" Type="http://schemas.openxmlformats.org/officeDocument/2006/relationships/image" Target="../media/image42.jpeg"/><Relationship Id="rId4" Type="http://schemas.openxmlformats.org/officeDocument/2006/relationships/image" Target="../media/image4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815C6-3AD0-46E6-A74A-1967BD91AF50}"/>
              </a:ext>
            </a:extLst>
          </p:cNvPr>
          <p:cNvSpPr>
            <a:spLocks noGrp="1"/>
          </p:cNvSpPr>
          <p:nvPr>
            <p:ph type="title"/>
          </p:nvPr>
        </p:nvSpPr>
        <p:spPr>
          <a:xfrm>
            <a:off x="507577" y="1950243"/>
            <a:ext cx="10515600" cy="1325563"/>
          </a:xfrm>
        </p:spPr>
        <p:txBody>
          <a:bodyPr/>
          <a:lstStyle/>
          <a:p>
            <a:pPr algn="ctr"/>
            <a:r>
              <a:rPr lang="fr-FR" b="1" dirty="0">
                <a:solidFill>
                  <a:srgbClr val="0070C0"/>
                </a:solidFill>
                <a:latin typeface="Arial" panose="020B0604020202020204" pitchFamily="34" charset="0"/>
                <a:cs typeface="Arial" panose="020B0604020202020204" pitchFamily="34" charset="0"/>
              </a:rPr>
              <a:t>FACULTÉ DES SCIENCES ET DES TECHNOLOGIES </a:t>
            </a:r>
            <a:br>
              <a:rPr lang="fr-FR" b="1" dirty="0">
                <a:solidFill>
                  <a:srgbClr val="0070C0"/>
                </a:solidFill>
                <a:latin typeface="Arial" panose="020B0604020202020204" pitchFamily="34" charset="0"/>
                <a:cs typeface="Arial" panose="020B0604020202020204" pitchFamily="34" charset="0"/>
              </a:rPr>
            </a:br>
            <a:r>
              <a:rPr lang="fr-FR" b="1" dirty="0">
                <a:solidFill>
                  <a:srgbClr val="0070C0"/>
                </a:solidFill>
                <a:latin typeface="Arial" panose="020B0604020202020204" pitchFamily="34" charset="0"/>
                <a:cs typeface="Arial" panose="020B0604020202020204" pitchFamily="34" charset="0"/>
              </a:rPr>
              <a:t>(FST)</a:t>
            </a:r>
            <a:endParaRPr lang="en-US" b="1" dirty="0">
              <a:solidFill>
                <a:srgbClr val="0070C0"/>
              </a:solidFill>
              <a:latin typeface="Arial" panose="020B0604020202020204" pitchFamily="34" charset="0"/>
              <a:cs typeface="Arial" panose="020B0604020202020204" pitchFamily="34" charset="0"/>
            </a:endParaRPr>
          </a:p>
        </p:txBody>
      </p:sp>
      <p:sp>
        <p:nvSpPr>
          <p:cNvPr id="12" name="Chart Placeholder 11">
            <a:extLst>
              <a:ext uri="{FF2B5EF4-FFF2-40B4-BE49-F238E27FC236}">
                <a16:creationId xmlns:a16="http://schemas.microsoft.com/office/drawing/2014/main" id="{0FFB001D-0AF5-6548-FE89-8533FC46C9CD}"/>
              </a:ext>
            </a:extLst>
          </p:cNvPr>
          <p:cNvSpPr>
            <a:spLocks noGrp="1"/>
          </p:cNvSpPr>
          <p:nvPr>
            <p:ph type="chart" sz="quarter" idx="13"/>
          </p:nvPr>
        </p:nvSpPr>
        <p:spPr>
          <a:xfrm>
            <a:off x="4495110" y="3974602"/>
            <a:ext cx="6312310" cy="999162"/>
          </a:xfrm>
        </p:spPr>
        <p:txBody>
          <a:bodyPr>
            <a:normAutofit fontScale="47500" lnSpcReduction="20000"/>
          </a:bodyPr>
          <a:lstStyle/>
          <a:p>
            <a:pPr marL="0" indent="0" algn="ctr">
              <a:buNone/>
            </a:pPr>
            <a:r>
              <a:rPr lang="fr-FR" sz="5800" b="1" dirty="0">
                <a:solidFill>
                  <a:schemeClr val="tx1"/>
                </a:solidFill>
                <a:latin typeface="Arial" panose="020B0604020202020204" pitchFamily="34" charset="0"/>
                <a:cs typeface="Arial" panose="020B0604020202020204" pitchFamily="34" charset="0"/>
              </a:rPr>
              <a:t>Durcissement d’un serveur </a:t>
            </a:r>
            <a:r>
              <a:rPr lang="fr-FR" sz="5800" b="1" dirty="0" err="1">
                <a:solidFill>
                  <a:schemeClr val="tx1"/>
                </a:solidFill>
                <a:latin typeface="Arial" panose="020B0604020202020204" pitchFamily="34" charset="0"/>
                <a:cs typeface="Arial" panose="020B0604020202020204" pitchFamily="34" charset="0"/>
              </a:rPr>
              <a:t>OpenSSH</a:t>
            </a:r>
            <a:endParaRPr lang="en-US" sz="5800" b="1" dirty="0">
              <a:solidFill>
                <a:schemeClr val="tx1"/>
              </a:solidFill>
              <a:latin typeface="Arial" panose="020B0604020202020204" pitchFamily="34" charset="0"/>
              <a:cs typeface="Arial" panose="020B0604020202020204" pitchFamily="34" charset="0"/>
            </a:endParaRPr>
          </a:p>
          <a:p>
            <a:pPr marL="0" indent="0" algn="ctr">
              <a:buNone/>
            </a:pPr>
            <a:r>
              <a:rPr lang="en-US" b="1" dirty="0">
                <a:solidFill>
                  <a:schemeClr val="tx1"/>
                </a:solidFill>
                <a:latin typeface="Arial" panose="020B0604020202020204" pitchFamily="34" charset="0"/>
                <a:cs typeface="Arial" panose="020B0604020202020204" pitchFamily="34" charset="0"/>
              </a:rPr>
              <a:t>			</a:t>
            </a:r>
          </a:p>
        </p:txBody>
      </p:sp>
      <p:sp>
        <p:nvSpPr>
          <p:cNvPr id="13" name="Text Placeholder 12">
            <a:extLst>
              <a:ext uri="{FF2B5EF4-FFF2-40B4-BE49-F238E27FC236}">
                <a16:creationId xmlns:a16="http://schemas.microsoft.com/office/drawing/2014/main" id="{AD07F4D5-6A67-D4BA-BABF-3A0266120432}"/>
              </a:ext>
            </a:extLst>
          </p:cNvPr>
          <p:cNvSpPr>
            <a:spLocks noGrp="1"/>
          </p:cNvSpPr>
          <p:nvPr>
            <p:ph type="body" sz="quarter" idx="14"/>
          </p:nvPr>
        </p:nvSpPr>
        <p:spPr>
          <a:xfrm>
            <a:off x="951216" y="3275806"/>
            <a:ext cx="3147332" cy="306388"/>
          </a:xfrm>
        </p:spPr>
        <p:txBody>
          <a:bodyPr/>
          <a:lstStyle/>
          <a:p>
            <a:r>
              <a:rPr lang="en-US" sz="1600" b="1" dirty="0" err="1">
                <a:solidFill>
                  <a:schemeClr val="tx1"/>
                </a:solidFill>
                <a:latin typeface="Arial" panose="020B0604020202020204" pitchFamily="34" charset="0"/>
                <a:cs typeface="Arial" panose="020B0604020202020204" pitchFamily="34" charset="0"/>
              </a:rPr>
              <a:t>PrÉparÉ</a:t>
            </a:r>
            <a:r>
              <a:rPr lang="en-US" sz="1600" b="1" dirty="0">
                <a:solidFill>
                  <a:schemeClr val="tx1"/>
                </a:solidFill>
                <a:latin typeface="Arial" panose="020B0604020202020204" pitchFamily="34" charset="0"/>
                <a:cs typeface="Arial" panose="020B0604020202020204" pitchFamily="34" charset="0"/>
              </a:rPr>
              <a:t> par:</a:t>
            </a:r>
          </a:p>
        </p:txBody>
      </p:sp>
      <p:sp>
        <p:nvSpPr>
          <p:cNvPr id="3" name="Subtitle 2">
            <a:extLst>
              <a:ext uri="{FF2B5EF4-FFF2-40B4-BE49-F238E27FC236}">
                <a16:creationId xmlns:a16="http://schemas.microsoft.com/office/drawing/2014/main" id="{1901B20D-4C28-4DA3-ABBD-718C22A5E58B}"/>
              </a:ext>
            </a:extLst>
          </p:cNvPr>
          <p:cNvSpPr>
            <a:spLocks noGrp="1"/>
          </p:cNvSpPr>
          <p:nvPr>
            <p:ph sz="quarter" idx="15"/>
          </p:nvPr>
        </p:nvSpPr>
        <p:spPr>
          <a:xfrm>
            <a:off x="1070937" y="3611240"/>
            <a:ext cx="2907890" cy="1284676"/>
          </a:xfrm>
        </p:spPr>
        <p:txBody>
          <a:bodyPr>
            <a:normAutofit lnSpcReduction="10000"/>
          </a:bodyPr>
          <a:lstStyle/>
          <a:p>
            <a:r>
              <a:rPr lang="en-US" sz="1800" dirty="0">
                <a:solidFill>
                  <a:schemeClr val="tx1"/>
                </a:solidFill>
                <a:latin typeface="Arial" panose="020B0604020202020204" pitchFamily="34" charset="0"/>
                <a:cs typeface="Arial" panose="020B0604020202020204" pitchFamily="34" charset="0"/>
              </a:rPr>
              <a:t>Christy </a:t>
            </a:r>
            <a:r>
              <a:rPr lang="en-US" sz="1800" dirty="0" err="1">
                <a:solidFill>
                  <a:schemeClr val="tx1"/>
                </a:solidFill>
                <a:latin typeface="Arial" panose="020B0604020202020204" pitchFamily="34" charset="0"/>
                <a:cs typeface="Arial" panose="020B0604020202020204" pitchFamily="34" charset="0"/>
              </a:rPr>
              <a:t>Gérys</a:t>
            </a:r>
            <a:r>
              <a:rPr lang="en-US" sz="1800" dirty="0">
                <a:solidFill>
                  <a:schemeClr val="tx1"/>
                </a:solidFill>
                <a:latin typeface="Arial" panose="020B0604020202020204" pitchFamily="34" charset="0"/>
                <a:cs typeface="Arial" panose="020B0604020202020204" pitchFamily="34" charset="0"/>
              </a:rPr>
              <a:t> LAMBERT</a:t>
            </a:r>
          </a:p>
          <a:p>
            <a:r>
              <a:rPr lang="en-US" sz="1800" dirty="0">
                <a:solidFill>
                  <a:schemeClr val="tx1"/>
                </a:solidFill>
                <a:latin typeface="Arial" panose="020B0604020202020204" pitchFamily="34" charset="0"/>
                <a:cs typeface="Arial" panose="020B0604020202020204" pitchFamily="34" charset="0"/>
              </a:rPr>
              <a:t>Lens Sandro PÉTIOTE</a:t>
            </a:r>
          </a:p>
          <a:p>
            <a:r>
              <a:rPr lang="en-US" sz="1800" dirty="0" err="1">
                <a:solidFill>
                  <a:schemeClr val="tx1"/>
                </a:solidFill>
                <a:latin typeface="Arial" panose="020B0604020202020204" pitchFamily="34" charset="0"/>
                <a:cs typeface="Arial" panose="020B0604020202020204" pitchFamily="34" charset="0"/>
              </a:rPr>
              <a:t>Donsam</a:t>
            </a:r>
            <a:r>
              <a:rPr lang="en-US" sz="1800" dirty="0">
                <a:solidFill>
                  <a:schemeClr val="tx1"/>
                </a:solidFill>
                <a:latin typeface="Arial" panose="020B0604020202020204" pitchFamily="34" charset="0"/>
                <a:cs typeface="Arial" panose="020B0604020202020204" pitchFamily="34" charset="0"/>
              </a:rPr>
              <a:t> Jean Gabard NOEL</a:t>
            </a:r>
          </a:p>
        </p:txBody>
      </p:sp>
      <p:sp>
        <p:nvSpPr>
          <p:cNvPr id="15" name="Text Placeholder 13">
            <a:extLst>
              <a:ext uri="{FF2B5EF4-FFF2-40B4-BE49-F238E27FC236}">
                <a16:creationId xmlns:a16="http://schemas.microsoft.com/office/drawing/2014/main" id="{D1FBDF1B-DC85-6226-60A8-07070544AF1F}"/>
              </a:ext>
            </a:extLst>
          </p:cNvPr>
          <p:cNvSpPr>
            <a:spLocks noGrp="1"/>
          </p:cNvSpPr>
          <p:nvPr>
            <p:ph type="body" sz="quarter" idx="16"/>
          </p:nvPr>
        </p:nvSpPr>
        <p:spPr>
          <a:xfrm>
            <a:off x="9156594" y="5700943"/>
            <a:ext cx="2359742" cy="747251"/>
          </a:xfrm>
        </p:spPr>
        <p:txBody>
          <a:bodyPr/>
          <a:lstStyle/>
          <a:p>
            <a:pPr algn="r"/>
            <a:r>
              <a:rPr lang="en-US" dirty="0">
                <a:latin typeface="Arial" panose="020B0604020202020204" pitchFamily="34" charset="0"/>
                <a:cs typeface="Arial" panose="020B0604020202020204" pitchFamily="34" charset="0"/>
              </a:rPr>
              <a:t>Jacmel, 18 </a:t>
            </a:r>
            <a:r>
              <a:rPr lang="en-US" dirty="0" err="1">
                <a:latin typeface="Arial" panose="020B0604020202020204" pitchFamily="34" charset="0"/>
                <a:cs typeface="Arial" panose="020B0604020202020204" pitchFamily="34" charset="0"/>
              </a:rPr>
              <a:t>mai</a:t>
            </a:r>
            <a:r>
              <a:rPr lang="en-US" dirty="0">
                <a:latin typeface="Arial" panose="020B0604020202020204" pitchFamily="34" charset="0"/>
                <a:cs typeface="Arial" panose="020B0604020202020204" pitchFamily="34" charset="0"/>
              </a:rPr>
              <a:t> 2026</a:t>
            </a:r>
          </a:p>
        </p:txBody>
      </p:sp>
      <p:pic>
        <p:nvPicPr>
          <p:cNvPr id="5" name="Image 4">
            <a:extLst>
              <a:ext uri="{FF2B5EF4-FFF2-40B4-BE49-F238E27FC236}">
                <a16:creationId xmlns:a16="http://schemas.microsoft.com/office/drawing/2014/main" id="{E8FBC112-7DAC-751D-344A-F46E7626BB02}"/>
              </a:ext>
            </a:extLst>
          </p:cNvPr>
          <p:cNvPicPr>
            <a:picLocks noChangeAspect="1"/>
          </p:cNvPicPr>
          <p:nvPr/>
        </p:nvPicPr>
        <p:blipFill>
          <a:blip r:embed="rId2"/>
          <a:stretch>
            <a:fillRect/>
          </a:stretch>
        </p:blipFill>
        <p:spPr>
          <a:xfrm>
            <a:off x="3154166" y="75001"/>
            <a:ext cx="5775200" cy="2041084"/>
          </a:xfrm>
          <a:prstGeom prst="rect">
            <a:avLst/>
          </a:prstGeom>
        </p:spPr>
      </p:pic>
      <p:cxnSp>
        <p:nvCxnSpPr>
          <p:cNvPr id="7" name="Connecteur droit 6">
            <a:extLst>
              <a:ext uri="{FF2B5EF4-FFF2-40B4-BE49-F238E27FC236}">
                <a16:creationId xmlns:a16="http://schemas.microsoft.com/office/drawing/2014/main" id="{6D456DAD-11A0-498C-1E50-56F7C6C86B9B}"/>
              </a:ext>
            </a:extLst>
          </p:cNvPr>
          <p:cNvCxnSpPr>
            <a:cxnSpLocks/>
          </p:cNvCxnSpPr>
          <p:nvPr/>
        </p:nvCxnSpPr>
        <p:spPr>
          <a:xfrm>
            <a:off x="4098548" y="3429000"/>
            <a:ext cx="0" cy="245828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Text Placeholder 12">
            <a:extLst>
              <a:ext uri="{FF2B5EF4-FFF2-40B4-BE49-F238E27FC236}">
                <a16:creationId xmlns:a16="http://schemas.microsoft.com/office/drawing/2014/main" id="{B7C647CF-A0CF-5713-63E0-CC0FAACE2904}"/>
              </a:ext>
            </a:extLst>
          </p:cNvPr>
          <p:cNvSpPr txBox="1">
            <a:spLocks/>
          </p:cNvSpPr>
          <p:nvPr/>
        </p:nvSpPr>
        <p:spPr>
          <a:xfrm>
            <a:off x="951216" y="4973764"/>
            <a:ext cx="3147332" cy="306388"/>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400" kern="1200" cap="all" spc="150" baseline="0">
                <a:solidFill>
                  <a:schemeClr val="tx1">
                    <a:lumMod val="75000"/>
                    <a:lumOff val="25000"/>
                  </a:schemeClr>
                </a:solidFill>
                <a:latin typeface="+mj-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lumMod val="75000"/>
                    <a:lumOff val="2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lumMod val="75000"/>
                    <a:lumOff val="2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100" kern="1200">
                <a:solidFill>
                  <a:schemeClr val="tx1">
                    <a:lumMod val="75000"/>
                    <a:lumOff val="2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1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solidFill>
                  <a:schemeClr val="tx1"/>
                </a:solidFill>
                <a:latin typeface="Arial" panose="020B0604020202020204" pitchFamily="34" charset="0"/>
                <a:cs typeface="Arial" panose="020B0604020202020204" pitchFamily="34" charset="0"/>
              </a:rPr>
              <a:t>Sous la direction de :</a:t>
            </a:r>
          </a:p>
        </p:txBody>
      </p:sp>
      <p:sp>
        <p:nvSpPr>
          <p:cNvPr id="10" name="Subtitle 2">
            <a:extLst>
              <a:ext uri="{FF2B5EF4-FFF2-40B4-BE49-F238E27FC236}">
                <a16:creationId xmlns:a16="http://schemas.microsoft.com/office/drawing/2014/main" id="{A595B5F1-12A0-E028-0C7D-C4D5D738FE1E}"/>
              </a:ext>
            </a:extLst>
          </p:cNvPr>
          <p:cNvSpPr txBox="1">
            <a:spLocks/>
          </p:cNvSpPr>
          <p:nvPr/>
        </p:nvSpPr>
        <p:spPr>
          <a:xfrm>
            <a:off x="1070937" y="5280152"/>
            <a:ext cx="2907890" cy="306388"/>
          </a:xfrm>
          <a:prstGeom prst="rect">
            <a:avLst/>
          </a:prstGeom>
        </p:spPr>
        <p:txBody>
          <a:bodyPr vert="horz" lIns="91440" tIns="45720" rIns="91440" bIns="45720" rtlCol="0">
            <a:normAutofit fontScale="92500" lnSpcReduction="10000"/>
          </a:bodyPr>
          <a:lstStyle>
            <a:lvl1pPr marL="0" indent="0" algn="l" defTabSz="914400" rtl="0" eaLnBrk="1" latinLnBrk="0" hangingPunct="1">
              <a:lnSpc>
                <a:spcPct val="90000"/>
              </a:lnSpc>
              <a:spcBef>
                <a:spcPts val="1000"/>
              </a:spcBef>
              <a:buFont typeface="Arial" panose="020B0604020202020204" pitchFamily="34" charset="0"/>
              <a:buNone/>
              <a:defRPr sz="1200" kern="1200">
                <a:solidFill>
                  <a:schemeClr val="tx1">
                    <a:lumMod val="65000"/>
                    <a:lumOff val="3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100" kern="1200">
                <a:solidFill>
                  <a:schemeClr val="tx1">
                    <a:lumMod val="65000"/>
                    <a:lumOff val="3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050" kern="1200">
                <a:solidFill>
                  <a:schemeClr val="tx1">
                    <a:lumMod val="65000"/>
                    <a:lumOff val="3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lumMod val="65000"/>
                    <a:lumOff val="3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err="1">
                <a:solidFill>
                  <a:schemeClr val="tx1"/>
                </a:solidFill>
                <a:latin typeface="Arial" panose="020B0604020202020204" pitchFamily="34" charset="0"/>
                <a:cs typeface="Arial" panose="020B0604020202020204" pitchFamily="34" charset="0"/>
              </a:rPr>
              <a:t>M.Ismael</a:t>
            </a:r>
            <a:r>
              <a:rPr lang="en-US" sz="1800" dirty="0">
                <a:solidFill>
                  <a:schemeClr val="tx1"/>
                </a:solidFill>
                <a:latin typeface="Arial" panose="020B0604020202020204" pitchFamily="34" charset="0"/>
                <a:cs typeface="Arial" panose="020B0604020202020204" pitchFamily="34" charset="0"/>
              </a:rPr>
              <a:t> SAINT-Amour</a:t>
            </a:r>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6EE85-ADCB-97E1-3C6D-772EB5B4DE30}"/>
            </a:ext>
          </a:extLst>
        </p:cNvPr>
        <p:cNvGrpSpPr/>
        <p:nvPr/>
      </p:nvGrpSpPr>
      <p:grpSpPr>
        <a:xfrm>
          <a:off x="0" y="0"/>
          <a:ext cx="0" cy="0"/>
          <a:chOff x="0" y="0"/>
          <a:chExt cx="0" cy="0"/>
        </a:xfrm>
      </p:grpSpPr>
      <p:sp>
        <p:nvSpPr>
          <p:cNvPr id="33" name="ZoneTexte 32">
            <a:extLst>
              <a:ext uri="{FF2B5EF4-FFF2-40B4-BE49-F238E27FC236}">
                <a16:creationId xmlns:a16="http://schemas.microsoft.com/office/drawing/2014/main" id="{F57B91D7-ABE2-EBF2-7A3D-318436BED42F}"/>
              </a:ext>
            </a:extLst>
          </p:cNvPr>
          <p:cNvSpPr txBox="1"/>
          <p:nvPr/>
        </p:nvSpPr>
        <p:spPr>
          <a:xfrm>
            <a:off x="5807126" y="152613"/>
            <a:ext cx="3588250" cy="369332"/>
          </a:xfrm>
          <a:prstGeom prst="rect">
            <a:avLst/>
          </a:prstGeom>
          <a:noFill/>
        </p:spPr>
        <p:txBody>
          <a:bodyPr wrap="square">
            <a:spAutoFit/>
          </a:bodyPr>
          <a:lstStyle/>
          <a:p>
            <a:pPr marL="0" marR="0">
              <a:spcBef>
                <a:spcPts val="1800"/>
              </a:spcBef>
              <a:spcAft>
                <a:spcPts val="1000"/>
              </a:spcAft>
              <a:buNone/>
            </a:pPr>
            <a:r>
              <a:rPr lang="fr-HT" sz="1800" b="1" kern="0" dirty="0">
                <a:solidFill>
                  <a:srgbClr val="1F3864"/>
                </a:solidFill>
                <a:effectLst/>
                <a:latin typeface="Arial" panose="020B0604020202020204" pitchFamily="34" charset="0"/>
                <a:cs typeface="Arial" panose="020B0604020202020204" pitchFamily="34" charset="0"/>
              </a:rPr>
              <a:t>LISTE DES ABRÉVIATIONS</a:t>
            </a:r>
            <a:endParaRPr lang="en-US" sz="1800" b="1" kern="0" dirty="0">
              <a:solidFill>
                <a:srgbClr val="1F3864"/>
              </a:solidFill>
              <a:effectLst/>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46DB8E25-D480-4868-6311-13FDEDFD5E32}"/>
              </a:ext>
            </a:extLst>
          </p:cNvPr>
          <p:cNvSpPr>
            <a:spLocks noGrp="1"/>
          </p:cNvSpPr>
          <p:nvPr>
            <p:ph type="ctrTitle"/>
          </p:nvPr>
        </p:nvSpPr>
        <p:spPr>
          <a:xfrm>
            <a:off x="5807126" y="521946"/>
            <a:ext cx="6274945" cy="5998776"/>
          </a:xfrm>
        </p:spPr>
        <p:txBody>
          <a:bodyPr/>
          <a:lstStyle/>
          <a:p>
            <a:pPr>
              <a:lnSpc>
                <a:spcPct val="100000"/>
              </a:lnSpc>
            </a:pPr>
            <a:r>
              <a:rPr lang="fr-FR" sz="1700" dirty="0">
                <a:latin typeface="Arial" panose="020B0604020202020204" pitchFamily="34" charset="0"/>
                <a:cs typeface="Arial" panose="020B0604020202020204" pitchFamily="34" charset="0"/>
              </a:rPr>
              <a:t>SSH Secure Shell</a:t>
            </a:r>
            <a:br>
              <a:rPr lang="fr-FR" sz="1700" dirty="0">
                <a:latin typeface="Arial" panose="020B0604020202020204" pitchFamily="34" charset="0"/>
                <a:cs typeface="Arial" panose="020B0604020202020204" pitchFamily="34" charset="0"/>
              </a:rPr>
            </a:br>
            <a:r>
              <a:rPr lang="fr-FR" sz="1700" dirty="0" err="1">
                <a:latin typeface="Arial" panose="020B0604020202020204" pitchFamily="34" charset="0"/>
                <a:cs typeface="Arial" panose="020B0604020202020204" pitchFamily="34" charset="0"/>
              </a:rPr>
              <a:t>OpenSSH</a:t>
            </a:r>
            <a:r>
              <a:rPr lang="fr-FR" sz="1700" dirty="0">
                <a:latin typeface="Arial" panose="020B0604020202020204" pitchFamily="34" charset="0"/>
                <a:cs typeface="Arial" panose="020B0604020202020204" pitchFamily="34" charset="0"/>
              </a:rPr>
              <a:t> Open Secure Shell</a:t>
            </a:r>
            <a:br>
              <a:rPr lang="fr-FR" sz="1700" dirty="0">
                <a:latin typeface="Arial" panose="020B0604020202020204" pitchFamily="34" charset="0"/>
                <a:cs typeface="Arial" panose="020B0604020202020204" pitchFamily="34" charset="0"/>
              </a:rPr>
            </a:br>
            <a:r>
              <a:rPr lang="fr-FR" sz="1700" dirty="0" err="1">
                <a:latin typeface="Arial" panose="020B0604020202020204" pitchFamily="34" charset="0"/>
                <a:cs typeface="Arial" panose="020B0604020202020204" pitchFamily="34" charset="0"/>
              </a:rPr>
              <a:t>sshd</a:t>
            </a:r>
            <a:r>
              <a:rPr lang="fr-FR" sz="1700" dirty="0">
                <a:latin typeface="Arial" panose="020B0604020202020204" pitchFamily="34" charset="0"/>
                <a:cs typeface="Arial" panose="020B0604020202020204" pitchFamily="34" charset="0"/>
              </a:rPr>
              <a:t> SSH Daemon (service SSH)</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RSA Rivest-Shamir-Adleman (algorithme de chiffrement)</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ED25519 Edwards-</a:t>
            </a:r>
            <a:r>
              <a:rPr lang="fr-FR" sz="1700" dirty="0" err="1">
                <a:latin typeface="Arial" panose="020B0604020202020204" pitchFamily="34" charset="0"/>
                <a:cs typeface="Arial" panose="020B0604020202020204" pitchFamily="34" charset="0"/>
              </a:rPr>
              <a:t>curve</a:t>
            </a:r>
            <a:r>
              <a:rPr lang="fr-FR" sz="1700" dirty="0">
                <a:latin typeface="Arial" panose="020B0604020202020204" pitchFamily="34" charset="0"/>
                <a:cs typeface="Arial" panose="020B0604020202020204" pitchFamily="34" charset="0"/>
              </a:rPr>
              <a:t> Digital Signature </a:t>
            </a:r>
            <a:r>
              <a:rPr lang="fr-FR" sz="1700" dirty="0" err="1">
                <a:latin typeface="Arial" panose="020B0604020202020204" pitchFamily="34" charset="0"/>
                <a:cs typeface="Arial" panose="020B0604020202020204" pitchFamily="34" charset="0"/>
              </a:rPr>
              <a:t>Algorithm</a:t>
            </a:r>
            <a:r>
              <a:rPr lang="fr-FR" sz="1700" dirty="0">
                <a:latin typeface="Arial" panose="020B0604020202020204" pitchFamily="34" charset="0"/>
                <a:cs typeface="Arial" panose="020B0604020202020204" pitchFamily="34" charset="0"/>
              </a:rPr>
              <a:t> (25519 bits)</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VirtualBox Logiciel de virtualisation Oracle</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VM Virtual Machine (Machine Virtuelle)</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IP Internet Protocol</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TCP Transmission Control Protocol</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Fail2ban Outil de prévention des intrusions par bannissement IP</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UFW </a:t>
            </a:r>
            <a:r>
              <a:rPr lang="fr-FR" sz="1700" dirty="0" err="1">
                <a:latin typeface="Arial" panose="020B0604020202020204" pitchFamily="34" charset="0"/>
                <a:cs typeface="Arial" panose="020B0604020202020204" pitchFamily="34" charset="0"/>
              </a:rPr>
              <a:t>Uncomplicated</a:t>
            </a:r>
            <a:r>
              <a:rPr lang="fr-FR" sz="1700" dirty="0">
                <a:latin typeface="Arial" panose="020B0604020202020204" pitchFamily="34" charset="0"/>
                <a:cs typeface="Arial" panose="020B0604020202020204" pitchFamily="34" charset="0"/>
              </a:rPr>
              <a:t> Firewall</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Git Système de gestion de versions distribué</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GitHub Plateforme D’hébergement de dépôts Git</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CLI Command Line Interface (Interface en Ligne de Commande)</a:t>
            </a:r>
            <a:br>
              <a:rPr lang="fr-FR" sz="1700" dirty="0">
                <a:latin typeface="Arial" panose="020B0604020202020204" pitchFamily="34" charset="0"/>
                <a:cs typeface="Arial" panose="020B0604020202020204" pitchFamily="34" charset="0"/>
              </a:rPr>
            </a:br>
            <a:r>
              <a:rPr lang="fr-FR" sz="1700" dirty="0">
                <a:latin typeface="Arial" panose="020B0604020202020204" pitchFamily="34" charset="0"/>
                <a:cs typeface="Arial" panose="020B0604020202020204" pitchFamily="34" charset="0"/>
              </a:rPr>
              <a:t>OS Operating System (Système d&amp;#39;Exploitation)</a:t>
            </a:r>
          </a:p>
        </p:txBody>
      </p:sp>
    </p:spTree>
    <p:extLst>
      <p:ext uri="{BB962C8B-B14F-4D97-AF65-F5344CB8AC3E}">
        <p14:creationId xmlns:p14="http://schemas.microsoft.com/office/powerpoint/2010/main" val="1411565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9F29B-F233-48AF-8261-F33A4E079E3E}"/>
              </a:ext>
              <a:ext uri="{C183D7F6-B498-43B3-948B-1728B52AA6E4}">
                <adec:decorative xmlns:adec="http://schemas.microsoft.com/office/drawing/2017/decorative" val="0"/>
              </a:ext>
            </a:extLst>
          </p:cNvPr>
          <p:cNvSpPr>
            <a:spLocks noGrp="1"/>
          </p:cNvSpPr>
          <p:nvPr>
            <p:ph type="title"/>
          </p:nvPr>
        </p:nvSpPr>
        <p:spPr>
          <a:xfrm>
            <a:off x="2761606" y="0"/>
            <a:ext cx="4108296" cy="716340"/>
          </a:xfrm>
        </p:spPr>
        <p:txBody>
          <a:bodyPr/>
          <a:lstStyle/>
          <a:p>
            <a:r>
              <a:rPr lang="en-US" b="1" dirty="0">
                <a:solidFill>
                  <a:srgbClr val="0070C0"/>
                </a:solidFill>
                <a:latin typeface="Arial" panose="020B0604020202020204" pitchFamily="34" charset="0"/>
                <a:cs typeface="Arial" panose="020B0604020202020204" pitchFamily="34" charset="0"/>
              </a:rPr>
              <a:t>introduction</a:t>
            </a:r>
          </a:p>
        </p:txBody>
      </p:sp>
      <p:sp>
        <p:nvSpPr>
          <p:cNvPr id="3" name="Subtitle 2">
            <a:extLst>
              <a:ext uri="{FF2B5EF4-FFF2-40B4-BE49-F238E27FC236}">
                <a16:creationId xmlns:a16="http://schemas.microsoft.com/office/drawing/2014/main" id="{35E3EA69-4E0E-41BD-8095-A124225A2647}"/>
              </a:ext>
              <a:ext uri="{C183D7F6-B498-43B3-948B-1728B52AA6E4}">
                <adec:decorative xmlns:adec="http://schemas.microsoft.com/office/drawing/2017/decorative" val="0"/>
              </a:ext>
            </a:extLst>
          </p:cNvPr>
          <p:cNvSpPr>
            <a:spLocks noGrp="1"/>
          </p:cNvSpPr>
          <p:nvPr>
            <p:ph idx="1"/>
          </p:nvPr>
        </p:nvSpPr>
        <p:spPr>
          <a:xfrm>
            <a:off x="595901" y="811658"/>
            <a:ext cx="7335748" cy="5702158"/>
          </a:xfrm>
        </p:spPr>
        <p:txBody>
          <a:bodyPr>
            <a:normAutofit fontScale="92500" lnSpcReduction="10000"/>
          </a:bodyPr>
          <a:lstStyle/>
          <a:p>
            <a:pPr algn="just"/>
            <a:r>
              <a:rPr lang="fr-HT" sz="1900" dirty="0">
                <a:latin typeface="Arial" panose="020B0604020202020204" pitchFamily="34" charset="0"/>
                <a:cs typeface="Arial" panose="020B0604020202020204" pitchFamily="34" charset="0"/>
              </a:rPr>
              <a:t>	La sécurisation des accès distants constitue l'une des priorités fondamentales de l'administration système moderne. SSH  est le protocole de référence pour la gestion à distance des serveurs Linux, mais sa configuration par défaut n'offre pas un niveau de sécurité optimal face aux menaces actuelles telles que les attaques par force brute, les tentatives d'intrusion automatisées ou l'exploitation de comptes privilégiés.</a:t>
            </a:r>
            <a:endParaRPr lang="en-US" sz="1900" dirty="0">
              <a:latin typeface="Arial" panose="020B0604020202020204" pitchFamily="34" charset="0"/>
              <a:cs typeface="Arial" panose="020B0604020202020204" pitchFamily="34" charset="0"/>
            </a:endParaRPr>
          </a:p>
          <a:p>
            <a:pPr algn="just"/>
            <a:r>
              <a:rPr lang="fr-HT" sz="1900" dirty="0">
                <a:latin typeface="Arial" panose="020B0604020202020204" pitchFamily="34" charset="0"/>
                <a:cs typeface="Arial" panose="020B0604020202020204" pitchFamily="34" charset="0"/>
              </a:rPr>
              <a:t>Dans le cadre de ce projet, réalisé en équipe de trois personnes, nous avons mis en place un environnement de laboratoire sur VirtualBox afin d'expérimenter concrètement le durcissement (</a:t>
            </a:r>
            <a:r>
              <a:rPr lang="fr-HT" sz="1900" dirty="0" err="1">
                <a:latin typeface="Arial" panose="020B0604020202020204" pitchFamily="34" charset="0"/>
                <a:cs typeface="Arial" panose="020B0604020202020204" pitchFamily="34" charset="0"/>
              </a:rPr>
              <a:t>hardening</a:t>
            </a:r>
            <a:r>
              <a:rPr lang="fr-HT" sz="1900" dirty="0">
                <a:latin typeface="Arial" panose="020B0604020202020204" pitchFamily="34" charset="0"/>
                <a:cs typeface="Arial" panose="020B0604020202020204" pitchFamily="34" charset="0"/>
              </a:rPr>
              <a:t>) d'un serveur </a:t>
            </a:r>
            <a:r>
              <a:rPr lang="fr-HT" sz="1900" dirty="0" err="1">
                <a:latin typeface="Arial" panose="020B0604020202020204" pitchFamily="34" charset="0"/>
                <a:cs typeface="Arial" panose="020B0604020202020204" pitchFamily="34" charset="0"/>
              </a:rPr>
              <a:t>OpenSSH</a:t>
            </a:r>
            <a:r>
              <a:rPr lang="fr-HT" sz="1900" dirty="0">
                <a:latin typeface="Arial" panose="020B0604020202020204" pitchFamily="34" charset="0"/>
                <a:cs typeface="Arial" panose="020B0604020202020204" pitchFamily="34" charset="0"/>
              </a:rPr>
              <a:t>. </a:t>
            </a:r>
            <a:endParaRPr lang="en-US" sz="1900" dirty="0">
              <a:latin typeface="Arial" panose="020B0604020202020204" pitchFamily="34" charset="0"/>
              <a:cs typeface="Arial" panose="020B0604020202020204" pitchFamily="34" charset="0"/>
            </a:endParaRPr>
          </a:p>
          <a:p>
            <a:pPr algn="just"/>
            <a:r>
              <a:rPr lang="fr-HT" sz="1900" dirty="0">
                <a:latin typeface="Arial" panose="020B0604020202020204" pitchFamily="34" charset="0"/>
                <a:cs typeface="Arial" panose="020B0604020202020204" pitchFamily="34" charset="0"/>
              </a:rPr>
              <a:t>Ce rapport documente l'ensemble des étapes réalisées : l'authentification par clé cryptographique, la désactivation du compte root, le changement du port SSH, l'installation de Fail2ban, et la limitation des utilisateurs autorisés. Pour chaque étape, nous présentons la configuration appliquée ainsi que les résultats des tests de connexion effectués.</a:t>
            </a:r>
            <a:endParaRPr lang="en-US" sz="1900" dirty="0">
              <a:latin typeface="Arial" panose="020B0604020202020204" pitchFamily="34" charset="0"/>
              <a:cs typeface="Arial" panose="020B0604020202020204" pitchFamily="34" charset="0"/>
            </a:endParaRPr>
          </a:p>
          <a:p>
            <a:pPr algn="just"/>
            <a:endParaRPr lang="en-US" dirty="0">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328F602C-7F98-4C02-99D4-ED65E00D66A4}"/>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latin typeface="Arial" panose="020B0604020202020204" pitchFamily="34" charset="0"/>
                <a:cs typeface="Arial" panose="020B0604020202020204" pitchFamily="34" charset="0"/>
              </a:rPr>
              <a:pPr/>
              <a:t>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434949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ZoneTexte 29">
            <a:extLst>
              <a:ext uri="{FF2B5EF4-FFF2-40B4-BE49-F238E27FC236}">
                <a16:creationId xmlns:a16="http://schemas.microsoft.com/office/drawing/2014/main" id="{C053E23A-AAF6-630D-D1C2-EA031E5F6439}"/>
              </a:ext>
            </a:extLst>
          </p:cNvPr>
          <p:cNvSpPr txBox="1"/>
          <p:nvPr/>
        </p:nvSpPr>
        <p:spPr>
          <a:xfrm>
            <a:off x="1082213" y="1034839"/>
            <a:ext cx="10291279" cy="4950073"/>
          </a:xfrm>
          <a:prstGeom prst="rect">
            <a:avLst/>
          </a:prstGeom>
          <a:noFill/>
        </p:spPr>
        <p:txBody>
          <a:bodyPr wrap="square">
            <a:spAutoFit/>
          </a:bodyPr>
          <a:lstStyle/>
          <a:p>
            <a:pPr marL="0" marR="0">
              <a:spcBef>
                <a:spcPts val="300"/>
              </a:spcBef>
              <a:spcAft>
                <a:spcPts val="3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r>
              <a:rPr lang="fr-HT" sz="2400" b="1" dirty="0">
                <a:solidFill>
                  <a:srgbClr val="2E75B6"/>
                </a:solidFill>
                <a:effectLst/>
                <a:latin typeface="Arial" panose="020B0604020202020204" pitchFamily="34" charset="0"/>
                <a:cs typeface="Arial" panose="020B0604020202020204" pitchFamily="34" charset="0"/>
              </a:rPr>
              <a:t>Objectif général</a:t>
            </a:r>
            <a:endParaRPr lang="en-US" sz="2400" b="1" dirty="0">
              <a:solidFill>
                <a:srgbClr val="2E75B6"/>
              </a:solidFill>
              <a:effectLst/>
              <a:latin typeface="Arial" panose="020B0604020202020204" pitchFamily="34" charset="0"/>
              <a:cs typeface="Arial" panose="020B0604020202020204" pitchFamily="34" charset="0"/>
            </a:endParaRPr>
          </a:p>
          <a:p>
            <a:pPr marL="0" marR="0" algn="just">
              <a:spcBef>
                <a:spcPts val="500"/>
              </a:spcBef>
              <a:spcAft>
                <a:spcPts val="5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L'objectif principal de ce projet est de renforcer la sécurité d'un serveur </a:t>
            </a:r>
            <a:r>
              <a:rPr lang="fr-HT" sz="1800" dirty="0" err="1">
                <a:effectLst/>
                <a:latin typeface="Arial" panose="020B0604020202020204" pitchFamily="34" charset="0"/>
                <a:ea typeface="Arial" panose="020B0604020202020204" pitchFamily="34" charset="0"/>
                <a:cs typeface="Arial" panose="020B0604020202020204" pitchFamily="34" charset="0"/>
              </a:rPr>
              <a:t>OpenSSH</a:t>
            </a:r>
            <a:r>
              <a:rPr lang="fr-HT" sz="1800" dirty="0">
                <a:effectLst/>
                <a:latin typeface="Arial" panose="020B0604020202020204" pitchFamily="34" charset="0"/>
                <a:ea typeface="Arial" panose="020B0604020202020204" pitchFamily="34" charset="0"/>
                <a:cs typeface="Arial" panose="020B0604020202020204" pitchFamily="34" charset="0"/>
              </a:rPr>
              <a:t> en appliquant les meilleures pratiques d'administration système, en simulant un environnement réel sur VirtualBox</a:t>
            </a:r>
            <a:r>
              <a:rPr lang="fr-HT" dirty="0">
                <a:latin typeface="Arial" panose="020B0604020202020204" pitchFamily="34" charset="0"/>
                <a:ea typeface="Arial" panose="020B0604020202020204" pitchFamily="34" charset="0"/>
                <a:cs typeface="Arial" panose="020B0604020202020204" pitchFamily="34" charset="0"/>
              </a:rPr>
              <a:t>.</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spcBef>
                <a:spcPts val="100"/>
              </a:spcBef>
              <a:spcAft>
                <a:spcPts val="1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spcBef>
                <a:spcPts val="1200"/>
              </a:spcBef>
              <a:spcAft>
                <a:spcPts val="800"/>
              </a:spcAft>
              <a:buNone/>
            </a:pPr>
            <a:r>
              <a:rPr lang="fr-HT" sz="2400" b="1" dirty="0">
                <a:solidFill>
                  <a:srgbClr val="2E75B6"/>
                </a:solidFill>
                <a:effectLst/>
                <a:latin typeface="Arial" panose="020B0604020202020204" pitchFamily="34" charset="0"/>
                <a:cs typeface="Arial" panose="020B0604020202020204" pitchFamily="34" charset="0"/>
              </a:rPr>
              <a:t>Objectifs spécifiques</a:t>
            </a:r>
            <a:endParaRPr lang="en-US" sz="2400" b="1" dirty="0">
              <a:solidFill>
                <a:srgbClr val="2E75B6"/>
              </a:solidFill>
              <a:effectLst/>
              <a:latin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Mettre en place une authentification par paire de clés cryptographiques (clé publique/privée) en remplacement de l'authentification par mot de passe.</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Désactiver la connexion directe du compte root via SSH afin de réduire la surface d'attaque.</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Changer le port d'écoute SSH du port par défaut (22) vers un port personnalisé afin de limiter les attaques automatisées.</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Installer et configurer Fail2ban pour bannir automatiquement les adresses IP suspectes après plusieurs tentatives de connexion échouées.</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342900" marR="0" lvl="0" indent="-342900">
              <a:spcBef>
                <a:spcPts val="300"/>
              </a:spcBef>
              <a:spcAft>
                <a:spcPts val="300"/>
              </a:spcAft>
              <a:buFont typeface="Wingdings" panose="05000000000000000000" pitchFamily="2" charset="2"/>
              <a:buChar char="ü"/>
            </a:pPr>
            <a:r>
              <a:rPr lang="fr-HT" sz="1800" dirty="0">
                <a:effectLst/>
                <a:latin typeface="Arial" panose="020B0604020202020204" pitchFamily="34" charset="0"/>
                <a:ea typeface="Arial" panose="020B0604020202020204" pitchFamily="34" charset="0"/>
                <a:cs typeface="Arial" panose="020B0604020202020204" pitchFamily="34" charset="0"/>
              </a:rPr>
              <a:t>Restreindre la liste des utilisateurs autorisés à se connecter via SSH grâce à la directive </a:t>
            </a:r>
            <a:r>
              <a:rPr lang="fr-HT" sz="1800" dirty="0" err="1">
                <a:effectLst/>
                <a:latin typeface="Arial" panose="020B0604020202020204" pitchFamily="34" charset="0"/>
                <a:ea typeface="Arial" panose="020B0604020202020204" pitchFamily="34" charset="0"/>
                <a:cs typeface="Arial" panose="020B0604020202020204" pitchFamily="34" charset="0"/>
              </a:rPr>
              <a:t>AllowUsers</a:t>
            </a:r>
            <a:r>
              <a:rPr lang="fr-HT" sz="1800" dirty="0">
                <a:effectLst/>
                <a:latin typeface="Arial" panose="020B0604020202020204" pitchFamily="34" charset="0"/>
                <a:ea typeface="Arial" panose="020B0604020202020204" pitchFamily="34" charset="0"/>
                <a:cs typeface="Arial" panose="020B0604020202020204" pitchFamily="34" charset="0"/>
              </a:rPr>
              <a:t>.</a:t>
            </a:r>
            <a:endParaRPr lang="en-US" sz="1800" dirty="0">
              <a:effectLst/>
              <a:latin typeface="Arial" panose="020B0604020202020204" pitchFamily="34" charset="0"/>
              <a:ea typeface="Arial" panose="020B0604020202020204" pitchFamily="34" charset="0"/>
              <a:cs typeface="Arial" panose="020B0604020202020204" pitchFamily="34" charset="0"/>
            </a:endParaRPr>
          </a:p>
        </p:txBody>
      </p:sp>
      <p:sp>
        <p:nvSpPr>
          <p:cNvPr id="31" name="Title 1">
            <a:extLst>
              <a:ext uri="{FF2B5EF4-FFF2-40B4-BE49-F238E27FC236}">
                <a16:creationId xmlns:a16="http://schemas.microsoft.com/office/drawing/2014/main" id="{9736268C-859C-3939-6BEE-27D843840626}"/>
              </a:ext>
              <a:ext uri="{C183D7F6-B498-43B3-948B-1728B52AA6E4}">
                <adec:decorative xmlns:adec="http://schemas.microsoft.com/office/drawing/2017/decorative" val="0"/>
              </a:ext>
            </a:extLst>
          </p:cNvPr>
          <p:cNvSpPr>
            <a:spLocks noGrp="1"/>
          </p:cNvSpPr>
          <p:nvPr>
            <p:ph type="title"/>
          </p:nvPr>
        </p:nvSpPr>
        <p:spPr>
          <a:xfrm>
            <a:off x="3080105" y="421241"/>
            <a:ext cx="5878960" cy="716340"/>
          </a:xfrm>
        </p:spPr>
        <p:txBody>
          <a:bodyPr>
            <a:normAutofit fontScale="90000"/>
          </a:bodyPr>
          <a:lstStyle/>
          <a:p>
            <a:r>
              <a:rPr lang="fr-HT" b="1" kern="0" dirty="0">
                <a:solidFill>
                  <a:srgbClr val="0070C0"/>
                </a:solidFill>
                <a:latin typeface="Arial" panose="020B0604020202020204" pitchFamily="34" charset="0"/>
                <a:cs typeface="Arial" panose="020B0604020202020204" pitchFamily="34" charset="0"/>
              </a:rPr>
              <a:t>Objectifs du Projet</a:t>
            </a:r>
            <a:br>
              <a:rPr lang="en-US" b="1" kern="0" dirty="0">
                <a:solidFill>
                  <a:srgbClr val="1F3864"/>
                </a:solidFill>
                <a:latin typeface="Arial" panose="020B0604020202020204" pitchFamily="34" charset="0"/>
                <a:cs typeface="Arial" panose="020B0604020202020204" pitchFamily="34" charset="0"/>
              </a:rPr>
            </a:b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3920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ZoneTexte 30">
            <a:extLst>
              <a:ext uri="{FF2B5EF4-FFF2-40B4-BE49-F238E27FC236}">
                <a16:creationId xmlns:a16="http://schemas.microsoft.com/office/drawing/2014/main" id="{80D9A9D5-5D7C-9D7F-CEE9-0B51F0EE04E2}"/>
              </a:ext>
            </a:extLst>
          </p:cNvPr>
          <p:cNvSpPr txBox="1"/>
          <p:nvPr/>
        </p:nvSpPr>
        <p:spPr>
          <a:xfrm>
            <a:off x="1821558" y="1192041"/>
            <a:ext cx="8887145" cy="3170099"/>
          </a:xfrm>
          <a:prstGeom prst="rect">
            <a:avLst/>
          </a:prstGeom>
          <a:noFill/>
        </p:spPr>
        <p:txBody>
          <a:bodyPr wrap="square">
            <a:spAutoFit/>
          </a:bodyPr>
          <a:lstStyle/>
          <a:p>
            <a:pPr marL="0" marR="0">
              <a:spcBef>
                <a:spcPts val="300"/>
              </a:spcBef>
              <a:spcAft>
                <a:spcPts val="3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lgn="just">
              <a:spcBef>
                <a:spcPts val="500"/>
              </a:spcBef>
              <a:spcAft>
                <a:spcPts val="5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Les serveurs exposés sur Internet sont continuellement soumis à des tentatives d'intrusion automatisées. Les robots (bots) scannent en permanence le port 22, tentent de se connecter avec des identifiants par défaut ou lancent des attaques par dictionnaire sur des comptes actifs, notamment root. Une configuration SSH par défaut laisse donc la porte ouverte à de nombreuses vulnérabilités.</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spcBef>
                <a:spcPts val="300"/>
              </a:spcBef>
              <a:spcAft>
                <a:spcPts val="3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  </a:t>
            </a:r>
            <a:endParaRPr lang="en-US" sz="1800" dirty="0">
              <a:effectLst/>
              <a:latin typeface="Arial" panose="020B0604020202020204" pitchFamily="34" charset="0"/>
              <a:ea typeface="Arial" panose="020B0604020202020204" pitchFamily="34" charset="0"/>
              <a:cs typeface="Arial" panose="020B0604020202020204" pitchFamily="34" charset="0"/>
            </a:endParaRPr>
          </a:p>
          <a:p>
            <a:pPr marL="0" marR="0" algn="just">
              <a:spcBef>
                <a:spcPts val="500"/>
              </a:spcBef>
              <a:spcAft>
                <a:spcPts val="500"/>
              </a:spcAft>
              <a:buNone/>
            </a:pPr>
            <a:r>
              <a:rPr lang="fr-HT" sz="1800" dirty="0">
                <a:effectLst/>
                <a:latin typeface="Arial" panose="020B0604020202020204" pitchFamily="34" charset="0"/>
                <a:ea typeface="Arial" panose="020B0604020202020204" pitchFamily="34" charset="0"/>
                <a:cs typeface="Arial" panose="020B0604020202020204" pitchFamily="34" charset="0"/>
              </a:rPr>
              <a:t>La problématique de ce projet peut ainsi se formuler de la manière suivante : Comment sécuriser efficacement un serveur </a:t>
            </a:r>
            <a:r>
              <a:rPr lang="fr-HT" sz="1800" dirty="0" err="1">
                <a:effectLst/>
                <a:latin typeface="Arial" panose="020B0604020202020204" pitchFamily="34" charset="0"/>
                <a:ea typeface="Arial" panose="020B0604020202020204" pitchFamily="34" charset="0"/>
                <a:cs typeface="Arial" panose="020B0604020202020204" pitchFamily="34" charset="0"/>
              </a:rPr>
              <a:t>OpenSSH</a:t>
            </a:r>
            <a:r>
              <a:rPr lang="fr-HT" sz="1800" dirty="0">
                <a:effectLst/>
                <a:latin typeface="Arial" panose="020B0604020202020204" pitchFamily="34" charset="0"/>
                <a:ea typeface="Arial" panose="020B0604020202020204" pitchFamily="34" charset="0"/>
                <a:cs typeface="Arial" panose="020B0604020202020204" pitchFamily="34" charset="0"/>
              </a:rPr>
              <a:t> en appliquant plusieurs couches de protection complémentaires</a:t>
            </a:r>
            <a:r>
              <a:rPr lang="fr-HT" dirty="0">
                <a:latin typeface="Arial" panose="020B0604020202020204" pitchFamily="34" charset="0"/>
                <a:ea typeface="Arial" panose="020B0604020202020204" pitchFamily="34" charset="0"/>
                <a:cs typeface="Arial" panose="020B0604020202020204" pitchFamily="34" charset="0"/>
              </a:rPr>
              <a:t> </a:t>
            </a:r>
            <a:r>
              <a:rPr lang="fr-HT" sz="1800" dirty="0">
                <a:effectLst/>
                <a:latin typeface="Arial" panose="020B0604020202020204" pitchFamily="34" charset="0"/>
                <a:ea typeface="Arial" panose="020B0604020202020204" pitchFamily="34" charset="0"/>
                <a:cs typeface="Arial" panose="020B0604020202020204" pitchFamily="34" charset="0"/>
              </a:rPr>
              <a:t>?</a:t>
            </a:r>
            <a:endParaRPr lang="en-US" sz="1800" dirty="0">
              <a:effectLst/>
              <a:latin typeface="Arial" panose="020B0604020202020204" pitchFamily="34" charset="0"/>
              <a:ea typeface="Arial" panose="020B0604020202020204" pitchFamily="34" charset="0"/>
              <a:cs typeface="Arial" panose="020B0604020202020204" pitchFamily="34" charset="0"/>
            </a:endParaRPr>
          </a:p>
        </p:txBody>
      </p:sp>
      <p:sp>
        <p:nvSpPr>
          <p:cNvPr id="32" name="Title 1">
            <a:extLst>
              <a:ext uri="{FF2B5EF4-FFF2-40B4-BE49-F238E27FC236}">
                <a16:creationId xmlns:a16="http://schemas.microsoft.com/office/drawing/2014/main" id="{D8B266D5-B513-BF8A-49A7-B49B874A4F2E}"/>
              </a:ext>
              <a:ext uri="{C183D7F6-B498-43B3-948B-1728B52AA6E4}">
                <adec:decorative xmlns:adec="http://schemas.microsoft.com/office/drawing/2017/decorative" val="0"/>
              </a:ext>
            </a:extLst>
          </p:cNvPr>
          <p:cNvSpPr>
            <a:spLocks noGrp="1"/>
          </p:cNvSpPr>
          <p:nvPr>
            <p:ph type="title"/>
          </p:nvPr>
        </p:nvSpPr>
        <p:spPr>
          <a:xfrm>
            <a:off x="3156520" y="584519"/>
            <a:ext cx="5878960" cy="945222"/>
          </a:xfrm>
        </p:spPr>
        <p:txBody>
          <a:bodyPr>
            <a:normAutofit fontScale="90000"/>
          </a:bodyPr>
          <a:lstStyle/>
          <a:p>
            <a:pPr algn="ctr"/>
            <a:br>
              <a:rPr lang="en-US" b="1" kern="0" dirty="0">
                <a:solidFill>
                  <a:srgbClr val="1F3864"/>
                </a:solidFill>
                <a:latin typeface="Arial" panose="020B0604020202020204" pitchFamily="34" charset="0"/>
                <a:cs typeface="Arial" panose="020B0604020202020204" pitchFamily="34" charset="0"/>
              </a:rPr>
            </a:br>
            <a:br>
              <a:rPr lang="en-US" b="1" kern="0" dirty="0">
                <a:solidFill>
                  <a:srgbClr val="1F3864"/>
                </a:solidFill>
                <a:latin typeface="Arial" panose="020B0604020202020204" pitchFamily="34" charset="0"/>
                <a:cs typeface="Arial" panose="020B0604020202020204" pitchFamily="34" charset="0"/>
              </a:rPr>
            </a:br>
            <a:r>
              <a:rPr lang="fr-HT" b="1" kern="0" dirty="0">
                <a:solidFill>
                  <a:srgbClr val="0070C0"/>
                </a:solidFill>
                <a:latin typeface="Arial" panose="020B0604020202020204" pitchFamily="34" charset="0"/>
                <a:cs typeface="Arial" panose="020B0604020202020204" pitchFamily="34" charset="0"/>
              </a:rPr>
              <a:t>Problématique</a:t>
            </a:r>
            <a:br>
              <a:rPr lang="en-US" b="1" kern="0" dirty="0">
                <a:solidFill>
                  <a:srgbClr val="1F3864"/>
                </a:solidFill>
                <a:latin typeface="Arial" panose="020B0604020202020204" pitchFamily="34" charset="0"/>
                <a:cs typeface="Arial" panose="020B0604020202020204" pitchFamily="34" charset="0"/>
              </a:rPr>
            </a:b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4494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E1C88-627C-4655-A4FB-0BB02EDB078A}"/>
              </a:ext>
            </a:extLst>
          </p:cNvPr>
          <p:cNvSpPr>
            <a:spLocks noGrp="1"/>
          </p:cNvSpPr>
          <p:nvPr>
            <p:ph type="title"/>
          </p:nvPr>
        </p:nvSpPr>
        <p:spPr>
          <a:xfrm>
            <a:off x="401455" y="136525"/>
            <a:ext cx="9580745" cy="597993"/>
          </a:xfrm>
        </p:spPr>
        <p:txBody>
          <a:bodyPr>
            <a:normAutofit/>
          </a:bodyPr>
          <a:lstStyle/>
          <a:p>
            <a:r>
              <a:rPr lang="fr-FR" sz="2200" b="1" dirty="0">
                <a:solidFill>
                  <a:srgbClr val="0070C0"/>
                </a:solidFill>
                <a:latin typeface="Arial" panose="020B0604020202020204" pitchFamily="34" charset="0"/>
                <a:cs typeface="Arial" panose="020B0604020202020204" pitchFamily="34" charset="0"/>
              </a:rPr>
              <a:t>1. Authentification par clé cryptographique</a:t>
            </a:r>
            <a:endParaRPr lang="en-US" sz="2200" b="1" dirty="0">
              <a:solidFill>
                <a:srgbClr val="0070C0"/>
              </a:solidFill>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033634FE-ADF0-4BC3-A0A9-447EA9DD096B}"/>
              </a:ext>
            </a:extLst>
          </p:cNvPr>
          <p:cNvSpPr>
            <a:spLocks noGrp="1"/>
          </p:cNvSpPr>
          <p:nvPr>
            <p:ph type="body" idx="1"/>
          </p:nvPr>
        </p:nvSpPr>
        <p:spPr>
          <a:xfrm>
            <a:off x="401455" y="962545"/>
            <a:ext cx="11365824" cy="597993"/>
          </a:xfrm>
        </p:spPr>
        <p:txBody>
          <a:bodyPr vert="horz" lIns="91440" tIns="45720" rIns="91440" bIns="45720" rtlCol="0" anchor="t">
            <a:noAutofit/>
          </a:bodyPr>
          <a:lstStyle/>
          <a:p>
            <a:r>
              <a:rPr lang="fr-FR" sz="1800" b="1" noProof="1">
                <a:latin typeface="Arial" panose="020B0604020202020204" pitchFamily="34" charset="0"/>
                <a:cs typeface="Arial" panose="020B0604020202020204" pitchFamily="34" charset="0"/>
              </a:rPr>
              <a:t>L’authentification par clé publique/privée est la méthode la plus sécurisée pour se connecter à un serveur SSH. Elle remplace l’authentification par mot de passe, vulnérable aux attaques par force brute.</a:t>
            </a:r>
          </a:p>
          <a:p>
            <a:endParaRPr lang="en-US" sz="1800" b="1" noProof="1">
              <a:latin typeface="Arial" panose="020B0604020202020204" pitchFamily="34" charset="0"/>
              <a:cs typeface="Arial" panose="020B0604020202020204" pitchFamily="34" charset="0"/>
            </a:endParaRPr>
          </a:p>
        </p:txBody>
      </p:sp>
      <p:sp>
        <p:nvSpPr>
          <p:cNvPr id="4" name="Date Placeholder 3">
            <a:extLst>
              <a:ext uri="{FF2B5EF4-FFF2-40B4-BE49-F238E27FC236}">
                <a16:creationId xmlns:a16="http://schemas.microsoft.com/office/drawing/2014/main" id="{5C2ACA2A-6BBE-47CF-B76F-F56C9DBF77E6}"/>
              </a:ext>
            </a:extLst>
          </p:cNvPr>
          <p:cNvSpPr>
            <a:spLocks noGrp="1"/>
          </p:cNvSpPr>
          <p:nvPr>
            <p:ph type="dt" sz="half" idx="10"/>
          </p:nvPr>
        </p:nvSpPr>
        <p:spPr>
          <a:xfrm>
            <a:off x="401455" y="5174906"/>
            <a:ext cx="7633273" cy="1546570"/>
          </a:xfrm>
        </p:spPr>
        <p:txBody>
          <a:bodyPr/>
          <a:lstStyle/>
          <a:p>
            <a:pPr marL="285750" indent="-285750">
              <a:lnSpc>
                <a:spcPct val="150000"/>
              </a:lnSpc>
              <a:buFont typeface="Arial" panose="020B0604020202020204" pitchFamily="34" charset="0"/>
              <a:buChar char="•"/>
            </a:pPr>
            <a:r>
              <a:rPr lang="en-US" sz="1700" dirty="0" err="1">
                <a:solidFill>
                  <a:schemeClr val="tx1"/>
                </a:solidFill>
                <a:latin typeface="Arial" panose="020B0604020202020204" pitchFamily="34" charset="0"/>
                <a:cs typeface="Arial" panose="020B0604020202020204" pitchFamily="34" charset="0"/>
              </a:rPr>
              <a:t>Génération</a:t>
            </a:r>
            <a:r>
              <a:rPr lang="en-US" sz="1700" dirty="0">
                <a:solidFill>
                  <a:schemeClr val="tx1"/>
                </a:solidFill>
                <a:latin typeface="Arial" panose="020B0604020202020204" pitchFamily="34" charset="0"/>
                <a:cs typeface="Arial" panose="020B0604020202020204" pitchFamily="34" charset="0"/>
              </a:rPr>
              <a:t> </a:t>
            </a:r>
            <a:r>
              <a:rPr lang="en-US" sz="1700" dirty="0" err="1">
                <a:solidFill>
                  <a:schemeClr val="tx1"/>
                </a:solidFill>
                <a:latin typeface="Arial" panose="020B0604020202020204" pitchFamily="34" charset="0"/>
                <a:cs typeface="Arial" panose="020B0604020202020204" pitchFamily="34" charset="0"/>
              </a:rPr>
              <a:t>d’une</a:t>
            </a:r>
            <a:r>
              <a:rPr lang="en-US" sz="1700" dirty="0">
                <a:solidFill>
                  <a:schemeClr val="tx1"/>
                </a:solidFill>
                <a:latin typeface="Arial" panose="020B0604020202020204" pitchFamily="34" charset="0"/>
                <a:cs typeface="Arial" panose="020B0604020202020204" pitchFamily="34" charset="0"/>
              </a:rPr>
              <a:t> </a:t>
            </a:r>
            <a:r>
              <a:rPr lang="en-US" sz="1700" dirty="0" err="1">
                <a:solidFill>
                  <a:schemeClr val="tx1"/>
                </a:solidFill>
                <a:latin typeface="Arial" panose="020B0604020202020204" pitchFamily="34" charset="0"/>
                <a:cs typeface="Arial" panose="020B0604020202020204" pitchFamily="34" charset="0"/>
              </a:rPr>
              <a:t>paire</a:t>
            </a:r>
            <a:r>
              <a:rPr lang="en-US" sz="1700" dirty="0">
                <a:solidFill>
                  <a:schemeClr val="tx1"/>
                </a:solidFill>
                <a:latin typeface="Arial" panose="020B0604020202020204" pitchFamily="34" charset="0"/>
                <a:cs typeface="Arial" panose="020B0604020202020204" pitchFamily="34" charset="0"/>
              </a:rPr>
              <a:t> de </a:t>
            </a:r>
            <a:r>
              <a:rPr lang="en-US" sz="1700" dirty="0" err="1">
                <a:solidFill>
                  <a:schemeClr val="tx1"/>
                </a:solidFill>
                <a:latin typeface="Arial" panose="020B0604020202020204" pitchFamily="34" charset="0"/>
                <a:cs typeface="Arial" panose="020B0604020202020204" pitchFamily="34" charset="0"/>
              </a:rPr>
              <a:t>clé</a:t>
            </a:r>
            <a:r>
              <a:rPr lang="en-US" sz="1700" dirty="0">
                <a:solidFill>
                  <a:schemeClr val="tx1"/>
                </a:solidFill>
                <a:latin typeface="Arial" panose="020B0604020202020204" pitchFamily="34" charset="0"/>
                <a:cs typeface="Arial" panose="020B0604020202020204" pitchFamily="34" charset="0"/>
              </a:rPr>
              <a:t> (</a:t>
            </a:r>
            <a:r>
              <a:rPr lang="en-US" sz="1700" dirty="0" err="1">
                <a:solidFill>
                  <a:schemeClr val="tx1"/>
                </a:solidFill>
                <a:latin typeface="Arial" panose="020B0604020202020204" pitchFamily="34" charset="0"/>
                <a:cs typeface="Arial" panose="020B0604020202020204" pitchFamily="34" charset="0"/>
              </a:rPr>
              <a:t>publique</a:t>
            </a:r>
            <a:r>
              <a:rPr lang="en-US" sz="1700" dirty="0">
                <a:solidFill>
                  <a:schemeClr val="tx1"/>
                </a:solidFill>
                <a:latin typeface="Arial" panose="020B0604020202020204" pitchFamily="34" charset="0"/>
                <a:cs typeface="Arial" panose="020B0604020202020204" pitchFamily="34" charset="0"/>
              </a:rPr>
              <a:t> et </a:t>
            </a:r>
            <a:r>
              <a:rPr lang="en-US" sz="1700" dirty="0" err="1">
                <a:solidFill>
                  <a:schemeClr val="tx1"/>
                </a:solidFill>
                <a:latin typeface="Arial" panose="020B0604020202020204" pitchFamily="34" charset="0"/>
                <a:cs typeface="Arial" panose="020B0604020202020204" pitchFamily="34" charset="0"/>
              </a:rPr>
              <a:t>privé</a:t>
            </a:r>
            <a:r>
              <a:rPr lang="en-US" sz="1700" dirty="0">
                <a:solidFill>
                  <a:schemeClr val="tx1"/>
                </a:solidFill>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sz="1700" dirty="0">
                <a:solidFill>
                  <a:schemeClr val="tx1"/>
                </a:solidFill>
                <a:latin typeface="Arial" panose="020B0604020202020204" pitchFamily="34" charset="0"/>
                <a:cs typeface="Arial" panose="020B0604020202020204" pitchFamily="34" charset="0"/>
              </a:rPr>
              <a:t>2. </a:t>
            </a:r>
            <a:r>
              <a:rPr lang="fr-FR" sz="1700" dirty="0">
                <a:solidFill>
                  <a:schemeClr val="tx1"/>
                </a:solidFill>
                <a:latin typeface="Arial" panose="020B0604020202020204" pitchFamily="34" charset="0"/>
                <a:cs typeface="Arial" panose="020B0604020202020204" pitchFamily="34" charset="0"/>
              </a:rPr>
              <a:t>Copie la clé publique sur le serveur</a:t>
            </a:r>
            <a:endParaRPr lang="en-US" sz="1700" dirty="0">
              <a:solidFill>
                <a:schemeClr val="tx1"/>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sz="1700" dirty="0">
                <a:solidFill>
                  <a:schemeClr val="tx1"/>
                </a:solidFill>
                <a:latin typeface="Arial" panose="020B0604020202020204" pitchFamily="34" charset="0"/>
                <a:cs typeface="Arial" panose="020B0604020202020204" pitchFamily="34" charset="0"/>
              </a:rPr>
              <a:t>3. </a:t>
            </a:r>
            <a:r>
              <a:rPr lang="fr-FR" sz="1700" dirty="0">
                <a:solidFill>
                  <a:schemeClr val="tx1"/>
                </a:solidFill>
                <a:latin typeface="Arial" panose="020B0604020202020204" pitchFamily="34" charset="0"/>
                <a:cs typeface="Arial" panose="020B0604020202020204" pitchFamily="34" charset="0"/>
              </a:rPr>
              <a:t>Teste la connexion par clé AVANT de continuer</a:t>
            </a:r>
            <a:endParaRPr lang="en-US" sz="1700" dirty="0">
              <a:solidFill>
                <a:schemeClr val="tx1"/>
              </a:solidFill>
              <a:latin typeface="Arial" panose="020B0604020202020204" pitchFamily="34" charset="0"/>
              <a:cs typeface="Arial" panose="020B0604020202020204" pitchFamily="34" charset="0"/>
            </a:endParaRPr>
          </a:p>
          <a:p>
            <a:endParaRPr lang="en-US" sz="1200" dirty="0">
              <a:solidFill>
                <a:schemeClr val="tx1"/>
              </a:solidFill>
              <a:latin typeface="Arial" panose="020B0604020202020204" pitchFamily="34" charset="0"/>
              <a:cs typeface="Arial" panose="020B0604020202020204" pitchFamily="34" charset="0"/>
            </a:endParaRPr>
          </a:p>
        </p:txBody>
      </p:sp>
      <p:sp>
        <p:nvSpPr>
          <p:cNvPr id="6" name="Slide Number Placeholder 5">
            <a:extLst>
              <a:ext uri="{FF2B5EF4-FFF2-40B4-BE49-F238E27FC236}">
                <a16:creationId xmlns:a16="http://schemas.microsoft.com/office/drawing/2014/main" id="{C23C3221-5F04-4CA7-A86A-EEA8566A1735}"/>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6</a:t>
            </a:fld>
            <a:endParaRPr lang="en-US"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83837C9B-EE1E-2996-F075-D5F5C9755E86}"/>
              </a:ext>
            </a:extLst>
          </p:cNvPr>
          <p:cNvPicPr>
            <a:picLocks noChangeAspect="1"/>
          </p:cNvPicPr>
          <p:nvPr/>
        </p:nvPicPr>
        <p:blipFill>
          <a:blip r:embed="rId2"/>
          <a:stretch>
            <a:fillRect/>
          </a:stretch>
        </p:blipFill>
        <p:spPr>
          <a:xfrm>
            <a:off x="401455" y="1738312"/>
            <a:ext cx="5731510" cy="3381375"/>
          </a:xfrm>
          <a:prstGeom prst="rect">
            <a:avLst/>
          </a:prstGeom>
        </p:spPr>
      </p:pic>
      <p:pic>
        <p:nvPicPr>
          <p:cNvPr id="8" name="Picture 7">
            <a:extLst>
              <a:ext uri="{FF2B5EF4-FFF2-40B4-BE49-F238E27FC236}">
                <a16:creationId xmlns:a16="http://schemas.microsoft.com/office/drawing/2014/main" id="{AB1EE4B9-A26C-D5DA-A249-E6EBB4AA552E}"/>
              </a:ext>
            </a:extLst>
          </p:cNvPr>
          <p:cNvPicPr>
            <a:picLocks noChangeAspect="1"/>
          </p:cNvPicPr>
          <p:nvPr/>
        </p:nvPicPr>
        <p:blipFill>
          <a:blip r:embed="rId3"/>
          <a:stretch>
            <a:fillRect/>
          </a:stretch>
        </p:blipFill>
        <p:spPr>
          <a:xfrm>
            <a:off x="6460490" y="1738312"/>
            <a:ext cx="5731510" cy="3258820"/>
          </a:xfrm>
          <a:prstGeom prst="rect">
            <a:avLst/>
          </a:prstGeom>
        </p:spPr>
      </p:pic>
    </p:spTree>
    <p:extLst>
      <p:ext uri="{BB962C8B-B14F-4D97-AF65-F5344CB8AC3E}">
        <p14:creationId xmlns:p14="http://schemas.microsoft.com/office/powerpoint/2010/main" val="13463722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81E9A7D-C718-B2DE-605A-7FC01562B011}"/>
              </a:ext>
            </a:extLst>
          </p:cNvPr>
          <p:cNvPicPr>
            <a:picLocks noChangeAspect="1"/>
          </p:cNvPicPr>
          <p:nvPr/>
        </p:nvPicPr>
        <p:blipFill>
          <a:blip r:embed="rId2"/>
          <a:stretch>
            <a:fillRect/>
          </a:stretch>
        </p:blipFill>
        <p:spPr>
          <a:xfrm>
            <a:off x="1146612" y="1081754"/>
            <a:ext cx="5731510" cy="4004945"/>
          </a:xfrm>
          <a:prstGeom prst="rect">
            <a:avLst/>
          </a:prstGeom>
        </p:spPr>
      </p:pic>
    </p:spTree>
    <p:extLst>
      <p:ext uri="{BB962C8B-B14F-4D97-AF65-F5344CB8AC3E}">
        <p14:creationId xmlns:p14="http://schemas.microsoft.com/office/powerpoint/2010/main" val="17385616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40DCA2B-A510-0E0E-7E3A-C4E3361A929C}"/>
              </a:ext>
            </a:extLst>
          </p:cNvPr>
          <p:cNvSpPr txBox="1">
            <a:spLocks/>
          </p:cNvSpPr>
          <p:nvPr/>
        </p:nvSpPr>
        <p:spPr>
          <a:xfrm>
            <a:off x="401455" y="136525"/>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r>
              <a:rPr lang="fr-FR" sz="2200" b="1" dirty="0">
                <a:solidFill>
                  <a:srgbClr val="0070C0"/>
                </a:solidFill>
                <a:latin typeface="Arial" panose="020B0604020202020204" pitchFamily="34" charset="0"/>
                <a:cs typeface="Arial" panose="020B0604020202020204" pitchFamily="34" charset="0"/>
              </a:rPr>
              <a:t>2. DESACTIVATION DU LOGIN ROOT</a:t>
            </a:r>
            <a:endParaRPr lang="en-US" sz="2200" b="1" dirty="0">
              <a:solidFill>
                <a:srgbClr val="0070C0"/>
              </a:solidFill>
              <a:latin typeface="Arial" panose="020B0604020202020204" pitchFamily="34" charset="0"/>
              <a:cs typeface="Arial" panose="020B0604020202020204" pitchFamily="34" charset="0"/>
            </a:endParaRPr>
          </a:p>
        </p:txBody>
      </p:sp>
      <p:sp>
        <p:nvSpPr>
          <p:cNvPr id="5" name="Title 4">
            <a:extLst>
              <a:ext uri="{FF2B5EF4-FFF2-40B4-BE49-F238E27FC236}">
                <a16:creationId xmlns:a16="http://schemas.microsoft.com/office/drawing/2014/main" id="{9D1A4C36-5F70-FA87-B399-3C0E7235DA6C}"/>
              </a:ext>
            </a:extLst>
          </p:cNvPr>
          <p:cNvSpPr>
            <a:spLocks noGrp="1"/>
          </p:cNvSpPr>
          <p:nvPr>
            <p:ph type="ctrTitle"/>
          </p:nvPr>
        </p:nvSpPr>
        <p:spPr>
          <a:xfrm>
            <a:off x="6991350" y="2571235"/>
            <a:ext cx="5045752" cy="2525421"/>
          </a:xfrm>
        </p:spPr>
        <p:txBody>
          <a:bodyPr/>
          <a:lstStyle/>
          <a:p>
            <a:r>
              <a:rPr lang="en-US" sz="2000" dirty="0">
                <a:latin typeface="Arial" panose="020B0604020202020204" pitchFamily="34" charset="0"/>
                <a:cs typeface="Arial" panose="020B0604020202020204" pitchFamily="34" charset="0"/>
              </a:rPr>
              <a:t>Modification de </a:t>
            </a:r>
            <a:r>
              <a:rPr lang="en-US" sz="2000" dirty="0" err="1">
                <a:latin typeface="Arial" panose="020B0604020202020204" pitchFamily="34" charset="0"/>
                <a:cs typeface="Arial" panose="020B0604020202020204" pitchFamily="34" charset="0"/>
              </a:rPr>
              <a:t>ces</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lignes</a:t>
            </a:r>
            <a:r>
              <a:rPr lang="en-US" sz="2000" dirty="0">
                <a:latin typeface="Arial" panose="020B0604020202020204" pitchFamily="34" charset="0"/>
                <a:cs typeface="Arial" panose="020B0604020202020204" pitchFamily="34" charset="0"/>
              </a:rPr>
              <a:t> dans le </a:t>
            </a:r>
            <a:r>
              <a:rPr lang="en-US" sz="2000" dirty="0" err="1">
                <a:latin typeface="Arial" panose="020B0604020202020204" pitchFamily="34" charset="0"/>
                <a:cs typeface="Arial" panose="020B0604020202020204" pitchFamily="34" charset="0"/>
              </a:rPr>
              <a:t>fichier</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sshd</a:t>
            </a:r>
            <a:r>
              <a:rPr lang="en-US" sz="2000" dirty="0">
                <a:latin typeface="Arial" panose="020B0604020202020204" pitchFamily="34" charset="0"/>
                <a:cs typeface="Arial" panose="020B0604020202020204" pitchFamily="34" charset="0"/>
              </a:rPr>
              <a:t>:</a:t>
            </a:r>
            <a:br>
              <a:rPr lang="en-US" sz="2000" dirty="0">
                <a:latin typeface="Arial" panose="020B0604020202020204" pitchFamily="34" charset="0"/>
                <a:cs typeface="Arial" panose="020B0604020202020204" pitchFamily="34" charset="0"/>
              </a:rPr>
            </a:br>
            <a:br>
              <a:rPr lang="en-US" sz="2000" dirty="0">
                <a:latin typeface="Arial" panose="020B0604020202020204" pitchFamily="34" charset="0"/>
                <a:cs typeface="Arial" panose="020B0604020202020204" pitchFamily="34" charset="0"/>
              </a:rPr>
            </a:br>
            <a:r>
              <a:rPr lang="en-US" sz="2000" dirty="0" err="1">
                <a:latin typeface="Arial" panose="020B0604020202020204" pitchFamily="34" charset="0"/>
                <a:cs typeface="Arial" panose="020B0604020202020204" pitchFamily="34" charset="0"/>
              </a:rPr>
              <a:t>PermitRootLogin</a:t>
            </a:r>
            <a:r>
              <a:rPr lang="en-US" sz="2000" dirty="0">
                <a:latin typeface="Arial" panose="020B0604020202020204" pitchFamily="34" charset="0"/>
                <a:cs typeface="Arial" panose="020B0604020202020204" pitchFamily="34" charset="0"/>
              </a:rPr>
              <a:t> no </a:t>
            </a:r>
            <a:r>
              <a:rPr lang="en-US" sz="2000" dirty="0" err="1">
                <a:latin typeface="Arial" panose="020B0604020202020204" pitchFamily="34" charset="0"/>
                <a:cs typeface="Arial" panose="020B0604020202020204" pitchFamily="34" charset="0"/>
              </a:rPr>
              <a:t>PasswordAuthentication</a:t>
            </a:r>
            <a:r>
              <a:rPr lang="en-US" sz="2000" dirty="0">
                <a:latin typeface="Arial" panose="020B0604020202020204" pitchFamily="34" charset="0"/>
                <a:cs typeface="Arial" panose="020B0604020202020204" pitchFamily="34" charset="0"/>
              </a:rPr>
              <a:t> no </a:t>
            </a:r>
            <a:r>
              <a:rPr lang="en-US" sz="2000" dirty="0" err="1">
                <a:latin typeface="Arial" panose="020B0604020202020204" pitchFamily="34" charset="0"/>
                <a:cs typeface="Arial" panose="020B0604020202020204" pitchFamily="34" charset="0"/>
              </a:rPr>
              <a:t>PubkeyAuthentication</a:t>
            </a:r>
            <a:r>
              <a:rPr lang="en-US" sz="2000" dirty="0">
                <a:latin typeface="Arial" panose="020B0604020202020204" pitchFamily="34" charset="0"/>
                <a:cs typeface="Arial" panose="020B0604020202020204" pitchFamily="34" charset="0"/>
              </a:rPr>
              <a:t> yes</a:t>
            </a:r>
            <a:endParaRPr lang="fr-FR" sz="2000"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5A09F8CA-08FC-4BE7-38B2-3449DF5D84F2}"/>
              </a:ext>
            </a:extLst>
          </p:cNvPr>
          <p:cNvPicPr>
            <a:picLocks noChangeAspect="1"/>
          </p:cNvPicPr>
          <p:nvPr/>
        </p:nvPicPr>
        <p:blipFill>
          <a:blip r:embed="rId2"/>
          <a:stretch>
            <a:fillRect/>
          </a:stretch>
        </p:blipFill>
        <p:spPr>
          <a:xfrm>
            <a:off x="401455" y="955232"/>
            <a:ext cx="5731510" cy="390525"/>
          </a:xfrm>
          <a:prstGeom prst="rect">
            <a:avLst/>
          </a:prstGeom>
        </p:spPr>
      </p:pic>
      <p:pic>
        <p:nvPicPr>
          <p:cNvPr id="7" name="Picture 6">
            <a:extLst>
              <a:ext uri="{FF2B5EF4-FFF2-40B4-BE49-F238E27FC236}">
                <a16:creationId xmlns:a16="http://schemas.microsoft.com/office/drawing/2014/main" id="{0D061A74-C6A0-B6DB-83F3-7B7E52E4D57B}"/>
              </a:ext>
            </a:extLst>
          </p:cNvPr>
          <p:cNvPicPr>
            <a:picLocks noChangeAspect="1"/>
          </p:cNvPicPr>
          <p:nvPr/>
        </p:nvPicPr>
        <p:blipFill>
          <a:blip r:embed="rId3"/>
          <a:stretch>
            <a:fillRect/>
          </a:stretch>
        </p:blipFill>
        <p:spPr>
          <a:xfrm>
            <a:off x="401455" y="1725622"/>
            <a:ext cx="5731510" cy="4396105"/>
          </a:xfrm>
          <a:prstGeom prst="rect">
            <a:avLst/>
          </a:prstGeom>
        </p:spPr>
      </p:pic>
    </p:spTree>
    <p:extLst>
      <p:ext uri="{BB962C8B-B14F-4D97-AF65-F5344CB8AC3E}">
        <p14:creationId xmlns:p14="http://schemas.microsoft.com/office/powerpoint/2010/main" val="7077891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BC1DF189-6F2F-4C21-88CC-C82D3D0D147B}"/>
              </a:ext>
            </a:extLst>
          </p:cNvPr>
          <p:cNvSpPr>
            <a:spLocks noGrp="1"/>
          </p:cNvSpPr>
          <p:nvPr>
            <p:ph type="body" sz="quarter" idx="25"/>
          </p:nvPr>
        </p:nvSpPr>
        <p:spPr>
          <a:xfrm>
            <a:off x="6318219" y="4831325"/>
            <a:ext cx="5873781" cy="1307654"/>
          </a:xfrm>
        </p:spPr>
        <p:txBody>
          <a:bodyPr vert="horz" lIns="91440" tIns="45720" rIns="91440" bIns="45720" rtlCol="0" anchor="t">
            <a:normAutofit fontScale="92500" lnSpcReduction="10000"/>
          </a:bodyPr>
          <a:lstStyle/>
          <a:p>
            <a:r>
              <a:rPr lang="fr-FR" b="1" dirty="0">
                <a:latin typeface="Arial" panose="020B0604020202020204" pitchFamily="34" charset="0"/>
                <a:cs typeface="Arial" panose="020B0604020202020204" pitchFamily="34" charset="0"/>
              </a:rPr>
              <a:t>Sur Ubuntu récent, SSH est géré par un socket systemd qui contrôle le port, pas </a:t>
            </a:r>
            <a:r>
              <a:rPr lang="fr-FR" b="1" dirty="0" err="1">
                <a:latin typeface="Arial" panose="020B0604020202020204" pitchFamily="34" charset="0"/>
                <a:cs typeface="Arial" panose="020B0604020202020204" pitchFamily="34" charset="0"/>
              </a:rPr>
              <a:t>sshd_config.Il</a:t>
            </a:r>
            <a:r>
              <a:rPr lang="fr-FR" b="1" dirty="0">
                <a:latin typeface="Arial" panose="020B0604020202020204" pitchFamily="34" charset="0"/>
                <a:cs typeface="Arial" panose="020B0604020202020204" pitchFamily="34" charset="0"/>
              </a:rPr>
              <a:t> faut Modifier le socket SSH</a:t>
            </a:r>
            <a:endParaRPr lang="en-US" noProof="1">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79ED4A67-3A46-4F54-A12A-EAE1B53E6457}"/>
              </a:ext>
            </a:extLst>
          </p:cNvPr>
          <p:cNvSpPr>
            <a:spLocks noGrp="1"/>
          </p:cNvSpPr>
          <p:nvPr>
            <p:ph type="sldNum" sz="quarter" idx="22"/>
          </p:nvPr>
        </p:nvSpPr>
        <p:spPr>
          <a:xfrm>
            <a:off x="10700656" y="6356350"/>
            <a:ext cx="653143" cy="365125"/>
          </a:xfrm>
        </p:spPr>
        <p:txBody>
          <a:bodyPr/>
          <a:lstStyle/>
          <a:p>
            <a:fld id="{19B51A1E-902D-48AF-9020-955120F399B6}" type="slidenum">
              <a:rPr lang="en-US" smtClean="0">
                <a:latin typeface="Arial" panose="020B0604020202020204" pitchFamily="34" charset="0"/>
                <a:cs typeface="Arial" panose="020B0604020202020204" pitchFamily="34" charset="0"/>
              </a:rPr>
              <a:pPr/>
              <a:t>9</a:t>
            </a:fld>
            <a:endParaRPr lang="en-US" dirty="0">
              <a:latin typeface="Arial" panose="020B0604020202020204" pitchFamily="34" charset="0"/>
              <a:cs typeface="Arial" panose="020B0604020202020204" pitchFamily="34" charset="0"/>
            </a:endParaRPr>
          </a:p>
        </p:txBody>
      </p:sp>
      <p:sp>
        <p:nvSpPr>
          <p:cNvPr id="21" name="Title 1">
            <a:extLst>
              <a:ext uri="{FF2B5EF4-FFF2-40B4-BE49-F238E27FC236}">
                <a16:creationId xmlns:a16="http://schemas.microsoft.com/office/drawing/2014/main" id="{147C519B-EF99-C94B-F102-BB94B3BB1302}"/>
              </a:ext>
            </a:extLst>
          </p:cNvPr>
          <p:cNvSpPr>
            <a:spLocks noGrp="1"/>
          </p:cNvSpPr>
          <p:nvPr>
            <p:ph type="title"/>
          </p:nvPr>
        </p:nvSpPr>
        <p:spPr>
          <a:xfrm>
            <a:off x="401455" y="136525"/>
            <a:ext cx="9580745" cy="597993"/>
          </a:xfrm>
        </p:spPr>
        <p:txBody>
          <a:bodyPr>
            <a:normAutofit/>
          </a:bodyPr>
          <a:lstStyle/>
          <a:p>
            <a:r>
              <a:rPr lang="fr-FR" sz="2200" b="1" dirty="0">
                <a:solidFill>
                  <a:srgbClr val="0070C0"/>
                </a:solidFill>
                <a:latin typeface="Arial" panose="020B0604020202020204" pitchFamily="34" charset="0"/>
                <a:cs typeface="Arial" panose="020B0604020202020204" pitchFamily="34" charset="0"/>
              </a:rPr>
              <a:t>3. Changement du port </a:t>
            </a:r>
            <a:r>
              <a:rPr lang="fr-FR" sz="2200" b="1" dirty="0" err="1">
                <a:solidFill>
                  <a:srgbClr val="0070C0"/>
                </a:solidFill>
                <a:latin typeface="Arial" panose="020B0604020202020204" pitchFamily="34" charset="0"/>
                <a:cs typeface="Arial" panose="020B0604020202020204" pitchFamily="34" charset="0"/>
              </a:rPr>
              <a:t>ssh</a:t>
            </a:r>
            <a:endParaRPr lang="en-US" sz="2200" b="1" dirty="0">
              <a:solidFill>
                <a:srgbClr val="0070C0"/>
              </a:solidFill>
              <a:latin typeface="Arial" panose="020B0604020202020204" pitchFamily="34" charset="0"/>
              <a:cs typeface="Arial" panose="020B0604020202020204" pitchFamily="34" charset="0"/>
            </a:endParaRPr>
          </a:p>
        </p:txBody>
      </p:sp>
      <p:pic>
        <p:nvPicPr>
          <p:cNvPr id="22" name="Picture 21">
            <a:extLst>
              <a:ext uri="{FF2B5EF4-FFF2-40B4-BE49-F238E27FC236}">
                <a16:creationId xmlns:a16="http://schemas.microsoft.com/office/drawing/2014/main" id="{6314EDBE-B9D1-B244-51FA-9DC33C72A2AE}"/>
              </a:ext>
            </a:extLst>
          </p:cNvPr>
          <p:cNvPicPr>
            <a:picLocks noChangeAspect="1"/>
          </p:cNvPicPr>
          <p:nvPr/>
        </p:nvPicPr>
        <p:blipFill>
          <a:blip r:embed="rId2"/>
          <a:stretch>
            <a:fillRect/>
          </a:stretch>
        </p:blipFill>
        <p:spPr>
          <a:xfrm>
            <a:off x="401455" y="819973"/>
            <a:ext cx="5731510" cy="1039495"/>
          </a:xfrm>
          <a:prstGeom prst="rect">
            <a:avLst/>
          </a:prstGeom>
        </p:spPr>
      </p:pic>
      <p:pic>
        <p:nvPicPr>
          <p:cNvPr id="23" name="Picture 22">
            <a:extLst>
              <a:ext uri="{FF2B5EF4-FFF2-40B4-BE49-F238E27FC236}">
                <a16:creationId xmlns:a16="http://schemas.microsoft.com/office/drawing/2014/main" id="{E88C1C16-2550-BDA7-DFC7-634B3969F783}"/>
              </a:ext>
            </a:extLst>
          </p:cNvPr>
          <p:cNvPicPr>
            <a:picLocks noChangeAspect="1"/>
          </p:cNvPicPr>
          <p:nvPr/>
        </p:nvPicPr>
        <p:blipFill>
          <a:blip r:embed="rId3"/>
          <a:stretch>
            <a:fillRect/>
          </a:stretch>
        </p:blipFill>
        <p:spPr>
          <a:xfrm>
            <a:off x="401455" y="2247900"/>
            <a:ext cx="5731510" cy="4108450"/>
          </a:xfrm>
          <a:prstGeom prst="rect">
            <a:avLst/>
          </a:prstGeom>
        </p:spPr>
      </p:pic>
      <p:pic>
        <p:nvPicPr>
          <p:cNvPr id="26" name="Picture 25">
            <a:extLst>
              <a:ext uri="{FF2B5EF4-FFF2-40B4-BE49-F238E27FC236}">
                <a16:creationId xmlns:a16="http://schemas.microsoft.com/office/drawing/2014/main" id="{479F9466-7CE1-3B66-F8C2-392F51B56D4E}"/>
              </a:ext>
            </a:extLst>
          </p:cNvPr>
          <p:cNvPicPr>
            <a:picLocks noChangeAspect="1"/>
          </p:cNvPicPr>
          <p:nvPr/>
        </p:nvPicPr>
        <p:blipFill>
          <a:blip r:embed="rId4"/>
          <a:stretch>
            <a:fillRect/>
          </a:stretch>
        </p:blipFill>
        <p:spPr>
          <a:xfrm>
            <a:off x="6318219" y="819973"/>
            <a:ext cx="5731510" cy="409575"/>
          </a:xfrm>
          <a:prstGeom prst="rect">
            <a:avLst/>
          </a:prstGeom>
        </p:spPr>
      </p:pic>
      <p:pic>
        <p:nvPicPr>
          <p:cNvPr id="27" name="Picture 26">
            <a:extLst>
              <a:ext uri="{FF2B5EF4-FFF2-40B4-BE49-F238E27FC236}">
                <a16:creationId xmlns:a16="http://schemas.microsoft.com/office/drawing/2014/main" id="{A17448CD-594B-E66D-B875-A51C481255C2}"/>
              </a:ext>
            </a:extLst>
          </p:cNvPr>
          <p:cNvPicPr>
            <a:picLocks noChangeAspect="1"/>
          </p:cNvPicPr>
          <p:nvPr/>
        </p:nvPicPr>
        <p:blipFill>
          <a:blip r:embed="rId5"/>
          <a:stretch>
            <a:fillRect/>
          </a:stretch>
        </p:blipFill>
        <p:spPr>
          <a:xfrm>
            <a:off x="6318219" y="1446920"/>
            <a:ext cx="5731510" cy="579755"/>
          </a:xfrm>
          <a:prstGeom prst="rect">
            <a:avLst/>
          </a:prstGeom>
        </p:spPr>
      </p:pic>
      <p:pic>
        <p:nvPicPr>
          <p:cNvPr id="28" name="Picture 27">
            <a:extLst>
              <a:ext uri="{FF2B5EF4-FFF2-40B4-BE49-F238E27FC236}">
                <a16:creationId xmlns:a16="http://schemas.microsoft.com/office/drawing/2014/main" id="{6E8F3B2F-6D34-ADF7-3467-F708AEBC8CBE}"/>
              </a:ext>
            </a:extLst>
          </p:cNvPr>
          <p:cNvPicPr>
            <a:picLocks noChangeAspect="1"/>
          </p:cNvPicPr>
          <p:nvPr/>
        </p:nvPicPr>
        <p:blipFill>
          <a:blip r:embed="rId6"/>
          <a:stretch>
            <a:fillRect/>
          </a:stretch>
        </p:blipFill>
        <p:spPr>
          <a:xfrm>
            <a:off x="6318219" y="2252662"/>
            <a:ext cx="5731510" cy="2352675"/>
          </a:xfrm>
          <a:prstGeom prst="rect">
            <a:avLst/>
          </a:prstGeom>
        </p:spPr>
      </p:pic>
    </p:spTree>
    <p:extLst>
      <p:ext uri="{BB962C8B-B14F-4D97-AF65-F5344CB8AC3E}">
        <p14:creationId xmlns:p14="http://schemas.microsoft.com/office/powerpoint/2010/main" val="20693930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838200" y="621571"/>
            <a:ext cx="4241795" cy="666800"/>
          </a:xfrm>
        </p:spPr>
        <p:txBody>
          <a:bodyPr>
            <a:normAutofit/>
          </a:bodyPr>
          <a:lstStyle/>
          <a:p>
            <a:r>
              <a:rPr lang="en-US" sz="1800" dirty="0">
                <a:latin typeface="Arial" panose="020B0604020202020204" pitchFamily="34" charset="0"/>
                <a:cs typeface="Arial" panose="020B0604020202020204" pitchFamily="34" charset="0"/>
              </a:rPr>
              <a:t>TEST DEPUIS UN AUTRE TERMINAL</a:t>
            </a:r>
          </a:p>
        </p:txBody>
      </p:sp>
      <p:sp>
        <p:nvSpPr>
          <p:cNvPr id="11" name="Slide Number Placeholder 10">
            <a:extLst>
              <a:ext uri="{FF2B5EF4-FFF2-40B4-BE49-F238E27FC236}">
                <a16:creationId xmlns:a16="http://schemas.microsoft.com/office/drawing/2014/main" id="{BAD5B6F4-0A90-447A-A1AE-D75C934B6B2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10</a:t>
            </a:fld>
            <a:endParaRPr lang="en-US" dirty="0">
              <a:latin typeface="Arial" panose="020B0604020202020204" pitchFamily="34" charset="0"/>
              <a:cs typeface="Arial" panose="020B0604020202020204" pitchFamily="34" charset="0"/>
            </a:endParaRPr>
          </a:p>
        </p:txBody>
      </p:sp>
      <p:pic>
        <p:nvPicPr>
          <p:cNvPr id="38" name="Picture 37">
            <a:extLst>
              <a:ext uri="{FF2B5EF4-FFF2-40B4-BE49-F238E27FC236}">
                <a16:creationId xmlns:a16="http://schemas.microsoft.com/office/drawing/2014/main" id="{E2EEA252-B5B6-B0CD-F8A0-EF283DB89AD1}"/>
              </a:ext>
            </a:extLst>
          </p:cNvPr>
          <p:cNvPicPr>
            <a:picLocks noChangeAspect="1"/>
          </p:cNvPicPr>
          <p:nvPr/>
        </p:nvPicPr>
        <p:blipFill>
          <a:blip r:embed="rId2"/>
          <a:stretch>
            <a:fillRect/>
          </a:stretch>
        </p:blipFill>
        <p:spPr>
          <a:xfrm>
            <a:off x="838200" y="1666719"/>
            <a:ext cx="5731510" cy="3314700"/>
          </a:xfrm>
          <a:prstGeom prst="rect">
            <a:avLst/>
          </a:prstGeom>
        </p:spPr>
      </p:pic>
    </p:spTree>
    <p:extLst>
      <p:ext uri="{BB962C8B-B14F-4D97-AF65-F5344CB8AC3E}">
        <p14:creationId xmlns:p14="http://schemas.microsoft.com/office/powerpoint/2010/main" val="2121178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Title 41">
            <a:extLst>
              <a:ext uri="{FF2B5EF4-FFF2-40B4-BE49-F238E27FC236}">
                <a16:creationId xmlns:a16="http://schemas.microsoft.com/office/drawing/2014/main" id="{D3D00670-C18D-06AA-433E-C6FFBC868317}"/>
              </a:ext>
            </a:extLst>
          </p:cNvPr>
          <p:cNvSpPr>
            <a:spLocks noGrp="1"/>
          </p:cNvSpPr>
          <p:nvPr>
            <p:ph type="ctrTitle"/>
          </p:nvPr>
        </p:nvSpPr>
        <p:spPr>
          <a:xfrm>
            <a:off x="6303228" y="3869918"/>
            <a:ext cx="5561246" cy="2653016"/>
          </a:xfrm>
        </p:spPr>
        <p:txBody>
          <a:bodyPr/>
          <a:lstStyle/>
          <a:p>
            <a:r>
              <a:rPr lang="en-US" sz="1800" dirty="0">
                <a:latin typeface="Arial" panose="020B0604020202020204" pitchFamily="34" charset="0"/>
                <a:cs typeface="Arial" panose="020B0604020202020204" pitchFamily="34" charset="0"/>
              </a:rPr>
              <a:t>Update du </a:t>
            </a:r>
            <a:r>
              <a:rPr lang="en-US" sz="1800" dirty="0" err="1">
                <a:latin typeface="Arial" panose="020B0604020202020204" pitchFamily="34" charset="0"/>
                <a:cs typeface="Arial" panose="020B0604020202020204" pitchFamily="34" charset="0"/>
              </a:rPr>
              <a:t>serveur</a:t>
            </a:r>
            <a:br>
              <a:rPr lang="en-US" sz="1800" dirty="0">
                <a:latin typeface="Arial" panose="020B0604020202020204" pitchFamily="34" charset="0"/>
                <a:cs typeface="Arial" panose="020B0604020202020204" pitchFamily="34" charset="0"/>
              </a:rPr>
            </a:br>
            <a:r>
              <a:rPr lang="en-US" sz="1800" dirty="0">
                <a:latin typeface="Arial" panose="020B0604020202020204" pitchFamily="34" charset="0"/>
                <a:cs typeface="Arial" panose="020B0604020202020204" pitchFamily="34" charset="0"/>
              </a:rPr>
              <a:t>Installation de fail2ban</a:t>
            </a:r>
            <a:br>
              <a:rPr lang="en-US" sz="1800" dirty="0">
                <a:latin typeface="Arial" panose="020B0604020202020204" pitchFamily="34" charset="0"/>
                <a:cs typeface="Arial" panose="020B0604020202020204" pitchFamily="34" charset="0"/>
              </a:rPr>
            </a:br>
            <a:r>
              <a:rPr lang="en-US" sz="1800" dirty="0">
                <a:latin typeface="Arial" panose="020B0604020202020204" pitchFamily="34" charset="0"/>
                <a:cs typeface="Arial" panose="020B0604020202020204" pitchFamily="34" charset="0"/>
              </a:rPr>
              <a:t>creation du </a:t>
            </a:r>
            <a:r>
              <a:rPr lang="en-US" sz="1800" dirty="0" err="1">
                <a:latin typeface="Arial" panose="020B0604020202020204" pitchFamily="34" charset="0"/>
                <a:cs typeface="Arial" panose="020B0604020202020204" pitchFamily="34" charset="0"/>
              </a:rPr>
              <a:t>fichier</a:t>
            </a:r>
            <a:r>
              <a:rPr lang="en-US" sz="1800" dirty="0">
                <a:latin typeface="Arial" panose="020B0604020202020204" pitchFamily="34" charset="0"/>
                <a:cs typeface="Arial" panose="020B0604020202020204" pitchFamily="34" charset="0"/>
              </a:rPr>
              <a:t> de configuration local</a:t>
            </a:r>
            <a:br>
              <a:rPr lang="en-US" sz="1800" dirty="0">
                <a:latin typeface="Arial" panose="020B0604020202020204" pitchFamily="34" charset="0"/>
                <a:cs typeface="Arial" panose="020B0604020202020204" pitchFamily="34" charset="0"/>
              </a:rPr>
            </a:br>
            <a:r>
              <a:rPr lang="fr-FR" sz="1800" dirty="0">
                <a:latin typeface="Arial" panose="020B0604020202020204" pitchFamily="34" charset="0"/>
                <a:cs typeface="Arial" panose="020B0604020202020204" pitchFamily="34" charset="0"/>
              </a:rPr>
              <a:t>Modification de la section [</a:t>
            </a:r>
            <a:r>
              <a:rPr lang="fr-FR" sz="1800" dirty="0" err="1">
                <a:latin typeface="Arial" panose="020B0604020202020204" pitchFamily="34" charset="0"/>
                <a:cs typeface="Arial" panose="020B0604020202020204" pitchFamily="34" charset="0"/>
              </a:rPr>
              <a:t>sshd</a:t>
            </a:r>
            <a:r>
              <a:rPr lang="fr-FR" sz="1800" dirty="0">
                <a:latin typeface="Arial" panose="020B0604020202020204" pitchFamily="34" charset="0"/>
                <a:cs typeface="Arial" panose="020B0604020202020204" pitchFamily="34" charset="0"/>
              </a:rPr>
              <a:t>] :</a:t>
            </a:r>
            <a:br>
              <a:rPr lang="en-US" sz="1800" dirty="0">
                <a:latin typeface="Arial" panose="020B0604020202020204" pitchFamily="34" charset="0"/>
                <a:cs typeface="Arial" panose="020B0604020202020204" pitchFamily="34" charset="0"/>
              </a:rPr>
            </a:br>
            <a:r>
              <a:rPr lang="en-US" sz="1800" dirty="0">
                <a:latin typeface="Arial" panose="020B0604020202020204" pitchFamily="34" charset="0"/>
                <a:cs typeface="Arial" panose="020B0604020202020204" pitchFamily="34" charset="0"/>
              </a:rPr>
              <a:t>Activation et </a:t>
            </a:r>
            <a:r>
              <a:rPr lang="en-US" sz="1800" dirty="0" err="1">
                <a:latin typeface="Arial" panose="020B0604020202020204" pitchFamily="34" charset="0"/>
                <a:cs typeface="Arial" panose="020B0604020202020204" pitchFamily="34" charset="0"/>
              </a:rPr>
              <a:t>demarrage</a:t>
            </a:r>
            <a:r>
              <a:rPr lang="en-US" sz="1800" dirty="0">
                <a:latin typeface="Arial" panose="020B0604020202020204" pitchFamily="34" charset="0"/>
                <a:cs typeface="Arial" panose="020B0604020202020204" pitchFamily="34" charset="0"/>
              </a:rPr>
              <a:t> de fail2ban</a:t>
            </a:r>
            <a:br>
              <a:rPr lang="en-US" sz="1800" dirty="0">
                <a:latin typeface="Arial" panose="020B0604020202020204" pitchFamily="34" charset="0"/>
                <a:cs typeface="Arial" panose="020B0604020202020204" pitchFamily="34" charset="0"/>
              </a:rPr>
            </a:br>
            <a:r>
              <a:rPr lang="en-US" sz="1800" dirty="0">
                <a:latin typeface="Arial" panose="020B0604020202020204" pitchFamily="34" charset="0"/>
                <a:cs typeface="Arial" panose="020B0604020202020204" pitchFamily="34" charset="0"/>
              </a:rPr>
              <a:t>status de fail2ban</a:t>
            </a:r>
            <a:endParaRPr lang="fr-FR" sz="1800" dirty="0">
              <a:latin typeface="Arial" panose="020B0604020202020204" pitchFamily="34" charset="0"/>
              <a:cs typeface="Arial" panose="020B0604020202020204" pitchFamily="34" charset="0"/>
            </a:endParaRPr>
          </a:p>
        </p:txBody>
      </p:sp>
      <p:sp>
        <p:nvSpPr>
          <p:cNvPr id="5" name="Date Placeholder 4">
            <a:extLst>
              <a:ext uri="{FF2B5EF4-FFF2-40B4-BE49-F238E27FC236}">
                <a16:creationId xmlns:a16="http://schemas.microsoft.com/office/drawing/2014/main" id="{79C22D8C-87A6-47AD-8D29-FBBA539EDBE2}"/>
              </a:ext>
            </a:extLst>
          </p:cNvPr>
          <p:cNvSpPr>
            <a:spLocks noGrp="1"/>
          </p:cNvSpPr>
          <p:nvPr>
            <p:ph type="dt" sz="half" idx="4294967295"/>
          </p:nvPr>
        </p:nvSpPr>
        <p:spPr>
          <a:xfrm>
            <a:off x="0" y="6356350"/>
            <a:ext cx="2743200" cy="365125"/>
          </a:xfrm>
        </p:spPr>
        <p:txBody>
          <a:bodyPr/>
          <a:lstStyle/>
          <a:p>
            <a:r>
              <a:rPr lang="en-US" dirty="0">
                <a:latin typeface="Arial" panose="020B0604020202020204" pitchFamily="34" charset="0"/>
                <a:cs typeface="Arial" panose="020B0604020202020204" pitchFamily="34" charset="0"/>
              </a:rPr>
              <a:t>20XX</a:t>
            </a:r>
          </a:p>
        </p:txBody>
      </p:sp>
      <p:sp>
        <p:nvSpPr>
          <p:cNvPr id="6" name="Footer Placeholder 5">
            <a:extLst>
              <a:ext uri="{FF2B5EF4-FFF2-40B4-BE49-F238E27FC236}">
                <a16:creationId xmlns:a16="http://schemas.microsoft.com/office/drawing/2014/main" id="{4D346909-C2E0-4F1D-90FC-F5E1D8DFB515}"/>
              </a:ext>
            </a:extLst>
          </p:cNvPr>
          <p:cNvSpPr>
            <a:spLocks noGrp="1"/>
          </p:cNvSpPr>
          <p:nvPr>
            <p:ph type="ftr" sz="quarter" idx="4294967295"/>
          </p:nvPr>
        </p:nvSpPr>
        <p:spPr>
          <a:xfrm>
            <a:off x="0" y="6356350"/>
            <a:ext cx="4114800" cy="365125"/>
          </a:xfrm>
        </p:spPr>
        <p:txBody>
          <a:bodyPr/>
          <a:lstStyle/>
          <a:p>
            <a:r>
              <a:rPr lang="en-US" dirty="0">
                <a:latin typeface="Arial" panose="020B0604020202020204" pitchFamily="34" charset="0"/>
                <a:cs typeface="Arial" panose="020B0604020202020204" pitchFamily="34" charset="0"/>
              </a:rPr>
              <a:t>Pitch Deck</a:t>
            </a:r>
          </a:p>
        </p:txBody>
      </p:sp>
      <p:sp>
        <p:nvSpPr>
          <p:cNvPr id="7" name="Slide Number Placeholder 6">
            <a:extLst>
              <a:ext uri="{FF2B5EF4-FFF2-40B4-BE49-F238E27FC236}">
                <a16:creationId xmlns:a16="http://schemas.microsoft.com/office/drawing/2014/main" id="{EBC02F21-4E3C-469E-B11C-9214231082D3}"/>
              </a:ext>
            </a:extLst>
          </p:cNvPr>
          <p:cNvSpPr>
            <a:spLocks noGrp="1"/>
          </p:cNvSpPr>
          <p:nvPr>
            <p:ph type="sldNum" sz="quarter" idx="4294967295"/>
          </p:nvPr>
        </p:nvSpPr>
        <p:spPr>
          <a:xfrm>
            <a:off x="94488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11</a:t>
            </a:fld>
            <a:endParaRPr lang="en-US" dirty="0">
              <a:latin typeface="Arial" panose="020B0604020202020204" pitchFamily="34" charset="0"/>
              <a:cs typeface="Arial" panose="020B0604020202020204" pitchFamily="34" charset="0"/>
            </a:endParaRPr>
          </a:p>
        </p:txBody>
      </p:sp>
      <p:sp>
        <p:nvSpPr>
          <p:cNvPr id="3" name="Title 1">
            <a:extLst>
              <a:ext uri="{FF2B5EF4-FFF2-40B4-BE49-F238E27FC236}">
                <a16:creationId xmlns:a16="http://schemas.microsoft.com/office/drawing/2014/main" id="{30117BEA-B382-6D95-1A61-3EAEEF91332A}"/>
              </a:ext>
            </a:extLst>
          </p:cNvPr>
          <p:cNvSpPr txBox="1">
            <a:spLocks/>
          </p:cNvSpPr>
          <p:nvPr/>
        </p:nvSpPr>
        <p:spPr>
          <a:xfrm>
            <a:off x="401455" y="136525"/>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r>
              <a:rPr lang="fr-FR" sz="2200" b="1" dirty="0">
                <a:solidFill>
                  <a:srgbClr val="0070C0"/>
                </a:solidFill>
                <a:latin typeface="Arial" panose="020B0604020202020204" pitchFamily="34" charset="0"/>
                <a:cs typeface="Arial" panose="020B0604020202020204" pitchFamily="34" charset="0"/>
              </a:rPr>
              <a:t>4. MISE EN PLACE DE FAIL2BAN</a:t>
            </a:r>
            <a:endParaRPr lang="en-US" sz="2200" b="1" dirty="0">
              <a:solidFill>
                <a:srgbClr val="0070C0"/>
              </a:solidFill>
              <a:latin typeface="Arial" panose="020B0604020202020204" pitchFamily="34" charset="0"/>
              <a:cs typeface="Arial" panose="020B0604020202020204" pitchFamily="34" charset="0"/>
            </a:endParaRPr>
          </a:p>
        </p:txBody>
      </p:sp>
      <p:pic>
        <p:nvPicPr>
          <p:cNvPr id="12" name="Picture 11">
            <a:extLst>
              <a:ext uri="{FF2B5EF4-FFF2-40B4-BE49-F238E27FC236}">
                <a16:creationId xmlns:a16="http://schemas.microsoft.com/office/drawing/2014/main" id="{DDDAA25C-CE2B-B1F7-CDA8-021812C270F2}"/>
              </a:ext>
            </a:extLst>
          </p:cNvPr>
          <p:cNvPicPr>
            <a:picLocks noChangeAspect="1"/>
          </p:cNvPicPr>
          <p:nvPr/>
        </p:nvPicPr>
        <p:blipFill>
          <a:blip r:embed="rId2"/>
          <a:stretch>
            <a:fillRect/>
          </a:stretch>
        </p:blipFill>
        <p:spPr>
          <a:xfrm>
            <a:off x="401455" y="709985"/>
            <a:ext cx="5731510" cy="1980565"/>
          </a:xfrm>
          <a:prstGeom prst="rect">
            <a:avLst/>
          </a:prstGeom>
        </p:spPr>
      </p:pic>
      <p:pic>
        <p:nvPicPr>
          <p:cNvPr id="37" name="Picture 36">
            <a:extLst>
              <a:ext uri="{FF2B5EF4-FFF2-40B4-BE49-F238E27FC236}">
                <a16:creationId xmlns:a16="http://schemas.microsoft.com/office/drawing/2014/main" id="{BB99C3A3-DBE2-AB21-8B89-CA8315F9664D}"/>
              </a:ext>
            </a:extLst>
          </p:cNvPr>
          <p:cNvPicPr>
            <a:picLocks noChangeAspect="1"/>
          </p:cNvPicPr>
          <p:nvPr/>
        </p:nvPicPr>
        <p:blipFill>
          <a:blip r:embed="rId3"/>
          <a:stretch>
            <a:fillRect/>
          </a:stretch>
        </p:blipFill>
        <p:spPr>
          <a:xfrm>
            <a:off x="401455" y="2741681"/>
            <a:ext cx="5731510" cy="1289685"/>
          </a:xfrm>
          <a:prstGeom prst="rect">
            <a:avLst/>
          </a:prstGeom>
        </p:spPr>
      </p:pic>
      <p:pic>
        <p:nvPicPr>
          <p:cNvPr id="38" name="Picture 37">
            <a:extLst>
              <a:ext uri="{FF2B5EF4-FFF2-40B4-BE49-F238E27FC236}">
                <a16:creationId xmlns:a16="http://schemas.microsoft.com/office/drawing/2014/main" id="{BD6931E3-73DB-0A77-112F-12F3EBD19436}"/>
              </a:ext>
            </a:extLst>
          </p:cNvPr>
          <p:cNvPicPr>
            <a:picLocks noChangeAspect="1"/>
          </p:cNvPicPr>
          <p:nvPr/>
        </p:nvPicPr>
        <p:blipFill>
          <a:blip r:embed="rId4"/>
          <a:stretch>
            <a:fillRect/>
          </a:stretch>
        </p:blipFill>
        <p:spPr>
          <a:xfrm>
            <a:off x="401455" y="4143711"/>
            <a:ext cx="5731510" cy="201295"/>
          </a:xfrm>
          <a:prstGeom prst="rect">
            <a:avLst/>
          </a:prstGeom>
        </p:spPr>
      </p:pic>
      <p:pic>
        <p:nvPicPr>
          <p:cNvPr id="39" name="Picture 38">
            <a:extLst>
              <a:ext uri="{FF2B5EF4-FFF2-40B4-BE49-F238E27FC236}">
                <a16:creationId xmlns:a16="http://schemas.microsoft.com/office/drawing/2014/main" id="{68E0596F-EC01-3F17-4EE8-423EF69D9B80}"/>
              </a:ext>
            </a:extLst>
          </p:cNvPr>
          <p:cNvPicPr>
            <a:picLocks noChangeAspect="1"/>
          </p:cNvPicPr>
          <p:nvPr/>
        </p:nvPicPr>
        <p:blipFill>
          <a:blip r:embed="rId5"/>
          <a:stretch>
            <a:fillRect/>
          </a:stretch>
        </p:blipFill>
        <p:spPr>
          <a:xfrm>
            <a:off x="401455" y="4392032"/>
            <a:ext cx="5731510" cy="2292350"/>
          </a:xfrm>
          <a:prstGeom prst="rect">
            <a:avLst/>
          </a:prstGeom>
        </p:spPr>
      </p:pic>
      <p:pic>
        <p:nvPicPr>
          <p:cNvPr id="40" name="Picture 39">
            <a:extLst>
              <a:ext uri="{FF2B5EF4-FFF2-40B4-BE49-F238E27FC236}">
                <a16:creationId xmlns:a16="http://schemas.microsoft.com/office/drawing/2014/main" id="{6DF1ABBB-5598-C891-5747-4B9B6E1AA99D}"/>
              </a:ext>
            </a:extLst>
          </p:cNvPr>
          <p:cNvPicPr>
            <a:picLocks noChangeAspect="1"/>
          </p:cNvPicPr>
          <p:nvPr/>
        </p:nvPicPr>
        <p:blipFill>
          <a:blip r:embed="rId6"/>
          <a:stretch>
            <a:fillRect/>
          </a:stretch>
        </p:blipFill>
        <p:spPr>
          <a:xfrm>
            <a:off x="6303228" y="709985"/>
            <a:ext cx="5731510" cy="942340"/>
          </a:xfrm>
          <a:prstGeom prst="rect">
            <a:avLst/>
          </a:prstGeom>
        </p:spPr>
      </p:pic>
      <p:pic>
        <p:nvPicPr>
          <p:cNvPr id="41" name="Picture 40">
            <a:extLst>
              <a:ext uri="{FF2B5EF4-FFF2-40B4-BE49-F238E27FC236}">
                <a16:creationId xmlns:a16="http://schemas.microsoft.com/office/drawing/2014/main" id="{3494A7D3-D368-D9E6-43AA-3D2C46516606}"/>
              </a:ext>
            </a:extLst>
          </p:cNvPr>
          <p:cNvPicPr>
            <a:picLocks noChangeAspect="1"/>
          </p:cNvPicPr>
          <p:nvPr/>
        </p:nvPicPr>
        <p:blipFill>
          <a:blip r:embed="rId7"/>
          <a:stretch>
            <a:fillRect/>
          </a:stretch>
        </p:blipFill>
        <p:spPr>
          <a:xfrm>
            <a:off x="6303228" y="1882494"/>
            <a:ext cx="5731510" cy="1781175"/>
          </a:xfrm>
          <a:prstGeom prst="rect">
            <a:avLst/>
          </a:prstGeom>
        </p:spPr>
      </p:pic>
    </p:spTree>
    <p:extLst>
      <p:ext uri="{BB962C8B-B14F-4D97-AF65-F5344CB8AC3E}">
        <p14:creationId xmlns:p14="http://schemas.microsoft.com/office/powerpoint/2010/main" val="4048543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 Number Placeholder 13">
            <a:extLst>
              <a:ext uri="{FF2B5EF4-FFF2-40B4-BE49-F238E27FC236}">
                <a16:creationId xmlns:a16="http://schemas.microsoft.com/office/drawing/2014/main" id="{42152A75-1CD2-44EC-9374-C83D4604A5DD}"/>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12</a:t>
            </a:fld>
            <a:endParaRPr lang="en-US" dirty="0">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27F0B4EE-0C84-A8C9-8591-16611BA0BBB3}"/>
              </a:ext>
            </a:extLst>
          </p:cNvPr>
          <p:cNvSpPr txBox="1">
            <a:spLocks/>
          </p:cNvSpPr>
          <p:nvPr/>
        </p:nvSpPr>
        <p:spPr>
          <a:xfrm>
            <a:off x="401455" y="136525"/>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r>
              <a:rPr lang="fr-FR" sz="2200" b="1" dirty="0">
                <a:solidFill>
                  <a:srgbClr val="0070C0"/>
                </a:solidFill>
                <a:latin typeface="Arial" panose="020B0604020202020204" pitchFamily="34" charset="0"/>
                <a:cs typeface="Arial" panose="020B0604020202020204" pitchFamily="34" charset="0"/>
              </a:rPr>
              <a:t>5. Limitations des utilisateurs autorises</a:t>
            </a:r>
            <a:endParaRPr lang="en-US" sz="2200" b="1" dirty="0">
              <a:solidFill>
                <a:srgbClr val="0070C0"/>
              </a:solidFill>
              <a:latin typeface="Arial" panose="020B0604020202020204" pitchFamily="34" charset="0"/>
              <a:cs typeface="Arial" panose="020B0604020202020204" pitchFamily="34" charset="0"/>
            </a:endParaRPr>
          </a:p>
        </p:txBody>
      </p:sp>
      <p:pic>
        <p:nvPicPr>
          <p:cNvPr id="21" name="Picture 20">
            <a:extLst>
              <a:ext uri="{FF2B5EF4-FFF2-40B4-BE49-F238E27FC236}">
                <a16:creationId xmlns:a16="http://schemas.microsoft.com/office/drawing/2014/main" id="{37320E05-F4C5-E563-6866-B0C80E6CBBD4}"/>
              </a:ext>
            </a:extLst>
          </p:cNvPr>
          <p:cNvPicPr>
            <a:picLocks noChangeAspect="1"/>
          </p:cNvPicPr>
          <p:nvPr/>
        </p:nvPicPr>
        <p:blipFill>
          <a:blip r:embed="rId2"/>
          <a:stretch>
            <a:fillRect/>
          </a:stretch>
        </p:blipFill>
        <p:spPr>
          <a:xfrm>
            <a:off x="401455" y="734518"/>
            <a:ext cx="5731510" cy="598170"/>
          </a:xfrm>
          <a:prstGeom prst="rect">
            <a:avLst/>
          </a:prstGeom>
        </p:spPr>
      </p:pic>
      <p:pic>
        <p:nvPicPr>
          <p:cNvPr id="22" name="Picture 21">
            <a:extLst>
              <a:ext uri="{FF2B5EF4-FFF2-40B4-BE49-F238E27FC236}">
                <a16:creationId xmlns:a16="http://schemas.microsoft.com/office/drawing/2014/main" id="{535C1141-E6AA-F9AD-F4BF-6C8FFE1A6F0E}"/>
              </a:ext>
            </a:extLst>
          </p:cNvPr>
          <p:cNvPicPr>
            <a:picLocks noChangeAspect="1"/>
          </p:cNvPicPr>
          <p:nvPr/>
        </p:nvPicPr>
        <p:blipFill>
          <a:blip r:embed="rId3"/>
          <a:stretch>
            <a:fillRect/>
          </a:stretch>
        </p:blipFill>
        <p:spPr>
          <a:xfrm>
            <a:off x="401455" y="1480925"/>
            <a:ext cx="5731510" cy="585470"/>
          </a:xfrm>
          <a:prstGeom prst="rect">
            <a:avLst/>
          </a:prstGeom>
        </p:spPr>
      </p:pic>
      <p:sp>
        <p:nvSpPr>
          <p:cNvPr id="23" name="Title 1">
            <a:extLst>
              <a:ext uri="{FF2B5EF4-FFF2-40B4-BE49-F238E27FC236}">
                <a16:creationId xmlns:a16="http://schemas.microsoft.com/office/drawing/2014/main" id="{DF167CE2-C985-B175-1543-0AF62E5EC81B}"/>
              </a:ext>
            </a:extLst>
          </p:cNvPr>
          <p:cNvSpPr txBox="1">
            <a:spLocks/>
          </p:cNvSpPr>
          <p:nvPr/>
        </p:nvSpPr>
        <p:spPr>
          <a:xfrm>
            <a:off x="401454" y="2214632"/>
            <a:ext cx="9580745" cy="59799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600" kern="1200" cap="all" spc="150" baseline="0">
                <a:solidFill>
                  <a:schemeClr val="tx1">
                    <a:lumMod val="75000"/>
                    <a:lumOff val="25000"/>
                  </a:schemeClr>
                </a:solidFill>
                <a:latin typeface="+mj-lt"/>
                <a:ea typeface="+mj-ea"/>
                <a:cs typeface="+mj-cs"/>
              </a:defRPr>
            </a:lvl1pPr>
          </a:lstStyle>
          <a:p>
            <a:r>
              <a:rPr lang="fr-FR" sz="2200" b="1" dirty="0">
                <a:solidFill>
                  <a:srgbClr val="0070C0"/>
                </a:solidFill>
                <a:latin typeface="Arial" panose="020B0604020202020204" pitchFamily="34" charset="0"/>
                <a:cs typeface="Arial" panose="020B0604020202020204" pitchFamily="34" charset="0"/>
              </a:rPr>
              <a:t>6. Limitations des utilisateurs autorises</a:t>
            </a:r>
            <a:endParaRPr lang="en-US" sz="2200" b="1" dirty="0">
              <a:solidFill>
                <a:srgbClr val="0070C0"/>
              </a:solidFill>
              <a:latin typeface="Arial" panose="020B0604020202020204" pitchFamily="34" charset="0"/>
              <a:cs typeface="Arial" panose="020B0604020202020204" pitchFamily="34" charset="0"/>
            </a:endParaRPr>
          </a:p>
        </p:txBody>
      </p:sp>
      <p:pic>
        <p:nvPicPr>
          <p:cNvPr id="24" name="Picture 23">
            <a:extLst>
              <a:ext uri="{FF2B5EF4-FFF2-40B4-BE49-F238E27FC236}">
                <a16:creationId xmlns:a16="http://schemas.microsoft.com/office/drawing/2014/main" id="{33DCE563-F321-3640-A47F-098356D795A3}"/>
              </a:ext>
            </a:extLst>
          </p:cNvPr>
          <p:cNvPicPr>
            <a:picLocks noChangeAspect="1"/>
          </p:cNvPicPr>
          <p:nvPr/>
        </p:nvPicPr>
        <p:blipFill>
          <a:blip r:embed="rId4"/>
          <a:stretch>
            <a:fillRect/>
          </a:stretch>
        </p:blipFill>
        <p:spPr>
          <a:xfrm>
            <a:off x="364490" y="2805856"/>
            <a:ext cx="5731510" cy="2479040"/>
          </a:xfrm>
          <a:prstGeom prst="rect">
            <a:avLst/>
          </a:prstGeom>
        </p:spPr>
      </p:pic>
      <p:pic>
        <p:nvPicPr>
          <p:cNvPr id="25" name="Picture 24">
            <a:extLst>
              <a:ext uri="{FF2B5EF4-FFF2-40B4-BE49-F238E27FC236}">
                <a16:creationId xmlns:a16="http://schemas.microsoft.com/office/drawing/2014/main" id="{CB554ACA-64EF-8B10-DF82-B15A8A520747}"/>
              </a:ext>
            </a:extLst>
          </p:cNvPr>
          <p:cNvPicPr>
            <a:picLocks noChangeAspect="1"/>
          </p:cNvPicPr>
          <p:nvPr/>
        </p:nvPicPr>
        <p:blipFill>
          <a:blip r:embed="rId5"/>
          <a:stretch>
            <a:fillRect/>
          </a:stretch>
        </p:blipFill>
        <p:spPr>
          <a:xfrm>
            <a:off x="364490" y="5536042"/>
            <a:ext cx="5731510" cy="488315"/>
          </a:xfrm>
          <a:prstGeom prst="rect">
            <a:avLst/>
          </a:prstGeom>
        </p:spPr>
      </p:pic>
      <p:pic>
        <p:nvPicPr>
          <p:cNvPr id="26" name="Picture 25">
            <a:extLst>
              <a:ext uri="{FF2B5EF4-FFF2-40B4-BE49-F238E27FC236}">
                <a16:creationId xmlns:a16="http://schemas.microsoft.com/office/drawing/2014/main" id="{604516E3-F48E-D382-CE9D-65E4470D245A}"/>
              </a:ext>
            </a:extLst>
          </p:cNvPr>
          <p:cNvPicPr>
            <a:picLocks noChangeAspect="1"/>
          </p:cNvPicPr>
          <p:nvPr/>
        </p:nvPicPr>
        <p:blipFill>
          <a:blip r:embed="rId6"/>
          <a:stretch>
            <a:fillRect/>
          </a:stretch>
        </p:blipFill>
        <p:spPr>
          <a:xfrm>
            <a:off x="6243268" y="2805856"/>
            <a:ext cx="5731510" cy="772795"/>
          </a:xfrm>
          <a:prstGeom prst="rect">
            <a:avLst/>
          </a:prstGeom>
        </p:spPr>
      </p:pic>
      <p:pic>
        <p:nvPicPr>
          <p:cNvPr id="27" name="Picture 26">
            <a:extLst>
              <a:ext uri="{FF2B5EF4-FFF2-40B4-BE49-F238E27FC236}">
                <a16:creationId xmlns:a16="http://schemas.microsoft.com/office/drawing/2014/main" id="{5399513D-2DE3-0440-AE75-24964F6F9881}"/>
              </a:ext>
            </a:extLst>
          </p:cNvPr>
          <p:cNvPicPr>
            <a:picLocks noChangeAspect="1"/>
          </p:cNvPicPr>
          <p:nvPr/>
        </p:nvPicPr>
        <p:blipFill>
          <a:blip r:embed="rId7"/>
          <a:stretch>
            <a:fillRect/>
          </a:stretch>
        </p:blipFill>
        <p:spPr>
          <a:xfrm>
            <a:off x="6243268" y="3740045"/>
            <a:ext cx="5731510" cy="2454910"/>
          </a:xfrm>
          <a:prstGeom prst="rect">
            <a:avLst/>
          </a:prstGeom>
        </p:spPr>
      </p:pic>
    </p:spTree>
    <p:extLst>
      <p:ext uri="{BB962C8B-B14F-4D97-AF65-F5344CB8AC3E}">
        <p14:creationId xmlns:p14="http://schemas.microsoft.com/office/powerpoint/2010/main" val="41516945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A32F697-D1D4-4B0A-B960-D1869BF8607A}"/>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13</a:t>
            </a:fld>
            <a:endParaRPr lang="en-US" dirty="0"/>
          </a:p>
        </p:txBody>
      </p:sp>
      <p:pic>
        <p:nvPicPr>
          <p:cNvPr id="7" name="Picture 6">
            <a:extLst>
              <a:ext uri="{FF2B5EF4-FFF2-40B4-BE49-F238E27FC236}">
                <a16:creationId xmlns:a16="http://schemas.microsoft.com/office/drawing/2014/main" id="{90C935A7-35B5-52CD-BCE4-76F86B06A1DF}"/>
              </a:ext>
            </a:extLst>
          </p:cNvPr>
          <p:cNvPicPr>
            <a:picLocks noChangeAspect="1"/>
          </p:cNvPicPr>
          <p:nvPr/>
        </p:nvPicPr>
        <p:blipFill>
          <a:blip r:embed="rId2"/>
          <a:stretch>
            <a:fillRect/>
          </a:stretch>
        </p:blipFill>
        <p:spPr>
          <a:xfrm>
            <a:off x="364490" y="553894"/>
            <a:ext cx="5731510" cy="2562860"/>
          </a:xfrm>
          <a:prstGeom prst="rect">
            <a:avLst/>
          </a:prstGeom>
        </p:spPr>
      </p:pic>
    </p:spTree>
    <p:extLst>
      <p:ext uri="{BB962C8B-B14F-4D97-AF65-F5344CB8AC3E}">
        <p14:creationId xmlns:p14="http://schemas.microsoft.com/office/powerpoint/2010/main" val="1472106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85156" y="892177"/>
            <a:ext cx="8421688" cy="1325563"/>
          </a:xfrm>
        </p:spPr>
        <p:txBody>
          <a:bodyPr/>
          <a:lstStyle/>
          <a:p>
            <a:r>
              <a:rPr lang="en-US" dirty="0">
                <a:latin typeface="Arial" panose="020B0604020202020204" pitchFamily="34" charset="0"/>
                <a:cs typeface="Arial" panose="020B0604020202020204" pitchFamily="34" charset="0"/>
              </a:rPr>
              <a:t>MEET THE TEAM</a:t>
            </a:r>
          </a:p>
        </p:txBody>
      </p:sp>
      <p:pic>
        <p:nvPicPr>
          <p:cNvPr id="26" name="Picture Placeholder 25" descr="Team member headshot">
            <a:extLst>
              <a:ext uri="{FF2B5EF4-FFF2-40B4-BE49-F238E27FC236}">
                <a16:creationId xmlns:a16="http://schemas.microsoft.com/office/drawing/2014/main" id="{E287A61C-B7FB-4B69-97E7-7B7AFC8A5D33}"/>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487181" y="2886074"/>
            <a:ext cx="1845511" cy="1845511"/>
          </a:xfrm>
        </p:spPr>
      </p:pic>
      <p:pic>
        <p:nvPicPr>
          <p:cNvPr id="47" name="Picture Placeholder 46" descr="Team member headshot">
            <a:extLst>
              <a:ext uri="{FF2B5EF4-FFF2-40B4-BE49-F238E27FC236}">
                <a16:creationId xmlns:a16="http://schemas.microsoft.com/office/drawing/2014/main" id="{8AF5260A-2860-4F88-BA4D-70530D3E14AA}"/>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3836914" y="2886074"/>
            <a:ext cx="1845511" cy="1845511"/>
          </a:xfrm>
        </p:spPr>
      </p:pic>
      <p:pic>
        <p:nvPicPr>
          <p:cNvPr id="45" name="Picture Placeholder 44" descr="Team member headshot">
            <a:extLst>
              <a:ext uri="{FF2B5EF4-FFF2-40B4-BE49-F238E27FC236}">
                <a16:creationId xmlns:a16="http://schemas.microsoft.com/office/drawing/2014/main" id="{4442FA67-BF04-4E45-BFD9-78BF43789E09}"/>
              </a:ext>
            </a:extLst>
          </p:cNvPr>
          <p:cNvPicPr>
            <a:picLocks noGrp="1" noChangeAspect="1"/>
          </p:cNvPicPr>
          <p:nvPr>
            <p:ph type="pic" sz="quarter" idx="16"/>
          </p:nvPr>
        </p:nvPicPr>
        <p:blipFill rotWithShape="1">
          <a:blip r:embed="rId4">
            <a:extLst>
              <a:ext uri="{28A0092B-C50C-407E-A947-70E740481C1C}">
                <a14:useLocalDpi xmlns:a14="http://schemas.microsoft.com/office/drawing/2010/main" val="0"/>
              </a:ext>
            </a:extLst>
          </a:blip>
          <a:srcRect/>
          <a:stretch/>
        </p:blipFill>
        <p:spPr>
          <a:xfrm>
            <a:off x="6327578" y="2886074"/>
            <a:ext cx="1845511" cy="1845511"/>
          </a:xfrm>
        </p:spPr>
      </p:pic>
      <p:pic>
        <p:nvPicPr>
          <p:cNvPr id="43" name="Picture Placeholder 42" descr="Team member headshot">
            <a:extLst>
              <a:ext uri="{FF2B5EF4-FFF2-40B4-BE49-F238E27FC236}">
                <a16:creationId xmlns:a16="http://schemas.microsoft.com/office/drawing/2014/main" id="{F328CD15-EA0E-49AD-A3C6-5798A372AA53}"/>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8747458" y="2886074"/>
            <a:ext cx="1845511" cy="1845511"/>
          </a:xfrm>
        </p:spPr>
      </p:pic>
      <p:sp>
        <p:nvSpPr>
          <p:cNvPr id="24" name="Text Placeholder 23">
            <a:extLst>
              <a:ext uri="{FF2B5EF4-FFF2-40B4-BE49-F238E27FC236}">
                <a16:creationId xmlns:a16="http://schemas.microsoft.com/office/drawing/2014/main" id="{7BAD1FFF-8B97-4CD1-85E7-B7738EAD28CD}"/>
              </a:ext>
            </a:extLst>
          </p:cNvPr>
          <p:cNvSpPr>
            <a:spLocks noGrp="1"/>
          </p:cNvSpPr>
          <p:nvPr>
            <p:ph type="body" idx="1"/>
          </p:nvPr>
        </p:nvSpPr>
        <p:spPr>
          <a:xfrm>
            <a:off x="1343248" y="5084524"/>
            <a:ext cx="2123743" cy="343061"/>
          </a:xfrm>
        </p:spPr>
        <p:txBody>
          <a:bodyPr/>
          <a:lstStyle/>
          <a:p>
            <a:r>
              <a:rPr lang="en-US" dirty="0">
                <a:latin typeface="Arial" panose="020B0604020202020204" pitchFamily="34" charset="0"/>
                <a:cs typeface="Arial" panose="020B0604020202020204" pitchFamily="34" charset="0"/>
              </a:rPr>
              <a:t>TAKUMA HAYASHI​</a:t>
            </a:r>
          </a:p>
        </p:txBody>
      </p:sp>
      <p:sp>
        <p:nvSpPr>
          <p:cNvPr id="33" name="Text Placeholder 32">
            <a:extLst>
              <a:ext uri="{FF2B5EF4-FFF2-40B4-BE49-F238E27FC236}">
                <a16:creationId xmlns:a16="http://schemas.microsoft.com/office/drawing/2014/main" id="{10C8C8C1-99D8-4034-A628-DECEB703BA1D}"/>
              </a:ext>
            </a:extLst>
          </p:cNvPr>
          <p:cNvSpPr>
            <a:spLocks noGrp="1"/>
          </p:cNvSpPr>
          <p:nvPr>
            <p:ph type="body" idx="18"/>
          </p:nvPr>
        </p:nvSpPr>
        <p:spPr>
          <a:xfrm>
            <a:off x="3692980" y="5099206"/>
            <a:ext cx="2135755" cy="343061"/>
          </a:xfrm>
        </p:spPr>
        <p:txBody>
          <a:bodyPr/>
          <a:lstStyle/>
          <a:p>
            <a:r>
              <a:rPr lang="en-US" dirty="0">
                <a:latin typeface="Arial" panose="020B0604020202020204" pitchFamily="34" charset="0"/>
                <a:cs typeface="Arial" panose="020B0604020202020204" pitchFamily="34" charset="0"/>
              </a:rPr>
              <a:t>MIRJAM NILSSON​</a:t>
            </a:r>
          </a:p>
        </p:txBody>
      </p:sp>
      <p:sp>
        <p:nvSpPr>
          <p:cNvPr id="34" name="Text Placeholder 33">
            <a:extLst>
              <a:ext uri="{FF2B5EF4-FFF2-40B4-BE49-F238E27FC236}">
                <a16:creationId xmlns:a16="http://schemas.microsoft.com/office/drawing/2014/main" id="{08CA58D6-00FD-4D81-A0F6-215C4D558912}"/>
              </a:ext>
            </a:extLst>
          </p:cNvPr>
          <p:cNvSpPr>
            <a:spLocks noGrp="1"/>
          </p:cNvSpPr>
          <p:nvPr>
            <p:ph type="body" idx="19"/>
          </p:nvPr>
        </p:nvSpPr>
        <p:spPr>
          <a:xfrm>
            <a:off x="6183644" y="5099206"/>
            <a:ext cx="2123743" cy="343061"/>
          </a:xfrm>
        </p:spPr>
        <p:txBody>
          <a:bodyPr/>
          <a:lstStyle/>
          <a:p>
            <a:r>
              <a:rPr lang="en-US" dirty="0">
                <a:latin typeface="Arial" panose="020B0604020202020204" pitchFamily="34" charset="0"/>
                <a:cs typeface="Arial" panose="020B0604020202020204" pitchFamily="34" charset="0"/>
              </a:rPr>
              <a:t>FLORA BERGGREN​</a:t>
            </a:r>
          </a:p>
        </p:txBody>
      </p:sp>
      <p:sp>
        <p:nvSpPr>
          <p:cNvPr id="35" name="Text Placeholder 34">
            <a:extLst>
              <a:ext uri="{FF2B5EF4-FFF2-40B4-BE49-F238E27FC236}">
                <a16:creationId xmlns:a16="http://schemas.microsoft.com/office/drawing/2014/main" id="{60D37431-6A3A-47F6-A367-B5ADCF66AE37}"/>
              </a:ext>
            </a:extLst>
          </p:cNvPr>
          <p:cNvSpPr>
            <a:spLocks noGrp="1"/>
          </p:cNvSpPr>
          <p:nvPr>
            <p:ph type="body" idx="20"/>
          </p:nvPr>
        </p:nvSpPr>
        <p:spPr>
          <a:xfrm>
            <a:off x="8603525" y="5084524"/>
            <a:ext cx="2123742" cy="343061"/>
          </a:xfrm>
        </p:spPr>
        <p:txBody>
          <a:bodyPr/>
          <a:lstStyle/>
          <a:p>
            <a:r>
              <a:rPr lang="en-US" dirty="0">
                <a:latin typeface="Arial" panose="020B0604020202020204" pitchFamily="34" charset="0"/>
                <a:cs typeface="Arial" panose="020B0604020202020204" pitchFamily="34" charset="0"/>
              </a:rPr>
              <a:t>RAJESH SANTOSHI​</a:t>
            </a:r>
          </a:p>
        </p:txBody>
      </p:sp>
      <p:sp>
        <p:nvSpPr>
          <p:cNvPr id="36" name="Text Placeholder 35">
            <a:extLst>
              <a:ext uri="{FF2B5EF4-FFF2-40B4-BE49-F238E27FC236}">
                <a16:creationId xmlns:a16="http://schemas.microsoft.com/office/drawing/2014/main" id="{B76FA389-A54D-4E4B-81DA-DBA175D78FEC}"/>
              </a:ext>
            </a:extLst>
          </p:cNvPr>
          <p:cNvSpPr>
            <a:spLocks noGrp="1"/>
          </p:cNvSpPr>
          <p:nvPr>
            <p:ph type="body" idx="21"/>
          </p:nvPr>
        </p:nvSpPr>
        <p:spPr>
          <a:xfrm>
            <a:off x="1487181" y="5464114"/>
            <a:ext cx="1845511" cy="343061"/>
          </a:xfrm>
        </p:spPr>
        <p:txBody>
          <a:bodyPr/>
          <a:lstStyle/>
          <a:p>
            <a:r>
              <a:rPr lang="en-US" dirty="0">
                <a:latin typeface="Arial" panose="020B0604020202020204" pitchFamily="34" charset="0"/>
                <a:cs typeface="Arial" panose="020B0604020202020204" pitchFamily="34" charset="0"/>
              </a:rPr>
              <a:t>President</a:t>
            </a:r>
          </a:p>
        </p:txBody>
      </p:sp>
      <p:sp>
        <p:nvSpPr>
          <p:cNvPr id="37" name="Text Placeholder 36">
            <a:extLst>
              <a:ext uri="{FF2B5EF4-FFF2-40B4-BE49-F238E27FC236}">
                <a16:creationId xmlns:a16="http://schemas.microsoft.com/office/drawing/2014/main" id="{65786675-BFC6-4743-BFD3-D64691F771D8}"/>
              </a:ext>
            </a:extLst>
          </p:cNvPr>
          <p:cNvSpPr>
            <a:spLocks noGrp="1"/>
          </p:cNvSpPr>
          <p:nvPr>
            <p:ph type="body" idx="22"/>
          </p:nvPr>
        </p:nvSpPr>
        <p:spPr>
          <a:xfrm>
            <a:off x="3836913" y="5478796"/>
            <a:ext cx="1855949" cy="343061"/>
          </a:xfrm>
        </p:spPr>
        <p:txBody>
          <a:bodyPr/>
          <a:lstStyle/>
          <a:p>
            <a:r>
              <a:rPr lang="en-US" dirty="0">
                <a:latin typeface="Arial" panose="020B0604020202020204" pitchFamily="34" charset="0"/>
                <a:cs typeface="Arial" panose="020B0604020202020204" pitchFamily="34" charset="0"/>
              </a:rPr>
              <a:t>Chief Executive Officer</a:t>
            </a:r>
          </a:p>
        </p:txBody>
      </p:sp>
      <p:sp>
        <p:nvSpPr>
          <p:cNvPr id="38" name="Text Placeholder 37">
            <a:extLst>
              <a:ext uri="{FF2B5EF4-FFF2-40B4-BE49-F238E27FC236}">
                <a16:creationId xmlns:a16="http://schemas.microsoft.com/office/drawing/2014/main" id="{97062F49-F468-4EA6-B6BF-94BFF89FDCB7}"/>
              </a:ext>
            </a:extLst>
          </p:cNvPr>
          <p:cNvSpPr>
            <a:spLocks noGrp="1"/>
          </p:cNvSpPr>
          <p:nvPr>
            <p:ph type="body" idx="23"/>
          </p:nvPr>
        </p:nvSpPr>
        <p:spPr>
          <a:xfrm>
            <a:off x="6327577" y="5478796"/>
            <a:ext cx="1845511" cy="343061"/>
          </a:xfrm>
        </p:spPr>
        <p:txBody>
          <a:bodyPr/>
          <a:lstStyle/>
          <a:p>
            <a:r>
              <a:rPr lang="en-US" dirty="0">
                <a:latin typeface="Arial" panose="020B0604020202020204" pitchFamily="34" charset="0"/>
                <a:cs typeface="Arial" panose="020B0604020202020204" pitchFamily="34" charset="0"/>
              </a:rPr>
              <a:t>Chief Operations Officer</a:t>
            </a:r>
          </a:p>
          <a:p>
            <a:endParaRPr lang="en-US" dirty="0">
              <a:latin typeface="Arial" panose="020B0604020202020204" pitchFamily="34" charset="0"/>
              <a:cs typeface="Arial" panose="020B0604020202020204" pitchFamily="34" charset="0"/>
            </a:endParaRPr>
          </a:p>
        </p:txBody>
      </p:sp>
      <p:sp>
        <p:nvSpPr>
          <p:cNvPr id="39" name="Text Placeholder 38">
            <a:extLst>
              <a:ext uri="{FF2B5EF4-FFF2-40B4-BE49-F238E27FC236}">
                <a16:creationId xmlns:a16="http://schemas.microsoft.com/office/drawing/2014/main" id="{59D9F00A-8CF0-41E8-9BB6-3B8ECDA55D49}"/>
              </a:ext>
            </a:extLst>
          </p:cNvPr>
          <p:cNvSpPr>
            <a:spLocks noGrp="1"/>
          </p:cNvSpPr>
          <p:nvPr>
            <p:ph type="body" idx="24"/>
          </p:nvPr>
        </p:nvSpPr>
        <p:spPr>
          <a:xfrm>
            <a:off x="8747458" y="5464114"/>
            <a:ext cx="1845510" cy="343061"/>
          </a:xfrm>
        </p:spPr>
        <p:txBody>
          <a:bodyPr/>
          <a:lstStyle/>
          <a:p>
            <a:r>
              <a:rPr lang="en-US" dirty="0">
                <a:latin typeface="Arial" panose="020B0604020202020204" pitchFamily="34" charset="0"/>
                <a:cs typeface="Arial" panose="020B0604020202020204" pitchFamily="34" charset="0"/>
              </a:rPr>
              <a:t>VP Marketing</a:t>
            </a:r>
          </a:p>
          <a:p>
            <a:endParaRPr lang="en-US" dirty="0">
              <a:latin typeface="Arial" panose="020B0604020202020204" pitchFamily="34" charset="0"/>
              <a:cs typeface="Arial" panose="020B0604020202020204" pitchFamily="34" charset="0"/>
            </a:endParaRPr>
          </a:p>
        </p:txBody>
      </p:sp>
      <p:sp>
        <p:nvSpPr>
          <p:cNvPr id="3" name="Date Placeholder 2">
            <a:extLst>
              <a:ext uri="{FF2B5EF4-FFF2-40B4-BE49-F238E27FC236}">
                <a16:creationId xmlns:a16="http://schemas.microsoft.com/office/drawing/2014/main" id="{02F9CC1F-102C-49CC-B646-8E6826368A81}"/>
              </a:ext>
            </a:extLst>
          </p:cNvPr>
          <p:cNvSpPr>
            <a:spLocks noGrp="1"/>
          </p:cNvSpPr>
          <p:nvPr>
            <p:ph type="dt" sz="half" idx="10"/>
          </p:nvPr>
        </p:nvSpPr>
        <p:spPr>
          <a:xfrm>
            <a:off x="838200" y="6356350"/>
            <a:ext cx="2743200" cy="365125"/>
          </a:xfrm>
        </p:spPr>
        <p:txBody>
          <a:bodyPr/>
          <a:lstStyle/>
          <a:p>
            <a:r>
              <a:rPr lang="en-US" dirty="0">
                <a:latin typeface="Arial" panose="020B0604020202020204" pitchFamily="34" charset="0"/>
                <a:cs typeface="Arial" panose="020B0604020202020204" pitchFamily="34" charset="0"/>
              </a:rPr>
              <a:t>20XX</a:t>
            </a:r>
          </a:p>
        </p:txBody>
      </p:sp>
      <p:sp>
        <p:nvSpPr>
          <p:cNvPr id="4" name="Footer Placeholder 3">
            <a:extLst>
              <a:ext uri="{FF2B5EF4-FFF2-40B4-BE49-F238E27FC236}">
                <a16:creationId xmlns:a16="http://schemas.microsoft.com/office/drawing/2014/main" id="{33808A03-6EC3-48BE-9D18-5A746D09243E}"/>
              </a:ext>
            </a:extLst>
          </p:cNvPr>
          <p:cNvSpPr>
            <a:spLocks noGrp="1"/>
          </p:cNvSpPr>
          <p:nvPr>
            <p:ph type="ftr" sz="quarter" idx="11"/>
          </p:nvPr>
        </p:nvSpPr>
        <p:spPr>
          <a:xfrm>
            <a:off x="4038600" y="6356350"/>
            <a:ext cx="4114800" cy="365125"/>
          </a:xfrm>
        </p:spPr>
        <p:txBody>
          <a:bodyPr/>
          <a:lstStyle/>
          <a:p>
            <a:r>
              <a:rPr lang="en-US" dirty="0">
                <a:latin typeface="Arial" panose="020B0604020202020204" pitchFamily="34" charset="0"/>
                <a:cs typeface="Arial" panose="020B0604020202020204" pitchFamily="34" charset="0"/>
              </a:rPr>
              <a:t>Pitch Deck</a:t>
            </a:r>
          </a:p>
        </p:txBody>
      </p:sp>
      <p:sp>
        <p:nvSpPr>
          <p:cNvPr id="5" name="Slide Number Placeholder 4">
            <a:extLst>
              <a:ext uri="{FF2B5EF4-FFF2-40B4-BE49-F238E27FC236}">
                <a16:creationId xmlns:a16="http://schemas.microsoft.com/office/drawing/2014/main" id="{46868410-BE8A-4C98-9C72-20D0A2A6A8B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latin typeface="Arial" panose="020B0604020202020204" pitchFamily="34" charset="0"/>
                <a:cs typeface="Arial" panose="020B0604020202020204" pitchFamily="34" charset="0"/>
              </a:rPr>
              <a:pPr/>
              <a:t>14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774530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AEE93-8585-46D4-A7EC-F184E317CB2E}"/>
              </a:ext>
            </a:extLst>
          </p:cNvPr>
          <p:cNvSpPr>
            <a:spLocks noGrp="1"/>
          </p:cNvSpPr>
          <p:nvPr>
            <p:ph type="ctrTitle"/>
          </p:nvPr>
        </p:nvSpPr>
        <p:spPr>
          <a:xfrm>
            <a:off x="4267200" y="1615736"/>
            <a:ext cx="4179570" cy="1524735"/>
          </a:xfrm>
        </p:spPr>
        <p:txBody>
          <a:bodyPr/>
          <a:lstStyle/>
          <a:p>
            <a:r>
              <a:rPr lang="en-US" dirty="0"/>
              <a:t>THANK YOU</a:t>
            </a:r>
          </a:p>
        </p:txBody>
      </p:sp>
      <p:sp>
        <p:nvSpPr>
          <p:cNvPr id="3" name="Content Placeholder 2">
            <a:extLst>
              <a:ext uri="{FF2B5EF4-FFF2-40B4-BE49-F238E27FC236}">
                <a16:creationId xmlns:a16="http://schemas.microsoft.com/office/drawing/2014/main" id="{24AFFC60-19C3-4901-93F7-7AAF4C09F8C6}"/>
              </a:ext>
            </a:extLst>
          </p:cNvPr>
          <p:cNvSpPr>
            <a:spLocks noGrp="1"/>
          </p:cNvSpPr>
          <p:nvPr>
            <p:ph type="subTitle" idx="1"/>
          </p:nvPr>
        </p:nvSpPr>
        <p:spPr>
          <a:xfrm>
            <a:off x="4267200" y="3238103"/>
            <a:ext cx="4179570" cy="2004161"/>
          </a:xfrm>
        </p:spPr>
        <p:txBody>
          <a:bodyPr>
            <a:normAutofit/>
          </a:bodyPr>
          <a:lstStyle/>
          <a:p>
            <a:r>
              <a:rPr lang="en-US" dirty="0">
                <a:latin typeface="Arial" panose="020B0604020202020204" pitchFamily="34" charset="0"/>
                <a:cs typeface="Arial" panose="020B0604020202020204" pitchFamily="34" charset="0"/>
              </a:rPr>
              <a:t>Mirjam Nilsson​</a:t>
            </a:r>
          </a:p>
          <a:p>
            <a:r>
              <a:rPr lang="en-US" dirty="0">
                <a:latin typeface="Arial" panose="020B0604020202020204" pitchFamily="34" charset="0"/>
                <a:cs typeface="Arial" panose="020B0604020202020204" pitchFamily="34" charset="0"/>
              </a:rPr>
              <a:t>206-555-0146</a:t>
            </a:r>
          </a:p>
          <a:p>
            <a:r>
              <a:rPr lang="en-US" dirty="0">
                <a:latin typeface="Arial" panose="020B0604020202020204" pitchFamily="34" charset="0"/>
                <a:cs typeface="Arial" panose="020B0604020202020204" pitchFamily="34" charset="0"/>
              </a:rPr>
              <a:t>mirjam@contoso.com</a:t>
            </a:r>
          </a:p>
          <a:p>
            <a:r>
              <a:rPr lang="en-US" dirty="0">
                <a:latin typeface="Arial" panose="020B0604020202020204" pitchFamily="34" charset="0"/>
                <a:cs typeface="Arial" panose="020B0604020202020204" pitchFamily="34" charset="0"/>
              </a:rPr>
              <a:t>www.contoso.com</a:t>
            </a:r>
          </a:p>
        </p:txBody>
      </p:sp>
      <p:sp>
        <p:nvSpPr>
          <p:cNvPr id="4" name="Date Placeholder 3">
            <a:extLst>
              <a:ext uri="{FF2B5EF4-FFF2-40B4-BE49-F238E27FC236}">
                <a16:creationId xmlns:a16="http://schemas.microsoft.com/office/drawing/2014/main" id="{72DA7980-C870-4C9A-84FA-4120D8AF5DE8}"/>
              </a:ext>
            </a:extLst>
          </p:cNvPr>
          <p:cNvSpPr>
            <a:spLocks noGrp="1"/>
          </p:cNvSpPr>
          <p:nvPr>
            <p:ph type="dt" sz="half" idx="10"/>
          </p:nvPr>
        </p:nvSpPr>
        <p:spPr>
          <a:xfrm>
            <a:off x="4267200" y="6356350"/>
            <a:ext cx="1774371" cy="365125"/>
          </a:xfrm>
        </p:spPr>
        <p:txBody>
          <a:bodyPr/>
          <a:lstStyle/>
          <a:p>
            <a:r>
              <a:rPr lang="en-US" dirty="0"/>
              <a:t>20XX</a:t>
            </a:r>
          </a:p>
        </p:txBody>
      </p:sp>
      <p:sp>
        <p:nvSpPr>
          <p:cNvPr id="5" name="Footer Placeholder 4">
            <a:extLst>
              <a:ext uri="{FF2B5EF4-FFF2-40B4-BE49-F238E27FC236}">
                <a16:creationId xmlns:a16="http://schemas.microsoft.com/office/drawing/2014/main" id="{0DFADE42-1A3F-40C8-A071-E57644F3D843}"/>
              </a:ext>
            </a:extLst>
          </p:cNvPr>
          <p:cNvSpPr>
            <a:spLocks noGrp="1"/>
          </p:cNvSpPr>
          <p:nvPr>
            <p:ph type="ftr" sz="quarter" idx="11"/>
          </p:nvPr>
        </p:nvSpPr>
        <p:spPr>
          <a:xfrm>
            <a:off x="6479721" y="6356350"/>
            <a:ext cx="2661557"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15</a:t>
            </a:fld>
            <a:endParaRPr lang="en-US" dirty="0"/>
          </a:p>
        </p:txBody>
      </p:sp>
    </p:spTree>
    <p:extLst>
      <p:ext uri="{BB962C8B-B14F-4D97-AF65-F5344CB8AC3E}">
        <p14:creationId xmlns:p14="http://schemas.microsoft.com/office/powerpoint/2010/main" val="2436493926"/>
      </p:ext>
    </p:extLst>
  </p:cSld>
  <p:clrMapOvr>
    <a:masterClrMapping/>
  </p:clrMapOvr>
</p:sld>
</file>

<file path=ppt/theme/theme1.xml><?xml version="1.0" encoding="utf-8"?>
<a:theme xmlns:a="http://schemas.openxmlformats.org/drawingml/2006/main" name="Monoli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180624 Minimalist light sales pitch_Win32_v3" id="{10980D2D-A96C-4E9B-A00E-81C4CAF0ABBD}" vid="{7928933E-F394-4192-9CD9-6D2A259AB5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EFFFA3F-0FB5-4ED3-8906-A15B16577F44}">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6966C46A-DC57-4209-80CD-9FE6C93151FF}">
  <ds:schemaRefs>
    <ds:schemaRef ds:uri="http://schemas.microsoft.com/sharepoint/v3/contenttype/forms"/>
  </ds:schemaRefs>
</ds:datastoreItem>
</file>

<file path=customXml/itemProps3.xml><?xml version="1.0" encoding="utf-8"?>
<ds:datastoreItem xmlns:ds="http://schemas.openxmlformats.org/officeDocument/2006/customXml" ds:itemID="{4E18436D-DA32-4E27-AC64-8FFEDA5218F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{0101CBB1-026B-44E1-83F2-ED60199C4897}TF1ed81438-95a7-4ae9-841d-43ea2c64f7fc8ae7ff09_win32-aa52a5bb69e3</Template>
  <TotalTime>222</TotalTime>
  <Words>792</Words>
  <Application>Microsoft Office PowerPoint</Application>
  <PresentationFormat>Widescreen</PresentationFormat>
  <Paragraphs>74</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Calibri</vt:lpstr>
      <vt:lpstr>Arial</vt:lpstr>
      <vt:lpstr>Wingdings</vt:lpstr>
      <vt:lpstr>Tenorite</vt:lpstr>
      <vt:lpstr>Monoline</vt:lpstr>
      <vt:lpstr>FACULTÉ DES SCIENCES ET DES TECHNOLOGIES  (FST)</vt:lpstr>
      <vt:lpstr>SSH Secure Shell OpenSSH Open Secure Shell sshd SSH Daemon (service SSH) RSA Rivest-Shamir-Adleman (algorithme de chiffrement) ED25519 Edwards-curve Digital Signature Algorithm (25519 bits) VirtualBox Logiciel de virtualisation Oracle VM Virtual Machine (Machine Virtuelle) IP Internet Protocol TCP Transmission Control Protocol Fail2ban Outil de prévention des intrusions par bannissement IP UFW Uncomplicated Firewall Git Système de gestion de versions distribué GitHub Plateforme D’hébergement de dépôts Git CLI Command Line Interface (Interface en Ligne de Commande) OS Operating System (Système d&amp;#39;Exploitation)</vt:lpstr>
      <vt:lpstr>introduction</vt:lpstr>
      <vt:lpstr>Objectifs du Projet </vt:lpstr>
      <vt:lpstr>  Problématique </vt:lpstr>
      <vt:lpstr>1. Authentification par clé cryptographique</vt:lpstr>
      <vt:lpstr>PowerPoint Presentation</vt:lpstr>
      <vt:lpstr>Modification de ces lignes dans le fichier sshd:  PermitRootLogin no PasswordAuthentication no PubkeyAuthentication yes</vt:lpstr>
      <vt:lpstr>3. Changement du port ssh</vt:lpstr>
      <vt:lpstr>TEST DEPUIS UN AUTRE TERMINAL</vt:lpstr>
      <vt:lpstr>Update du serveur Installation de fail2ban creation du fichier de configuration local Modification de la section [sshd] : Activation et demarrage de fail2ban status de fail2ban</vt:lpstr>
      <vt:lpstr>PowerPoint Presentation</vt:lpstr>
      <vt:lpstr>PowerPoint Presentation</vt:lpstr>
      <vt:lpstr>MEET THE TEAM</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lens petiote</dc:creator>
  <cp:lastModifiedBy>Lire BEAUTIFUL</cp:lastModifiedBy>
  <cp:revision>4</cp:revision>
  <dcterms:created xsi:type="dcterms:W3CDTF">2026-05-17T17:47:05Z</dcterms:created>
  <dcterms:modified xsi:type="dcterms:W3CDTF">2026-05-18T19:34:38Z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