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66" r:id="rId4"/>
  </p:sldMasterIdLst>
  <p:notesMasterIdLst>
    <p:notesMasterId r:id="rId24"/>
  </p:notesMasterIdLst>
  <p:handoutMasterIdLst>
    <p:handoutMasterId r:id="rId25"/>
  </p:handoutMasterIdLst>
  <p:sldIdLst>
    <p:sldId id="256" r:id="rId5"/>
    <p:sldId id="295" r:id="rId6"/>
    <p:sldId id="277" r:id="rId7"/>
    <p:sldId id="262" r:id="rId8"/>
    <p:sldId id="289" r:id="rId9"/>
    <p:sldId id="296" r:id="rId10"/>
    <p:sldId id="297" r:id="rId11"/>
    <p:sldId id="264" r:id="rId12"/>
    <p:sldId id="261" r:id="rId13"/>
    <p:sldId id="258" r:id="rId14"/>
    <p:sldId id="278" r:id="rId15"/>
    <p:sldId id="266" r:id="rId16"/>
    <p:sldId id="292" r:id="rId17"/>
    <p:sldId id="298" r:id="rId18"/>
    <p:sldId id="268" r:id="rId19"/>
    <p:sldId id="299" r:id="rId20"/>
    <p:sldId id="282" r:id="rId21"/>
    <p:sldId id="300" r:id="rId22"/>
    <p:sldId id="276" r:id="rId23"/>
  </p:sldIdLst>
  <p:sldSz cx="12192000" cy="6858000"/>
  <p:notesSz cx="6858000" cy="9144000"/>
  <p:embeddedFontLst>
    <p:embeddedFont>
      <p:font typeface="Tenorite" panose="00000500000000000000" pitchFamily="2"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p:scale>
          <a:sx n="77" d="100"/>
          <a:sy n="77" d="100"/>
        </p:scale>
        <p:origin x="912" y="43"/>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5/18/2026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5/18/2026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701"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16.xml"/><Relationship Id="rId5" Type="http://schemas.openxmlformats.org/officeDocument/2006/relationships/image" Target="../media/image41.jpg"/><Relationship Id="rId4" Type="http://schemas.openxmlformats.org/officeDocument/2006/relationships/image" Target="../media/image4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title"/>
          </p:nvPr>
        </p:nvSpPr>
        <p:spPr>
          <a:xfrm>
            <a:off x="507577" y="1950243"/>
            <a:ext cx="10515600" cy="1325563"/>
          </a:xfrm>
        </p:spPr>
        <p:txBody>
          <a:bodyPr/>
          <a:lstStyle/>
          <a:p>
            <a:pPr algn="ctr"/>
            <a:r>
              <a:rPr lang="fr-FR" b="1" dirty="0">
                <a:solidFill>
                  <a:srgbClr val="0070C0"/>
                </a:solidFill>
                <a:latin typeface="Arial" panose="020B0604020202020204" pitchFamily="34" charset="0"/>
                <a:cs typeface="Arial" panose="020B0604020202020204" pitchFamily="34" charset="0"/>
              </a:rPr>
              <a:t>FACULTÉ DES SCIENCES ET DES TECHNOLOGIES </a:t>
            </a:r>
            <a:br>
              <a:rPr lang="fr-FR" b="1" dirty="0">
                <a:solidFill>
                  <a:srgbClr val="0070C0"/>
                </a:solidFill>
                <a:latin typeface="Arial" panose="020B0604020202020204" pitchFamily="34" charset="0"/>
                <a:cs typeface="Arial" panose="020B0604020202020204" pitchFamily="34" charset="0"/>
              </a:rPr>
            </a:br>
            <a:r>
              <a:rPr lang="fr-FR" b="1" dirty="0">
                <a:solidFill>
                  <a:srgbClr val="0070C0"/>
                </a:solidFill>
                <a:latin typeface="Arial" panose="020B0604020202020204" pitchFamily="34" charset="0"/>
                <a:cs typeface="Arial" panose="020B0604020202020204" pitchFamily="34" charset="0"/>
              </a:rPr>
              <a:t>(FST)</a:t>
            </a:r>
            <a:endParaRPr lang="en-US" b="1" dirty="0">
              <a:solidFill>
                <a:srgbClr val="0070C0"/>
              </a:solidFill>
              <a:latin typeface="Arial" panose="020B0604020202020204" pitchFamily="34" charset="0"/>
              <a:cs typeface="Arial" panose="020B0604020202020204" pitchFamily="34" charset="0"/>
            </a:endParaRPr>
          </a:p>
        </p:txBody>
      </p:sp>
      <p:sp>
        <p:nvSpPr>
          <p:cNvPr id="12" name="Chart Placeholder 11">
            <a:extLst>
              <a:ext uri="{FF2B5EF4-FFF2-40B4-BE49-F238E27FC236}">
                <a16:creationId xmlns:a16="http://schemas.microsoft.com/office/drawing/2014/main" id="{0FFB001D-0AF5-6548-FE89-8533FC46C9CD}"/>
              </a:ext>
            </a:extLst>
          </p:cNvPr>
          <p:cNvSpPr>
            <a:spLocks noGrp="1"/>
          </p:cNvSpPr>
          <p:nvPr>
            <p:ph type="chart" sz="quarter" idx="13"/>
          </p:nvPr>
        </p:nvSpPr>
        <p:spPr>
          <a:xfrm>
            <a:off x="4495110" y="3974602"/>
            <a:ext cx="6312310" cy="999162"/>
          </a:xfrm>
        </p:spPr>
        <p:txBody>
          <a:bodyPr>
            <a:normAutofit fontScale="47500" lnSpcReduction="20000"/>
          </a:bodyPr>
          <a:lstStyle/>
          <a:p>
            <a:pPr marL="0" indent="0" algn="ctr">
              <a:buNone/>
            </a:pPr>
            <a:r>
              <a:rPr lang="fr-FR" sz="5800" b="1" dirty="0">
                <a:solidFill>
                  <a:schemeClr val="tx1"/>
                </a:solidFill>
                <a:latin typeface="Arial" panose="020B0604020202020204" pitchFamily="34" charset="0"/>
                <a:cs typeface="Arial" panose="020B0604020202020204" pitchFamily="34" charset="0"/>
              </a:rPr>
              <a:t>Durcissement d’un serveur </a:t>
            </a:r>
            <a:r>
              <a:rPr lang="fr-FR" sz="5800" b="1" dirty="0" err="1">
                <a:solidFill>
                  <a:schemeClr val="tx1"/>
                </a:solidFill>
                <a:latin typeface="Arial" panose="020B0604020202020204" pitchFamily="34" charset="0"/>
                <a:cs typeface="Arial" panose="020B0604020202020204" pitchFamily="34" charset="0"/>
              </a:rPr>
              <a:t>OpenSSH</a:t>
            </a:r>
            <a:endParaRPr lang="en-US" sz="5800" b="1" dirty="0">
              <a:solidFill>
                <a:schemeClr val="tx1"/>
              </a:solidFill>
              <a:latin typeface="Arial" panose="020B0604020202020204" pitchFamily="34" charset="0"/>
              <a:cs typeface="Arial" panose="020B0604020202020204" pitchFamily="34" charset="0"/>
            </a:endParaRPr>
          </a:p>
          <a:p>
            <a:pPr marL="0" indent="0" algn="ctr">
              <a:buNone/>
            </a:pPr>
            <a:r>
              <a:rPr lang="en-US" b="1" dirty="0">
                <a:solidFill>
                  <a:schemeClr val="tx1"/>
                </a:solidFill>
                <a:latin typeface="Arial" panose="020B0604020202020204" pitchFamily="34" charset="0"/>
                <a:cs typeface="Arial" panose="020B0604020202020204" pitchFamily="34" charset="0"/>
              </a:rPr>
              <a:t>			</a:t>
            </a:r>
          </a:p>
        </p:txBody>
      </p:sp>
      <p:sp>
        <p:nvSpPr>
          <p:cNvPr id="13" name="Text Placeholder 12">
            <a:extLst>
              <a:ext uri="{FF2B5EF4-FFF2-40B4-BE49-F238E27FC236}">
                <a16:creationId xmlns:a16="http://schemas.microsoft.com/office/drawing/2014/main" id="{AD07F4D5-6A67-D4BA-BABF-3A0266120432}"/>
              </a:ext>
            </a:extLst>
          </p:cNvPr>
          <p:cNvSpPr>
            <a:spLocks noGrp="1"/>
          </p:cNvSpPr>
          <p:nvPr>
            <p:ph type="body" sz="quarter" idx="14"/>
          </p:nvPr>
        </p:nvSpPr>
        <p:spPr>
          <a:xfrm>
            <a:off x="951216" y="3275806"/>
            <a:ext cx="3147332" cy="306388"/>
          </a:xfrm>
        </p:spPr>
        <p:txBody>
          <a:bodyPr/>
          <a:lstStyle/>
          <a:p>
            <a:r>
              <a:rPr lang="en-US" sz="1600" b="1" dirty="0" err="1">
                <a:solidFill>
                  <a:schemeClr val="tx1"/>
                </a:solidFill>
                <a:latin typeface="Arial" panose="020B0604020202020204" pitchFamily="34" charset="0"/>
                <a:cs typeface="Arial" panose="020B0604020202020204" pitchFamily="34" charset="0"/>
              </a:rPr>
              <a:t>PrÉparÉ</a:t>
            </a:r>
            <a:r>
              <a:rPr lang="en-US" sz="1600" b="1" dirty="0">
                <a:solidFill>
                  <a:schemeClr val="tx1"/>
                </a:solidFill>
                <a:latin typeface="Arial" panose="020B0604020202020204" pitchFamily="34" charset="0"/>
                <a:cs typeface="Arial" panose="020B0604020202020204" pitchFamily="34" charset="0"/>
              </a:rPr>
              <a:t> par:</a:t>
            </a:r>
          </a:p>
        </p:txBody>
      </p:sp>
      <p:sp>
        <p:nvSpPr>
          <p:cNvPr id="3" name="Subtitle 2">
            <a:extLst>
              <a:ext uri="{FF2B5EF4-FFF2-40B4-BE49-F238E27FC236}">
                <a16:creationId xmlns:a16="http://schemas.microsoft.com/office/drawing/2014/main" id="{1901B20D-4C28-4DA3-ABBD-718C22A5E58B}"/>
              </a:ext>
            </a:extLst>
          </p:cNvPr>
          <p:cNvSpPr>
            <a:spLocks noGrp="1"/>
          </p:cNvSpPr>
          <p:nvPr>
            <p:ph sz="quarter" idx="15"/>
          </p:nvPr>
        </p:nvSpPr>
        <p:spPr>
          <a:xfrm>
            <a:off x="1070937" y="3611240"/>
            <a:ext cx="2907890" cy="1284676"/>
          </a:xfrm>
        </p:spPr>
        <p:txBody>
          <a:bodyPr>
            <a:normAutofit lnSpcReduction="10000"/>
          </a:bodyPr>
          <a:lstStyle/>
          <a:p>
            <a:r>
              <a:rPr lang="en-US" sz="1800" dirty="0">
                <a:solidFill>
                  <a:schemeClr val="tx1"/>
                </a:solidFill>
                <a:latin typeface="Arial" panose="020B0604020202020204" pitchFamily="34" charset="0"/>
                <a:cs typeface="Arial" panose="020B0604020202020204" pitchFamily="34" charset="0"/>
              </a:rPr>
              <a:t>Christy </a:t>
            </a:r>
            <a:r>
              <a:rPr lang="en-US" sz="1800" dirty="0" err="1">
                <a:solidFill>
                  <a:schemeClr val="tx1"/>
                </a:solidFill>
                <a:latin typeface="Arial" panose="020B0604020202020204" pitchFamily="34" charset="0"/>
                <a:cs typeface="Arial" panose="020B0604020202020204" pitchFamily="34" charset="0"/>
              </a:rPr>
              <a:t>Gérys</a:t>
            </a:r>
            <a:r>
              <a:rPr lang="en-US" sz="1800" dirty="0">
                <a:solidFill>
                  <a:schemeClr val="tx1"/>
                </a:solidFill>
                <a:latin typeface="Arial" panose="020B0604020202020204" pitchFamily="34" charset="0"/>
                <a:cs typeface="Arial" panose="020B0604020202020204" pitchFamily="34" charset="0"/>
              </a:rPr>
              <a:t> LAMBERT</a:t>
            </a:r>
          </a:p>
          <a:p>
            <a:r>
              <a:rPr lang="en-US" sz="1800" dirty="0">
                <a:solidFill>
                  <a:schemeClr val="tx1"/>
                </a:solidFill>
                <a:latin typeface="Arial" panose="020B0604020202020204" pitchFamily="34" charset="0"/>
                <a:cs typeface="Arial" panose="020B0604020202020204" pitchFamily="34" charset="0"/>
              </a:rPr>
              <a:t>Lens Sandro PÉTIOTE</a:t>
            </a:r>
          </a:p>
          <a:p>
            <a:r>
              <a:rPr lang="en-US" sz="1800" dirty="0" err="1">
                <a:solidFill>
                  <a:schemeClr val="tx1"/>
                </a:solidFill>
                <a:latin typeface="Arial" panose="020B0604020202020204" pitchFamily="34" charset="0"/>
                <a:cs typeface="Arial" panose="020B0604020202020204" pitchFamily="34" charset="0"/>
              </a:rPr>
              <a:t>Donsam</a:t>
            </a:r>
            <a:r>
              <a:rPr lang="en-US" sz="1800" dirty="0">
                <a:solidFill>
                  <a:schemeClr val="tx1"/>
                </a:solidFill>
                <a:latin typeface="Arial" panose="020B0604020202020204" pitchFamily="34" charset="0"/>
                <a:cs typeface="Arial" panose="020B0604020202020204" pitchFamily="34" charset="0"/>
              </a:rPr>
              <a:t> Jean Gabard NOEL</a:t>
            </a:r>
          </a:p>
        </p:txBody>
      </p:sp>
      <p:sp>
        <p:nvSpPr>
          <p:cNvPr id="15" name="Text Placeholder 13">
            <a:extLst>
              <a:ext uri="{FF2B5EF4-FFF2-40B4-BE49-F238E27FC236}">
                <a16:creationId xmlns:a16="http://schemas.microsoft.com/office/drawing/2014/main" id="{D1FBDF1B-DC85-6226-60A8-07070544AF1F}"/>
              </a:ext>
            </a:extLst>
          </p:cNvPr>
          <p:cNvSpPr>
            <a:spLocks noGrp="1"/>
          </p:cNvSpPr>
          <p:nvPr>
            <p:ph type="body" sz="quarter" idx="16"/>
          </p:nvPr>
        </p:nvSpPr>
        <p:spPr>
          <a:xfrm>
            <a:off x="9156594" y="5700943"/>
            <a:ext cx="2359742" cy="747251"/>
          </a:xfrm>
        </p:spPr>
        <p:txBody>
          <a:bodyPr/>
          <a:lstStyle/>
          <a:p>
            <a:pPr algn="r"/>
            <a:r>
              <a:rPr lang="en-US" dirty="0">
                <a:latin typeface="Arial" panose="020B0604020202020204" pitchFamily="34" charset="0"/>
                <a:cs typeface="Arial" panose="020B0604020202020204" pitchFamily="34" charset="0"/>
              </a:rPr>
              <a:t>Jacmel, 18 </a:t>
            </a:r>
            <a:r>
              <a:rPr lang="en-US" dirty="0" err="1">
                <a:latin typeface="Arial" panose="020B0604020202020204" pitchFamily="34" charset="0"/>
                <a:cs typeface="Arial" panose="020B0604020202020204" pitchFamily="34" charset="0"/>
              </a:rPr>
              <a:t>mai</a:t>
            </a:r>
            <a:r>
              <a:rPr lang="en-US" dirty="0">
                <a:latin typeface="Arial" panose="020B0604020202020204" pitchFamily="34" charset="0"/>
                <a:cs typeface="Arial" panose="020B0604020202020204" pitchFamily="34" charset="0"/>
              </a:rPr>
              <a:t> 2026</a:t>
            </a:r>
          </a:p>
        </p:txBody>
      </p:sp>
      <p:pic>
        <p:nvPicPr>
          <p:cNvPr id="5" name="Image 4">
            <a:extLst>
              <a:ext uri="{FF2B5EF4-FFF2-40B4-BE49-F238E27FC236}">
                <a16:creationId xmlns:a16="http://schemas.microsoft.com/office/drawing/2014/main" id="{E8FBC112-7DAC-751D-344A-F46E7626BB02}"/>
              </a:ext>
            </a:extLst>
          </p:cNvPr>
          <p:cNvPicPr>
            <a:picLocks noChangeAspect="1"/>
          </p:cNvPicPr>
          <p:nvPr/>
        </p:nvPicPr>
        <p:blipFill>
          <a:blip r:embed="rId2"/>
          <a:stretch>
            <a:fillRect/>
          </a:stretch>
        </p:blipFill>
        <p:spPr>
          <a:xfrm>
            <a:off x="3154166" y="75001"/>
            <a:ext cx="5775200" cy="2041084"/>
          </a:xfrm>
          <a:prstGeom prst="rect">
            <a:avLst/>
          </a:prstGeom>
        </p:spPr>
      </p:pic>
      <p:cxnSp>
        <p:nvCxnSpPr>
          <p:cNvPr id="7" name="Connecteur droit 6">
            <a:extLst>
              <a:ext uri="{FF2B5EF4-FFF2-40B4-BE49-F238E27FC236}">
                <a16:creationId xmlns:a16="http://schemas.microsoft.com/office/drawing/2014/main" id="{6D456DAD-11A0-498C-1E50-56F7C6C86B9B}"/>
              </a:ext>
            </a:extLst>
          </p:cNvPr>
          <p:cNvCxnSpPr>
            <a:cxnSpLocks/>
          </p:cNvCxnSpPr>
          <p:nvPr/>
        </p:nvCxnSpPr>
        <p:spPr>
          <a:xfrm>
            <a:off x="4098548" y="3429000"/>
            <a:ext cx="0" cy="24582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 Placeholder 12">
            <a:extLst>
              <a:ext uri="{FF2B5EF4-FFF2-40B4-BE49-F238E27FC236}">
                <a16:creationId xmlns:a16="http://schemas.microsoft.com/office/drawing/2014/main" id="{B7C647CF-A0CF-5713-63E0-CC0FAACE2904}"/>
              </a:ext>
            </a:extLst>
          </p:cNvPr>
          <p:cNvSpPr txBox="1">
            <a:spLocks/>
          </p:cNvSpPr>
          <p:nvPr/>
        </p:nvSpPr>
        <p:spPr>
          <a:xfrm>
            <a:off x="951216" y="4973764"/>
            <a:ext cx="3147332" cy="30638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cap="all" spc="150" baseline="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Arial" panose="020B0604020202020204" pitchFamily="34" charset="0"/>
                <a:cs typeface="Arial" panose="020B0604020202020204" pitchFamily="34" charset="0"/>
              </a:rPr>
              <a:t>Sous la direction de :</a:t>
            </a:r>
          </a:p>
        </p:txBody>
      </p:sp>
      <p:sp>
        <p:nvSpPr>
          <p:cNvPr id="10" name="Subtitle 2">
            <a:extLst>
              <a:ext uri="{FF2B5EF4-FFF2-40B4-BE49-F238E27FC236}">
                <a16:creationId xmlns:a16="http://schemas.microsoft.com/office/drawing/2014/main" id="{A595B5F1-12A0-E028-0C7D-C4D5D738FE1E}"/>
              </a:ext>
            </a:extLst>
          </p:cNvPr>
          <p:cNvSpPr txBox="1">
            <a:spLocks/>
          </p:cNvSpPr>
          <p:nvPr/>
        </p:nvSpPr>
        <p:spPr>
          <a:xfrm>
            <a:off x="1070937" y="5280152"/>
            <a:ext cx="2907890" cy="306388"/>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lumMod val="65000"/>
                    <a:lumOff val="3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100" kern="1200">
                <a:solidFill>
                  <a:schemeClr val="tx1">
                    <a:lumMod val="65000"/>
                    <a:lumOff val="3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50" kern="1200">
                <a:solidFill>
                  <a:schemeClr val="tx1">
                    <a:lumMod val="65000"/>
                    <a:lumOff val="3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65000"/>
                    <a:lumOff val="3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err="1">
                <a:solidFill>
                  <a:schemeClr val="tx1"/>
                </a:solidFill>
                <a:latin typeface="Arial" panose="020B0604020202020204" pitchFamily="34" charset="0"/>
                <a:cs typeface="Arial" panose="020B0604020202020204" pitchFamily="34" charset="0"/>
              </a:rPr>
              <a:t>M.Ismael</a:t>
            </a:r>
            <a:r>
              <a:rPr lang="en-US" sz="1800" dirty="0">
                <a:solidFill>
                  <a:schemeClr val="tx1"/>
                </a:solidFill>
                <a:latin typeface="Arial" panose="020B0604020202020204" pitchFamily="34" charset="0"/>
                <a:cs typeface="Arial" panose="020B0604020202020204" pitchFamily="34" charset="0"/>
              </a:rPr>
              <a:t> SAINT-Amour</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6EE85-ADCB-97E1-3C6D-772EB5B4DE30}"/>
            </a:ext>
          </a:extLst>
        </p:cNvPr>
        <p:cNvGrpSpPr/>
        <p:nvPr/>
      </p:nvGrpSpPr>
      <p:grpSpPr>
        <a:xfrm>
          <a:off x="0" y="0"/>
          <a:ext cx="0" cy="0"/>
          <a:chOff x="0" y="0"/>
          <a:chExt cx="0" cy="0"/>
        </a:xfrm>
      </p:grpSpPr>
      <p:sp>
        <p:nvSpPr>
          <p:cNvPr id="33" name="ZoneTexte 32">
            <a:extLst>
              <a:ext uri="{FF2B5EF4-FFF2-40B4-BE49-F238E27FC236}">
                <a16:creationId xmlns:a16="http://schemas.microsoft.com/office/drawing/2014/main" id="{F57B91D7-ABE2-EBF2-7A3D-318436BED42F}"/>
              </a:ext>
            </a:extLst>
          </p:cNvPr>
          <p:cNvSpPr txBox="1"/>
          <p:nvPr/>
        </p:nvSpPr>
        <p:spPr>
          <a:xfrm>
            <a:off x="5904389" y="164721"/>
            <a:ext cx="4893750" cy="461665"/>
          </a:xfrm>
          <a:prstGeom prst="rect">
            <a:avLst/>
          </a:prstGeom>
          <a:noFill/>
        </p:spPr>
        <p:txBody>
          <a:bodyPr wrap="square">
            <a:spAutoFit/>
          </a:bodyPr>
          <a:lstStyle/>
          <a:p>
            <a:pPr marL="0" marR="0" algn="ctr">
              <a:spcBef>
                <a:spcPts val="1800"/>
              </a:spcBef>
              <a:spcAft>
                <a:spcPts val="1000"/>
              </a:spcAft>
              <a:buNone/>
            </a:pPr>
            <a:r>
              <a:rPr lang="fr-HT" sz="2400" b="1" kern="0" dirty="0">
                <a:solidFill>
                  <a:srgbClr val="0070C0"/>
                </a:solidFill>
                <a:effectLst/>
                <a:latin typeface="Arial" panose="020B0604020202020204" pitchFamily="34" charset="0"/>
                <a:cs typeface="Arial" panose="020B0604020202020204" pitchFamily="34" charset="0"/>
              </a:rPr>
              <a:t>LISTE DES ABRÉVIATIONS</a:t>
            </a:r>
            <a:endParaRPr lang="en-US" sz="2400" b="1" kern="0" dirty="0">
              <a:solidFill>
                <a:srgbClr val="0070C0"/>
              </a:solidFill>
              <a:effectLst/>
              <a:latin typeface="Arial" panose="020B0604020202020204" pitchFamily="34" charset="0"/>
              <a:cs typeface="Arial" panose="020B0604020202020204" pitchFamily="34" charset="0"/>
            </a:endParaRPr>
          </a:p>
        </p:txBody>
      </p:sp>
      <p:sp>
        <p:nvSpPr>
          <p:cNvPr id="11" name="Subtitle 2">
            <a:extLst>
              <a:ext uri="{FF2B5EF4-FFF2-40B4-BE49-F238E27FC236}">
                <a16:creationId xmlns:a16="http://schemas.microsoft.com/office/drawing/2014/main" id="{DC4310DE-C977-FE21-D874-9515F492425C}"/>
              </a:ext>
              <a:ext uri="{C183D7F6-B498-43B3-948B-1728B52AA6E4}">
                <adec:decorative xmlns:adec="http://schemas.microsoft.com/office/drawing/2017/decorative" val="0"/>
              </a:ext>
            </a:extLst>
          </p:cNvPr>
          <p:cNvSpPr txBox="1">
            <a:spLocks/>
          </p:cNvSpPr>
          <p:nvPr/>
        </p:nvSpPr>
        <p:spPr>
          <a:xfrm>
            <a:off x="5750277" y="760288"/>
            <a:ext cx="6524090" cy="5702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HT" sz="1600" b="1" dirty="0">
                <a:latin typeface="Arial" panose="020B0604020202020204" pitchFamily="34" charset="0"/>
                <a:cs typeface="Arial" panose="020B0604020202020204" pitchFamily="34" charset="0"/>
              </a:rPr>
              <a:t>SSH : </a:t>
            </a:r>
            <a:r>
              <a:rPr lang="fr-HT" sz="1600" dirty="0">
                <a:latin typeface="Arial" panose="020B0604020202020204" pitchFamily="34" charset="0"/>
                <a:cs typeface="Arial" panose="020B0604020202020204" pitchFamily="34" charset="0"/>
              </a:rPr>
              <a:t>Secure Shell</a:t>
            </a:r>
          </a:p>
          <a:p>
            <a:pPr algn="just"/>
            <a:r>
              <a:rPr lang="fr-HT" sz="1600" b="1" dirty="0" err="1">
                <a:latin typeface="Arial" panose="020B0604020202020204" pitchFamily="34" charset="0"/>
                <a:cs typeface="Arial" panose="020B0604020202020204" pitchFamily="34" charset="0"/>
              </a:rPr>
              <a:t>OpenSSH</a:t>
            </a:r>
            <a:r>
              <a:rPr lang="fr-HT" sz="1600" b="1" dirty="0">
                <a:latin typeface="Arial" panose="020B0604020202020204" pitchFamily="34" charset="0"/>
                <a:cs typeface="Arial" panose="020B0604020202020204" pitchFamily="34" charset="0"/>
              </a:rPr>
              <a:t> : </a:t>
            </a:r>
            <a:r>
              <a:rPr lang="fr-HT" sz="1600" dirty="0">
                <a:latin typeface="Arial" panose="020B0604020202020204" pitchFamily="34" charset="0"/>
                <a:cs typeface="Arial" panose="020B0604020202020204" pitchFamily="34" charset="0"/>
              </a:rPr>
              <a:t>Open Secure Shell</a:t>
            </a:r>
          </a:p>
          <a:p>
            <a:pPr algn="just"/>
            <a:r>
              <a:rPr lang="fr-HT" sz="1600" b="1" dirty="0" err="1">
                <a:latin typeface="Arial" panose="020B0604020202020204" pitchFamily="34" charset="0"/>
                <a:cs typeface="Arial" panose="020B0604020202020204" pitchFamily="34" charset="0"/>
              </a:rPr>
              <a:t>Sshd</a:t>
            </a:r>
            <a:r>
              <a:rPr lang="fr-HT" sz="1600" b="1" dirty="0">
                <a:latin typeface="Arial" panose="020B0604020202020204" pitchFamily="34" charset="0"/>
                <a:cs typeface="Arial" panose="020B0604020202020204" pitchFamily="34" charset="0"/>
              </a:rPr>
              <a:t> : </a:t>
            </a:r>
            <a:r>
              <a:rPr lang="fr-HT" sz="1600" dirty="0">
                <a:latin typeface="Arial" panose="020B0604020202020204" pitchFamily="34" charset="0"/>
                <a:cs typeface="Arial" panose="020B0604020202020204" pitchFamily="34" charset="0"/>
              </a:rPr>
              <a:t>SSH Daemon (service SSH)</a:t>
            </a:r>
          </a:p>
          <a:p>
            <a:pPr algn="just"/>
            <a:r>
              <a:rPr lang="fr-HT" sz="1600" b="1" dirty="0">
                <a:latin typeface="Arial" panose="020B0604020202020204" pitchFamily="34" charset="0"/>
                <a:cs typeface="Arial" panose="020B0604020202020204" pitchFamily="34" charset="0"/>
              </a:rPr>
              <a:t>RSA : </a:t>
            </a:r>
            <a:r>
              <a:rPr lang="fr-HT" sz="1600" dirty="0">
                <a:latin typeface="Arial" panose="020B0604020202020204" pitchFamily="34" charset="0"/>
                <a:cs typeface="Arial" panose="020B0604020202020204" pitchFamily="34" charset="0"/>
              </a:rPr>
              <a:t>Rivest-Shamir-Adleman (algorithme de chiffrement)</a:t>
            </a:r>
          </a:p>
          <a:p>
            <a:pPr algn="just"/>
            <a:r>
              <a:rPr lang="fr-HT" sz="1600" b="1" dirty="0">
                <a:latin typeface="Arial" panose="020B0604020202020204" pitchFamily="34" charset="0"/>
                <a:cs typeface="Arial" panose="020B0604020202020204" pitchFamily="34" charset="0"/>
              </a:rPr>
              <a:t>ED25519 : </a:t>
            </a:r>
            <a:r>
              <a:rPr lang="fr-HT" sz="1600" dirty="0">
                <a:latin typeface="Arial" panose="020B0604020202020204" pitchFamily="34" charset="0"/>
                <a:cs typeface="Arial" panose="020B0604020202020204" pitchFamily="34" charset="0"/>
              </a:rPr>
              <a:t>Edwards-</a:t>
            </a:r>
            <a:r>
              <a:rPr lang="fr-HT" sz="1600" dirty="0" err="1">
                <a:latin typeface="Arial" panose="020B0604020202020204" pitchFamily="34" charset="0"/>
                <a:cs typeface="Arial" panose="020B0604020202020204" pitchFamily="34" charset="0"/>
              </a:rPr>
              <a:t>curve</a:t>
            </a:r>
            <a:r>
              <a:rPr lang="fr-HT" sz="1600" dirty="0">
                <a:latin typeface="Arial" panose="020B0604020202020204" pitchFamily="34" charset="0"/>
                <a:cs typeface="Arial" panose="020B0604020202020204" pitchFamily="34" charset="0"/>
              </a:rPr>
              <a:t> Digital Signature </a:t>
            </a:r>
            <a:r>
              <a:rPr lang="fr-HT" sz="1600" dirty="0" err="1">
                <a:latin typeface="Arial" panose="020B0604020202020204" pitchFamily="34" charset="0"/>
                <a:cs typeface="Arial" panose="020B0604020202020204" pitchFamily="34" charset="0"/>
              </a:rPr>
              <a:t>Algorithm</a:t>
            </a:r>
            <a:r>
              <a:rPr lang="fr-HT" sz="1600" dirty="0">
                <a:latin typeface="Arial" panose="020B0604020202020204" pitchFamily="34" charset="0"/>
                <a:cs typeface="Arial" panose="020B0604020202020204" pitchFamily="34" charset="0"/>
              </a:rPr>
              <a:t> (25519 bits)</a:t>
            </a:r>
          </a:p>
          <a:p>
            <a:pPr algn="just"/>
            <a:r>
              <a:rPr lang="fr-HT" sz="1600" b="1" dirty="0">
                <a:latin typeface="Arial" panose="020B0604020202020204" pitchFamily="34" charset="0"/>
                <a:cs typeface="Arial" panose="020B0604020202020204" pitchFamily="34" charset="0"/>
              </a:rPr>
              <a:t>VirtualBox : </a:t>
            </a:r>
            <a:r>
              <a:rPr lang="fr-HT" sz="1600" dirty="0">
                <a:latin typeface="Arial" panose="020B0604020202020204" pitchFamily="34" charset="0"/>
                <a:cs typeface="Arial" panose="020B0604020202020204" pitchFamily="34" charset="0"/>
              </a:rPr>
              <a:t>Logiciel de virtualisation d'Oracle</a:t>
            </a:r>
          </a:p>
          <a:p>
            <a:pPr algn="just"/>
            <a:r>
              <a:rPr lang="fr-HT" sz="1600" b="1" dirty="0">
                <a:latin typeface="Arial" panose="020B0604020202020204" pitchFamily="34" charset="0"/>
                <a:cs typeface="Arial" panose="020B0604020202020204" pitchFamily="34" charset="0"/>
              </a:rPr>
              <a:t>VM : </a:t>
            </a:r>
            <a:r>
              <a:rPr lang="fr-HT" sz="1600" dirty="0">
                <a:latin typeface="Arial" panose="020B0604020202020204" pitchFamily="34" charset="0"/>
                <a:cs typeface="Arial" panose="020B0604020202020204" pitchFamily="34" charset="0"/>
              </a:rPr>
              <a:t>Virtual Machine (Machine Virtuelle)</a:t>
            </a:r>
          </a:p>
          <a:p>
            <a:pPr algn="just"/>
            <a:r>
              <a:rPr lang="fr-HT" sz="1600" b="1" dirty="0">
                <a:latin typeface="Arial" panose="020B0604020202020204" pitchFamily="34" charset="0"/>
                <a:cs typeface="Arial" panose="020B0604020202020204" pitchFamily="34" charset="0"/>
              </a:rPr>
              <a:t>IP : </a:t>
            </a:r>
            <a:r>
              <a:rPr lang="fr-HT" sz="1600" dirty="0">
                <a:latin typeface="Arial" panose="020B0604020202020204" pitchFamily="34" charset="0"/>
                <a:cs typeface="Arial" panose="020B0604020202020204" pitchFamily="34" charset="0"/>
              </a:rPr>
              <a:t>Internet Protocol</a:t>
            </a:r>
          </a:p>
          <a:p>
            <a:pPr algn="just"/>
            <a:r>
              <a:rPr lang="fr-HT" sz="1600" b="1" dirty="0">
                <a:latin typeface="Arial" panose="020B0604020202020204" pitchFamily="34" charset="0"/>
                <a:cs typeface="Arial" panose="020B0604020202020204" pitchFamily="34" charset="0"/>
              </a:rPr>
              <a:t>TCP : </a:t>
            </a:r>
            <a:r>
              <a:rPr lang="fr-HT" sz="1600" dirty="0">
                <a:latin typeface="Arial" panose="020B0604020202020204" pitchFamily="34" charset="0"/>
                <a:cs typeface="Arial" panose="020B0604020202020204" pitchFamily="34" charset="0"/>
              </a:rPr>
              <a:t>Transmission Control Protocol</a:t>
            </a:r>
          </a:p>
          <a:p>
            <a:pPr algn="just"/>
            <a:r>
              <a:rPr lang="fr-HT" sz="1600" b="1" dirty="0">
                <a:latin typeface="Arial" panose="020B0604020202020204" pitchFamily="34" charset="0"/>
                <a:cs typeface="Arial" panose="020B0604020202020204" pitchFamily="34" charset="0"/>
              </a:rPr>
              <a:t>Fail2ban : </a:t>
            </a:r>
            <a:r>
              <a:rPr lang="fr-HT" sz="1600" dirty="0">
                <a:latin typeface="Arial" panose="020B0604020202020204" pitchFamily="34" charset="0"/>
                <a:cs typeface="Arial" panose="020B0604020202020204" pitchFamily="34" charset="0"/>
              </a:rPr>
              <a:t>Outil de prévention des intrusions par bannissement IP</a:t>
            </a:r>
          </a:p>
          <a:p>
            <a:pPr algn="just"/>
            <a:r>
              <a:rPr lang="fr-HT" sz="1600" b="1" dirty="0">
                <a:latin typeface="Arial" panose="020B0604020202020204" pitchFamily="34" charset="0"/>
                <a:cs typeface="Arial" panose="020B0604020202020204" pitchFamily="34" charset="0"/>
              </a:rPr>
              <a:t>UFW : </a:t>
            </a:r>
            <a:r>
              <a:rPr lang="fr-HT" sz="1600" dirty="0" err="1">
                <a:latin typeface="Arial" panose="020B0604020202020204" pitchFamily="34" charset="0"/>
                <a:cs typeface="Arial" panose="020B0604020202020204" pitchFamily="34" charset="0"/>
              </a:rPr>
              <a:t>Uncomplicated</a:t>
            </a:r>
            <a:r>
              <a:rPr lang="fr-HT" sz="1600" dirty="0">
                <a:latin typeface="Arial" panose="020B0604020202020204" pitchFamily="34" charset="0"/>
                <a:cs typeface="Arial" panose="020B0604020202020204" pitchFamily="34" charset="0"/>
              </a:rPr>
              <a:t> Firewall</a:t>
            </a:r>
          </a:p>
          <a:p>
            <a:pPr algn="just"/>
            <a:r>
              <a:rPr lang="fr-HT" sz="1600" b="1" dirty="0">
                <a:latin typeface="Arial" panose="020B0604020202020204" pitchFamily="34" charset="0"/>
                <a:cs typeface="Arial" panose="020B0604020202020204" pitchFamily="34" charset="0"/>
              </a:rPr>
              <a:t>Git : </a:t>
            </a:r>
            <a:r>
              <a:rPr lang="fr-HT" sz="1600" dirty="0">
                <a:latin typeface="Arial" panose="020B0604020202020204" pitchFamily="34" charset="0"/>
                <a:cs typeface="Arial" panose="020B0604020202020204" pitchFamily="34" charset="0"/>
              </a:rPr>
              <a:t>Système de gestion de versions distribué</a:t>
            </a:r>
          </a:p>
          <a:p>
            <a:pPr algn="just"/>
            <a:r>
              <a:rPr lang="fr-HT" sz="1600" b="1" dirty="0">
                <a:latin typeface="Arial" panose="020B0604020202020204" pitchFamily="34" charset="0"/>
                <a:cs typeface="Arial" panose="020B0604020202020204" pitchFamily="34" charset="0"/>
              </a:rPr>
              <a:t>GitHub : </a:t>
            </a:r>
            <a:r>
              <a:rPr lang="fr-HT" sz="1600" dirty="0">
                <a:latin typeface="Arial" panose="020B0604020202020204" pitchFamily="34" charset="0"/>
                <a:cs typeface="Arial" panose="020B0604020202020204" pitchFamily="34" charset="0"/>
              </a:rPr>
              <a:t>Plateforme d'hébergement de dépôts Git</a:t>
            </a:r>
          </a:p>
          <a:p>
            <a:pPr algn="just"/>
            <a:r>
              <a:rPr lang="fr-HT" sz="1600" b="1" dirty="0">
                <a:latin typeface="Arial" panose="020B0604020202020204" pitchFamily="34" charset="0"/>
                <a:cs typeface="Arial" panose="020B0604020202020204" pitchFamily="34" charset="0"/>
              </a:rPr>
              <a:t>PR : </a:t>
            </a:r>
            <a:r>
              <a:rPr lang="fr-HT" sz="1600" dirty="0">
                <a:latin typeface="Arial" panose="020B0604020202020204" pitchFamily="34" charset="0"/>
                <a:cs typeface="Arial" panose="020B0604020202020204" pitchFamily="34" charset="0"/>
              </a:rPr>
              <a:t>Pull </a:t>
            </a:r>
            <a:r>
              <a:rPr lang="fr-HT" sz="1600" dirty="0" err="1">
                <a:latin typeface="Arial" panose="020B0604020202020204" pitchFamily="34" charset="0"/>
                <a:cs typeface="Arial" panose="020B0604020202020204" pitchFamily="34" charset="0"/>
              </a:rPr>
              <a:t>Request</a:t>
            </a:r>
            <a:endParaRPr lang="fr-HT" sz="1600" dirty="0">
              <a:latin typeface="Arial" panose="020B0604020202020204" pitchFamily="34" charset="0"/>
              <a:cs typeface="Arial" panose="020B0604020202020204" pitchFamily="34" charset="0"/>
            </a:endParaRPr>
          </a:p>
          <a:p>
            <a:pPr algn="just"/>
            <a:r>
              <a:rPr lang="fr-HT" sz="1600" b="1" dirty="0">
                <a:latin typeface="Arial" panose="020B0604020202020204" pitchFamily="34" charset="0"/>
                <a:cs typeface="Arial" panose="020B0604020202020204" pitchFamily="34" charset="0"/>
              </a:rPr>
              <a:t>CLI : </a:t>
            </a:r>
            <a:r>
              <a:rPr lang="fr-HT" sz="1600" dirty="0">
                <a:latin typeface="Arial" panose="020B0604020202020204" pitchFamily="34" charset="0"/>
                <a:cs typeface="Arial" panose="020B0604020202020204" pitchFamily="34" charset="0"/>
              </a:rPr>
              <a:t>Command Line Interface (Interface en Ligne de Commande)</a:t>
            </a:r>
          </a:p>
          <a:p>
            <a:pPr algn="just"/>
            <a:r>
              <a:rPr lang="fr-HT" sz="1600" b="1" dirty="0">
                <a:latin typeface="Arial" panose="020B0604020202020204" pitchFamily="34" charset="0"/>
                <a:cs typeface="Arial" panose="020B0604020202020204" pitchFamily="34" charset="0"/>
              </a:rPr>
              <a:t>OS : </a:t>
            </a:r>
            <a:r>
              <a:rPr lang="fr-HT" sz="1600" dirty="0">
                <a:latin typeface="Arial" panose="020B0604020202020204" pitchFamily="34" charset="0"/>
                <a:cs typeface="Arial" panose="020B0604020202020204" pitchFamily="34" charset="0"/>
              </a:rPr>
              <a:t>Operating System (Système d'Exploitation)</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1565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2761606" y="0"/>
            <a:ext cx="4108296" cy="716340"/>
          </a:xfrm>
        </p:spPr>
        <p:txBody>
          <a:bodyPr/>
          <a:lstStyle/>
          <a:p>
            <a:r>
              <a:rPr lang="en-US" b="1" dirty="0">
                <a:solidFill>
                  <a:srgbClr val="0070C0"/>
                </a:solidFill>
                <a:latin typeface="Arial" panose="020B0604020202020204" pitchFamily="34" charset="0"/>
                <a:cs typeface="Arial" panose="020B0604020202020204" pitchFamily="34" charset="0"/>
              </a:rPr>
              <a:t>introduction</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595901" y="811658"/>
            <a:ext cx="7335748" cy="5702158"/>
          </a:xfrm>
        </p:spPr>
        <p:txBody>
          <a:bodyPr>
            <a:normAutofit fontScale="92500" lnSpcReduction="10000"/>
          </a:bodyPr>
          <a:lstStyle/>
          <a:p>
            <a:pPr algn="just"/>
            <a:r>
              <a:rPr lang="fr-HT" sz="1900" dirty="0">
                <a:latin typeface="Arial" panose="020B0604020202020204" pitchFamily="34" charset="0"/>
                <a:cs typeface="Arial" panose="020B0604020202020204" pitchFamily="34" charset="0"/>
              </a:rPr>
              <a:t>	La sécurisation des accès distants constitue l'une des priorités fondamentales de l'administration système moderne. SSH  est le protocole de référence pour la gestion à distance des serveurs Linux, mais sa configuration par défaut n'offre pas un niveau de sécurité optimal face aux menaces actuelles telles que les attaques par force brute, les tentatives d'intrusion automatisées ou l'exploitation de comptes privilégiés.</a:t>
            </a:r>
            <a:endParaRPr lang="en-US" sz="1900" dirty="0">
              <a:latin typeface="Arial" panose="020B0604020202020204" pitchFamily="34" charset="0"/>
              <a:cs typeface="Arial" panose="020B0604020202020204" pitchFamily="34" charset="0"/>
            </a:endParaRPr>
          </a:p>
          <a:p>
            <a:pPr algn="just"/>
            <a:r>
              <a:rPr lang="fr-HT" sz="1900" dirty="0">
                <a:latin typeface="Arial" panose="020B0604020202020204" pitchFamily="34" charset="0"/>
                <a:cs typeface="Arial" panose="020B0604020202020204" pitchFamily="34" charset="0"/>
              </a:rPr>
              <a:t>Dans le cadre de ce projet, réalisé en équipe de trois personnes, nous avons mis en place un environnement de laboratoire sur VirtualBox afin d'expérimenter concrètement le durcissement (</a:t>
            </a:r>
            <a:r>
              <a:rPr lang="fr-HT" sz="1900" dirty="0" err="1">
                <a:latin typeface="Arial" panose="020B0604020202020204" pitchFamily="34" charset="0"/>
                <a:cs typeface="Arial" panose="020B0604020202020204" pitchFamily="34" charset="0"/>
              </a:rPr>
              <a:t>hardening</a:t>
            </a:r>
            <a:r>
              <a:rPr lang="fr-HT" sz="1900" dirty="0">
                <a:latin typeface="Arial" panose="020B0604020202020204" pitchFamily="34" charset="0"/>
                <a:cs typeface="Arial" panose="020B0604020202020204" pitchFamily="34" charset="0"/>
              </a:rPr>
              <a:t>) d'un serveur </a:t>
            </a:r>
            <a:r>
              <a:rPr lang="fr-HT" sz="1900" dirty="0" err="1">
                <a:latin typeface="Arial" panose="020B0604020202020204" pitchFamily="34" charset="0"/>
                <a:cs typeface="Arial" panose="020B0604020202020204" pitchFamily="34" charset="0"/>
              </a:rPr>
              <a:t>OpenSSH</a:t>
            </a:r>
            <a:r>
              <a:rPr lang="fr-HT" sz="1900" dirty="0">
                <a:latin typeface="Arial" panose="020B0604020202020204" pitchFamily="34" charset="0"/>
                <a:cs typeface="Arial" panose="020B0604020202020204" pitchFamily="34" charset="0"/>
              </a:rPr>
              <a:t>. </a:t>
            </a:r>
            <a:endParaRPr lang="en-US" sz="1900" dirty="0">
              <a:latin typeface="Arial" panose="020B0604020202020204" pitchFamily="34" charset="0"/>
              <a:cs typeface="Arial" panose="020B0604020202020204" pitchFamily="34" charset="0"/>
            </a:endParaRPr>
          </a:p>
          <a:p>
            <a:pPr algn="just"/>
            <a:r>
              <a:rPr lang="fr-HT" sz="1900" dirty="0">
                <a:latin typeface="Arial" panose="020B0604020202020204" pitchFamily="34" charset="0"/>
                <a:cs typeface="Arial" panose="020B0604020202020204" pitchFamily="34" charset="0"/>
              </a:rPr>
              <a:t>Ce rapport documente l'ensemble des étapes réalisées : l'authentification par clé cryptographique, la désactivation du compte root, le changement du port SSH, l'installation de Fail2ban, et la limitation des utilisateurs autorisés. Pour chaque étape, nous présentons la configuration appliquée ainsi que les résultats des tests de connexion effectués.</a:t>
            </a:r>
            <a:endParaRPr lang="en-US" sz="19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3494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ZoneTexte 29">
            <a:extLst>
              <a:ext uri="{FF2B5EF4-FFF2-40B4-BE49-F238E27FC236}">
                <a16:creationId xmlns:a16="http://schemas.microsoft.com/office/drawing/2014/main" id="{C053E23A-AAF6-630D-D1C2-EA031E5F6439}"/>
              </a:ext>
            </a:extLst>
          </p:cNvPr>
          <p:cNvSpPr txBox="1"/>
          <p:nvPr/>
        </p:nvSpPr>
        <p:spPr>
          <a:xfrm>
            <a:off x="1082213" y="1034839"/>
            <a:ext cx="10291279" cy="4950073"/>
          </a:xfrm>
          <a:prstGeom prst="rect">
            <a:avLst/>
          </a:prstGeom>
          <a:noFill/>
        </p:spPr>
        <p:txBody>
          <a:bodyPr wrap="square">
            <a:spAutoFit/>
          </a:bodyPr>
          <a:lstStyle/>
          <a:p>
            <a:pPr marL="0" marR="0">
              <a:spcBef>
                <a:spcPts val="300"/>
              </a:spcBef>
              <a:spcAft>
                <a:spcPts val="300"/>
              </a:spcAft>
              <a:buNone/>
            </a:pPr>
            <a:r>
              <a:rPr lang="fr-HT" sz="1800" dirty="0">
                <a:effectLst/>
                <a:latin typeface="Arial" panose="020B0604020202020204" pitchFamily="34" charset="0"/>
                <a:ea typeface="Arial" panose="020B0604020202020204" pitchFamily="34" charset="0"/>
                <a:cs typeface="Arial" panose="020B0604020202020204" pitchFamily="34" charset="0"/>
              </a:rPr>
              <a:t> </a:t>
            </a:r>
            <a:r>
              <a:rPr lang="fr-HT" sz="2400" b="1" dirty="0">
                <a:solidFill>
                  <a:srgbClr val="2E75B6"/>
                </a:solidFill>
                <a:effectLst/>
                <a:latin typeface="Arial" panose="020B0604020202020204" pitchFamily="34" charset="0"/>
                <a:cs typeface="Arial" panose="020B0604020202020204" pitchFamily="34" charset="0"/>
              </a:rPr>
              <a:t>Objectif général</a:t>
            </a:r>
            <a:endParaRPr lang="en-US" sz="2400" b="1" dirty="0">
              <a:solidFill>
                <a:srgbClr val="2E75B6"/>
              </a:solidFill>
              <a:effectLst/>
              <a:latin typeface="Arial" panose="020B0604020202020204" pitchFamily="34" charset="0"/>
              <a:cs typeface="Arial" panose="020B0604020202020204" pitchFamily="34" charset="0"/>
            </a:endParaRPr>
          </a:p>
          <a:p>
            <a:pPr marL="0" marR="0" algn="just">
              <a:spcBef>
                <a:spcPts val="500"/>
              </a:spcBef>
              <a:spcAft>
                <a:spcPts val="500"/>
              </a:spcAft>
              <a:buNone/>
            </a:pPr>
            <a:r>
              <a:rPr lang="fr-HT" sz="1800" dirty="0">
                <a:effectLst/>
                <a:latin typeface="Arial" panose="020B0604020202020204" pitchFamily="34" charset="0"/>
                <a:ea typeface="Arial" panose="020B0604020202020204" pitchFamily="34" charset="0"/>
                <a:cs typeface="Arial" panose="020B0604020202020204" pitchFamily="34" charset="0"/>
              </a:rPr>
              <a:t>L'objectif principal de ce projet est de renforcer la sécurité d'un serveur </a:t>
            </a:r>
            <a:r>
              <a:rPr lang="fr-HT" sz="1800" dirty="0" err="1">
                <a:effectLst/>
                <a:latin typeface="Arial" panose="020B0604020202020204" pitchFamily="34" charset="0"/>
                <a:ea typeface="Arial" panose="020B0604020202020204" pitchFamily="34" charset="0"/>
                <a:cs typeface="Arial" panose="020B0604020202020204" pitchFamily="34" charset="0"/>
              </a:rPr>
              <a:t>OpenSSH</a:t>
            </a:r>
            <a:r>
              <a:rPr lang="fr-HT" sz="1800" dirty="0">
                <a:effectLst/>
                <a:latin typeface="Arial" panose="020B0604020202020204" pitchFamily="34" charset="0"/>
                <a:ea typeface="Arial" panose="020B0604020202020204" pitchFamily="34" charset="0"/>
                <a:cs typeface="Arial" panose="020B0604020202020204" pitchFamily="34" charset="0"/>
              </a:rPr>
              <a:t> en appliquant les meilleures pratiques d'administration système, en simulant un environnement réel sur VirtualBox</a:t>
            </a:r>
            <a:r>
              <a:rPr lang="fr-HT" dirty="0">
                <a:latin typeface="Arial" panose="020B0604020202020204" pitchFamily="34" charset="0"/>
                <a:ea typeface="Arial" panose="020B0604020202020204" pitchFamily="34" charset="0"/>
                <a:cs typeface="Arial" panose="020B0604020202020204" pitchFamily="34" charset="0"/>
              </a:rPr>
              <a:t>.</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0" marR="0">
              <a:spcBef>
                <a:spcPts val="100"/>
              </a:spcBef>
              <a:spcAft>
                <a:spcPts val="100"/>
              </a:spcAft>
              <a:buNone/>
            </a:pPr>
            <a:r>
              <a:rPr lang="fr-HT" sz="1800" dirty="0">
                <a:effectLst/>
                <a:latin typeface="Arial" panose="020B0604020202020204" pitchFamily="34" charset="0"/>
                <a:ea typeface="Arial" panose="020B0604020202020204" pitchFamily="34" charset="0"/>
                <a:cs typeface="Arial" panose="020B0604020202020204" pitchFamily="34" charset="0"/>
              </a:rPr>
              <a:t> </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0" marR="0">
              <a:spcBef>
                <a:spcPts val="1200"/>
              </a:spcBef>
              <a:spcAft>
                <a:spcPts val="800"/>
              </a:spcAft>
              <a:buNone/>
            </a:pPr>
            <a:r>
              <a:rPr lang="fr-HT" sz="2400" b="1" dirty="0">
                <a:solidFill>
                  <a:srgbClr val="2E75B6"/>
                </a:solidFill>
                <a:effectLst/>
                <a:latin typeface="Arial" panose="020B0604020202020204" pitchFamily="34" charset="0"/>
                <a:cs typeface="Arial" panose="020B0604020202020204" pitchFamily="34" charset="0"/>
              </a:rPr>
              <a:t>Objectifs spécifiques</a:t>
            </a:r>
            <a:endParaRPr lang="en-US" sz="2400" b="1" dirty="0">
              <a:solidFill>
                <a:srgbClr val="2E75B6"/>
              </a:solidFill>
              <a:effectLst/>
              <a:latin typeface="Arial" panose="020B0604020202020204" pitchFamily="34" charset="0"/>
              <a:cs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cs typeface="Arial" panose="020B0604020202020204" pitchFamily="34" charset="0"/>
              </a:rPr>
              <a:t>Mettre en place une authentification par paire de clés cryptographiques (clé publique/privée) en remplacement de l'authentification par mot de passe.</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cs typeface="Arial" panose="020B0604020202020204" pitchFamily="34" charset="0"/>
              </a:rPr>
              <a:t>Désactiver la connexion directe du compte root via SSH afin de réduire la surface d'attaque.</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cs typeface="Arial" panose="020B0604020202020204" pitchFamily="34" charset="0"/>
              </a:rPr>
              <a:t>Changer le port d'écoute SSH du port par défaut (22) vers un port personnalisé afin de limiter les attaques automatisées.</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cs typeface="Arial" panose="020B0604020202020204" pitchFamily="34" charset="0"/>
              </a:rPr>
              <a:t>Installer et configurer Fail2ban pour bannir automatiquement les adresses IP suspectes après plusieurs tentatives de connexion échouées.</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cs typeface="Arial" panose="020B0604020202020204" pitchFamily="34" charset="0"/>
              </a:rPr>
              <a:t>Restreindre la liste des utilisateurs autorisés à se connecter via SSH grâce à la directive </a:t>
            </a:r>
            <a:r>
              <a:rPr lang="fr-HT" sz="1800" dirty="0" err="1">
                <a:effectLst/>
                <a:latin typeface="Arial" panose="020B0604020202020204" pitchFamily="34" charset="0"/>
                <a:ea typeface="Arial" panose="020B0604020202020204" pitchFamily="34" charset="0"/>
                <a:cs typeface="Arial" panose="020B0604020202020204" pitchFamily="34" charset="0"/>
              </a:rPr>
              <a:t>AllowUsers</a:t>
            </a:r>
            <a:r>
              <a:rPr lang="fr-HT" sz="1800" dirty="0">
                <a:effectLst/>
                <a:latin typeface="Arial" panose="020B0604020202020204" pitchFamily="34" charset="0"/>
                <a:ea typeface="Arial" panose="020B0604020202020204" pitchFamily="34" charset="0"/>
                <a:cs typeface="Arial" panose="020B0604020202020204" pitchFamily="34" charset="0"/>
              </a:rPr>
              <a:t>.</a:t>
            </a:r>
            <a:endParaRPr lang="en-US" sz="1800" dirty="0">
              <a:effectLst/>
              <a:latin typeface="Arial" panose="020B0604020202020204" pitchFamily="34" charset="0"/>
              <a:ea typeface="Arial" panose="020B0604020202020204" pitchFamily="34" charset="0"/>
              <a:cs typeface="Arial" panose="020B0604020202020204" pitchFamily="34" charset="0"/>
            </a:endParaRPr>
          </a:p>
        </p:txBody>
      </p:sp>
      <p:sp>
        <p:nvSpPr>
          <p:cNvPr id="31" name="Title 1">
            <a:extLst>
              <a:ext uri="{FF2B5EF4-FFF2-40B4-BE49-F238E27FC236}">
                <a16:creationId xmlns:a16="http://schemas.microsoft.com/office/drawing/2014/main" id="{9736268C-859C-3939-6BEE-27D843840626}"/>
              </a:ext>
              <a:ext uri="{C183D7F6-B498-43B3-948B-1728B52AA6E4}">
                <adec:decorative xmlns:adec="http://schemas.microsoft.com/office/drawing/2017/decorative" val="0"/>
              </a:ext>
            </a:extLst>
          </p:cNvPr>
          <p:cNvSpPr>
            <a:spLocks noGrp="1"/>
          </p:cNvSpPr>
          <p:nvPr>
            <p:ph type="title"/>
          </p:nvPr>
        </p:nvSpPr>
        <p:spPr>
          <a:xfrm>
            <a:off x="3080105" y="421241"/>
            <a:ext cx="5878960" cy="716340"/>
          </a:xfrm>
        </p:spPr>
        <p:txBody>
          <a:bodyPr>
            <a:normAutofit fontScale="90000"/>
          </a:bodyPr>
          <a:lstStyle/>
          <a:p>
            <a:r>
              <a:rPr lang="fr-HT" b="1" kern="0" dirty="0">
                <a:solidFill>
                  <a:srgbClr val="0070C0"/>
                </a:solidFill>
                <a:latin typeface="Arial" panose="020B0604020202020204" pitchFamily="34" charset="0"/>
                <a:cs typeface="Arial" panose="020B0604020202020204" pitchFamily="34" charset="0"/>
              </a:rPr>
              <a:t>Objectifs du Projet</a:t>
            </a:r>
            <a:br>
              <a:rPr lang="en-US" b="1" kern="0" dirty="0">
                <a:solidFill>
                  <a:srgbClr val="1F3864"/>
                </a:solidFill>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ZoneTexte 30">
            <a:extLst>
              <a:ext uri="{FF2B5EF4-FFF2-40B4-BE49-F238E27FC236}">
                <a16:creationId xmlns:a16="http://schemas.microsoft.com/office/drawing/2014/main" id="{80D9A9D5-5D7C-9D7F-CEE9-0B51F0EE04E2}"/>
              </a:ext>
            </a:extLst>
          </p:cNvPr>
          <p:cNvSpPr txBox="1"/>
          <p:nvPr/>
        </p:nvSpPr>
        <p:spPr>
          <a:xfrm>
            <a:off x="1821558" y="1192041"/>
            <a:ext cx="8887145" cy="3170099"/>
          </a:xfrm>
          <a:prstGeom prst="rect">
            <a:avLst/>
          </a:prstGeom>
          <a:noFill/>
        </p:spPr>
        <p:txBody>
          <a:bodyPr wrap="square">
            <a:spAutoFit/>
          </a:bodyPr>
          <a:lstStyle/>
          <a:p>
            <a:pPr marL="0" marR="0">
              <a:spcBef>
                <a:spcPts val="300"/>
              </a:spcBef>
              <a:spcAft>
                <a:spcPts val="300"/>
              </a:spcAft>
              <a:buNone/>
            </a:pPr>
            <a:r>
              <a:rPr lang="fr-HT" sz="1800" dirty="0">
                <a:effectLst/>
                <a:latin typeface="Arial" panose="020B0604020202020204" pitchFamily="34" charset="0"/>
                <a:ea typeface="Arial" panose="020B0604020202020204" pitchFamily="34" charset="0"/>
                <a:cs typeface="Arial" panose="020B0604020202020204" pitchFamily="34" charset="0"/>
              </a:rPr>
              <a:t> </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0" marR="0" algn="just">
              <a:spcBef>
                <a:spcPts val="500"/>
              </a:spcBef>
              <a:spcAft>
                <a:spcPts val="500"/>
              </a:spcAft>
              <a:buNone/>
            </a:pPr>
            <a:r>
              <a:rPr lang="fr-HT" sz="1800" dirty="0">
                <a:effectLst/>
                <a:latin typeface="Arial" panose="020B0604020202020204" pitchFamily="34" charset="0"/>
                <a:ea typeface="Arial" panose="020B0604020202020204" pitchFamily="34" charset="0"/>
                <a:cs typeface="Arial" panose="020B0604020202020204" pitchFamily="34" charset="0"/>
              </a:rPr>
              <a:t>Les serveurs exposés sur Internet sont continuellement soumis à des tentatives d'intrusion automatisées. Les robots (bots) scannent en permanence le port 22, tentent de se connecter avec des identifiants par défaut ou lancent des attaques par dictionnaire sur des comptes actifs, notamment root. Une configuration SSH par défaut laisse donc la porte ouverte à de nombreuses vulnérabilités.</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0" marR="0">
              <a:spcBef>
                <a:spcPts val="300"/>
              </a:spcBef>
              <a:spcAft>
                <a:spcPts val="300"/>
              </a:spcAft>
              <a:buNone/>
            </a:pPr>
            <a:r>
              <a:rPr lang="fr-HT" sz="1800" dirty="0">
                <a:effectLst/>
                <a:latin typeface="Arial" panose="020B0604020202020204" pitchFamily="34" charset="0"/>
                <a:ea typeface="Arial" panose="020B0604020202020204" pitchFamily="34" charset="0"/>
                <a:cs typeface="Arial" panose="020B0604020202020204" pitchFamily="34" charset="0"/>
              </a:rPr>
              <a:t>  </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0" marR="0" algn="just">
              <a:spcBef>
                <a:spcPts val="500"/>
              </a:spcBef>
              <a:spcAft>
                <a:spcPts val="500"/>
              </a:spcAft>
              <a:buNone/>
            </a:pPr>
            <a:r>
              <a:rPr lang="fr-HT" sz="1800" dirty="0">
                <a:effectLst/>
                <a:latin typeface="Arial" panose="020B0604020202020204" pitchFamily="34" charset="0"/>
                <a:ea typeface="Arial" panose="020B0604020202020204" pitchFamily="34" charset="0"/>
                <a:cs typeface="Arial" panose="020B0604020202020204" pitchFamily="34" charset="0"/>
              </a:rPr>
              <a:t>La problématique de ce projet peut ainsi se formuler de la manière suivante : Comment sécuriser efficacement un serveur </a:t>
            </a:r>
            <a:r>
              <a:rPr lang="fr-HT" sz="1800" dirty="0" err="1">
                <a:effectLst/>
                <a:latin typeface="Arial" panose="020B0604020202020204" pitchFamily="34" charset="0"/>
                <a:ea typeface="Arial" panose="020B0604020202020204" pitchFamily="34" charset="0"/>
                <a:cs typeface="Arial" panose="020B0604020202020204" pitchFamily="34" charset="0"/>
              </a:rPr>
              <a:t>OpenSSH</a:t>
            </a:r>
            <a:r>
              <a:rPr lang="fr-HT" sz="1800" dirty="0">
                <a:effectLst/>
                <a:latin typeface="Arial" panose="020B0604020202020204" pitchFamily="34" charset="0"/>
                <a:ea typeface="Arial" panose="020B0604020202020204" pitchFamily="34" charset="0"/>
                <a:cs typeface="Arial" panose="020B0604020202020204" pitchFamily="34" charset="0"/>
              </a:rPr>
              <a:t> en appliquant plusieurs couches de protection complémentaires</a:t>
            </a:r>
            <a:r>
              <a:rPr lang="fr-HT" dirty="0">
                <a:latin typeface="Arial" panose="020B0604020202020204" pitchFamily="34" charset="0"/>
                <a:ea typeface="Arial" panose="020B0604020202020204" pitchFamily="34" charset="0"/>
                <a:cs typeface="Arial" panose="020B0604020202020204" pitchFamily="34" charset="0"/>
              </a:rPr>
              <a:t> </a:t>
            </a:r>
            <a:r>
              <a:rPr lang="fr-HT" sz="1800" dirty="0">
                <a:effectLst/>
                <a:latin typeface="Arial" panose="020B0604020202020204" pitchFamily="34" charset="0"/>
                <a:ea typeface="Arial" panose="020B0604020202020204" pitchFamily="34" charset="0"/>
                <a:cs typeface="Arial" panose="020B0604020202020204" pitchFamily="34" charset="0"/>
              </a:rPr>
              <a:t>?</a:t>
            </a:r>
            <a:endParaRPr lang="en-US" sz="1800" dirty="0">
              <a:effectLst/>
              <a:latin typeface="Arial" panose="020B0604020202020204" pitchFamily="34" charset="0"/>
              <a:ea typeface="Arial" panose="020B0604020202020204" pitchFamily="34" charset="0"/>
              <a:cs typeface="Arial" panose="020B0604020202020204" pitchFamily="34" charset="0"/>
            </a:endParaRPr>
          </a:p>
        </p:txBody>
      </p:sp>
      <p:sp>
        <p:nvSpPr>
          <p:cNvPr id="32" name="Title 1">
            <a:extLst>
              <a:ext uri="{FF2B5EF4-FFF2-40B4-BE49-F238E27FC236}">
                <a16:creationId xmlns:a16="http://schemas.microsoft.com/office/drawing/2014/main" id="{D8B266D5-B513-BF8A-49A7-B49B874A4F2E}"/>
              </a:ext>
              <a:ext uri="{C183D7F6-B498-43B3-948B-1728B52AA6E4}">
                <adec:decorative xmlns:adec="http://schemas.microsoft.com/office/drawing/2017/decorative" val="0"/>
              </a:ext>
            </a:extLst>
          </p:cNvPr>
          <p:cNvSpPr>
            <a:spLocks noGrp="1"/>
          </p:cNvSpPr>
          <p:nvPr>
            <p:ph type="title"/>
          </p:nvPr>
        </p:nvSpPr>
        <p:spPr>
          <a:xfrm>
            <a:off x="3156520" y="584519"/>
            <a:ext cx="5878960" cy="945222"/>
          </a:xfrm>
        </p:spPr>
        <p:txBody>
          <a:bodyPr>
            <a:normAutofit fontScale="90000"/>
          </a:bodyPr>
          <a:lstStyle/>
          <a:p>
            <a:pPr algn="ctr"/>
            <a:br>
              <a:rPr lang="en-US" b="1" kern="0" dirty="0">
                <a:solidFill>
                  <a:srgbClr val="1F3864"/>
                </a:solidFill>
                <a:latin typeface="Arial" panose="020B0604020202020204" pitchFamily="34" charset="0"/>
                <a:cs typeface="Arial" panose="020B0604020202020204" pitchFamily="34" charset="0"/>
              </a:rPr>
            </a:br>
            <a:br>
              <a:rPr lang="en-US" b="1" kern="0" dirty="0">
                <a:solidFill>
                  <a:srgbClr val="1F3864"/>
                </a:solidFill>
                <a:latin typeface="Arial" panose="020B0604020202020204" pitchFamily="34" charset="0"/>
                <a:cs typeface="Arial" panose="020B0604020202020204" pitchFamily="34" charset="0"/>
              </a:rPr>
            </a:br>
            <a:r>
              <a:rPr lang="fr-HT" b="1" kern="0" dirty="0">
                <a:solidFill>
                  <a:srgbClr val="0070C0"/>
                </a:solidFill>
                <a:latin typeface="Arial" panose="020B0604020202020204" pitchFamily="34" charset="0"/>
                <a:cs typeface="Arial" panose="020B0604020202020204" pitchFamily="34" charset="0"/>
              </a:rPr>
              <a:t>Problématique</a:t>
            </a:r>
            <a:br>
              <a:rPr lang="en-US" b="1" kern="0" dirty="0">
                <a:solidFill>
                  <a:srgbClr val="1F3864"/>
                </a:solidFill>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3143A-185B-21C6-2E9B-648FA606A5E7}"/>
            </a:ext>
          </a:extLst>
        </p:cNvPr>
        <p:cNvGrpSpPr/>
        <p:nvPr/>
      </p:nvGrpSpPr>
      <p:grpSpPr>
        <a:xfrm>
          <a:off x="0" y="0"/>
          <a:ext cx="0" cy="0"/>
          <a:chOff x="0" y="0"/>
          <a:chExt cx="0" cy="0"/>
        </a:xfrm>
      </p:grpSpPr>
      <p:sp>
        <p:nvSpPr>
          <p:cNvPr id="31" name="ZoneTexte 30">
            <a:extLst>
              <a:ext uri="{FF2B5EF4-FFF2-40B4-BE49-F238E27FC236}">
                <a16:creationId xmlns:a16="http://schemas.microsoft.com/office/drawing/2014/main" id="{C905988B-A96F-CB8B-3A5D-5EA9009A99B9}"/>
              </a:ext>
            </a:extLst>
          </p:cNvPr>
          <p:cNvSpPr txBox="1"/>
          <p:nvPr/>
        </p:nvSpPr>
        <p:spPr>
          <a:xfrm>
            <a:off x="1821558" y="1192041"/>
            <a:ext cx="8887145" cy="3177793"/>
          </a:xfrm>
          <a:prstGeom prst="rect">
            <a:avLst/>
          </a:prstGeom>
          <a:noFill/>
        </p:spPr>
        <p:txBody>
          <a:bodyPr wrap="square">
            <a:spAutoFit/>
          </a:bodyPr>
          <a:lstStyle/>
          <a:p>
            <a:r>
              <a:rPr lang="fr-HT" sz="2000" b="1" dirty="0">
                <a:solidFill>
                  <a:srgbClr val="0070C0"/>
                </a:solidFill>
              </a:rPr>
              <a:t>Mise en place de l'environnement</a:t>
            </a:r>
            <a:endParaRPr lang="en-US" sz="2000" b="1" dirty="0">
              <a:solidFill>
                <a:srgbClr val="0070C0"/>
              </a:solidFill>
            </a:endParaRPr>
          </a:p>
          <a:p>
            <a:r>
              <a:rPr lang="fr-FR" dirty="0"/>
              <a:t>Chaque membre du groupe a installé VirtualBox sur sa machine personnelle et créé une machine virtuelle :</a:t>
            </a:r>
            <a:endParaRPr lang="en-US" dirty="0"/>
          </a:p>
          <a:p>
            <a:pPr marL="285750" lvl="0" indent="-285750">
              <a:buFont typeface="Wingdings" panose="05000000000000000000" pitchFamily="2" charset="2"/>
              <a:buChar char="Ø"/>
            </a:pPr>
            <a:r>
              <a:rPr lang="fr-FR" dirty="0"/>
              <a:t>Une VM Serveur sous Ubuntu Server 22.04 LTS, qui joue le rôle du serveur SSH à durcir.</a:t>
            </a:r>
            <a:endParaRPr lang="en-US" dirty="0"/>
          </a:p>
          <a:p>
            <a:pPr marL="285750" lvl="0" indent="-285750">
              <a:buFont typeface="Wingdings" panose="05000000000000000000" pitchFamily="2" charset="2"/>
              <a:buChar char="Ø"/>
            </a:pPr>
            <a:r>
              <a:rPr lang="fr-FR" dirty="0"/>
              <a:t>Les tests de connexion SSH ont été effectués directement depuis la machine personnelle de chaque membre, sans VM cliente supplémentaire.</a:t>
            </a:r>
            <a:endParaRPr lang="en-US" dirty="0"/>
          </a:p>
          <a:p>
            <a:r>
              <a:rPr lang="fr-FR" dirty="0"/>
              <a:t>La machine personnelle de chaque membre communique avec la VM Serveur via le réseau Host-Only de VirtualBox, ce qui permet de simuler un environnement isolé et sécurisé.</a:t>
            </a:r>
            <a:endParaRPr lang="en-US" dirty="0"/>
          </a:p>
          <a:p>
            <a:pPr marL="0" marR="0">
              <a:spcBef>
                <a:spcPts val="300"/>
              </a:spcBef>
              <a:spcAft>
                <a:spcPts val="300"/>
              </a:spcAft>
              <a:buNone/>
            </a:pPr>
            <a:endParaRPr lang="en-US" sz="1800" dirty="0">
              <a:effectLst/>
              <a:latin typeface="Arial" panose="020B0604020202020204" pitchFamily="34" charset="0"/>
              <a:ea typeface="Arial" panose="020B0604020202020204" pitchFamily="34" charset="0"/>
              <a:cs typeface="Arial" panose="020B0604020202020204" pitchFamily="34" charset="0"/>
            </a:endParaRPr>
          </a:p>
        </p:txBody>
      </p:sp>
      <p:sp>
        <p:nvSpPr>
          <p:cNvPr id="32" name="Title 1">
            <a:extLst>
              <a:ext uri="{FF2B5EF4-FFF2-40B4-BE49-F238E27FC236}">
                <a16:creationId xmlns:a16="http://schemas.microsoft.com/office/drawing/2014/main" id="{1DE7F31F-5084-1315-5F26-DB42368D584D}"/>
              </a:ext>
              <a:ext uri="{C183D7F6-B498-43B3-948B-1728B52AA6E4}">
                <adec:decorative xmlns:adec="http://schemas.microsoft.com/office/drawing/2017/decorative" val="0"/>
              </a:ext>
            </a:extLst>
          </p:cNvPr>
          <p:cNvSpPr>
            <a:spLocks noGrp="1"/>
          </p:cNvSpPr>
          <p:nvPr>
            <p:ph type="title"/>
          </p:nvPr>
        </p:nvSpPr>
        <p:spPr>
          <a:xfrm>
            <a:off x="3325650" y="339047"/>
            <a:ext cx="5878960" cy="1027415"/>
          </a:xfrm>
        </p:spPr>
        <p:txBody>
          <a:bodyPr>
            <a:noAutofit/>
          </a:bodyPr>
          <a:lstStyle/>
          <a:p>
            <a:pPr algn="ctr"/>
            <a:br>
              <a:rPr lang="en-US" b="1" kern="0" dirty="0">
                <a:solidFill>
                  <a:srgbClr val="0070C0"/>
                </a:solidFill>
                <a:latin typeface="Arial" panose="020B0604020202020204" pitchFamily="34" charset="0"/>
                <a:cs typeface="Arial" panose="020B0604020202020204" pitchFamily="34" charset="0"/>
              </a:rPr>
            </a:br>
            <a:br>
              <a:rPr lang="en-US" b="1" kern="0" dirty="0">
                <a:solidFill>
                  <a:srgbClr val="0070C0"/>
                </a:solidFill>
                <a:latin typeface="Arial" panose="020B0604020202020204" pitchFamily="34" charset="0"/>
                <a:cs typeface="Arial" panose="020B0604020202020204" pitchFamily="34" charset="0"/>
              </a:rPr>
            </a:br>
            <a:r>
              <a:rPr lang="fr-HT" b="1" dirty="0">
                <a:solidFill>
                  <a:srgbClr val="0070C0"/>
                </a:solidFill>
              </a:rPr>
              <a:t>Méthodologie</a:t>
            </a:r>
            <a:br>
              <a:rPr lang="en-US" b="1" dirty="0">
                <a:solidFill>
                  <a:srgbClr val="0070C0"/>
                </a:solidFill>
              </a:rPr>
            </a:br>
            <a:endParaRPr lang="en-US"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5462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18E37-0FC0-B71C-278F-53B322762DB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9D4067F-9CDE-E9DD-CD5B-809E487B8BC2}"/>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7</a:t>
            </a:fld>
            <a:endParaRPr lang="en-US" dirty="0"/>
          </a:p>
        </p:txBody>
      </p:sp>
      <p:sp>
        <p:nvSpPr>
          <p:cNvPr id="10" name="ZoneTexte 9">
            <a:extLst>
              <a:ext uri="{FF2B5EF4-FFF2-40B4-BE49-F238E27FC236}">
                <a16:creationId xmlns:a16="http://schemas.microsoft.com/office/drawing/2014/main" id="{49A0600A-4AFC-DCC6-5323-A1A1D39503E9}"/>
              </a:ext>
            </a:extLst>
          </p:cNvPr>
          <p:cNvSpPr txBox="1"/>
          <p:nvPr/>
        </p:nvSpPr>
        <p:spPr>
          <a:xfrm>
            <a:off x="4542156" y="2477374"/>
            <a:ext cx="6097712" cy="1364476"/>
          </a:xfrm>
          <a:prstGeom prst="rect">
            <a:avLst/>
          </a:prstGeom>
          <a:noFill/>
        </p:spPr>
        <p:txBody>
          <a:bodyPr wrap="square">
            <a:spAutoFit/>
          </a:bodyPr>
          <a:lstStyle/>
          <a:p>
            <a:pPr marL="0" marR="0">
              <a:spcBef>
                <a:spcPts val="300"/>
              </a:spcBef>
              <a:spcAft>
                <a:spcPts val="300"/>
              </a:spcAft>
              <a:buNone/>
            </a:pPr>
            <a:r>
              <a:rPr lang="fr-HT" sz="1600" dirty="0">
                <a:effectLst/>
                <a:latin typeface="Arial" panose="020B0604020202020204" pitchFamily="34" charset="0"/>
                <a:ea typeface="Arial" panose="020B0604020202020204" pitchFamily="34" charset="0"/>
              </a:rPr>
              <a:t> </a:t>
            </a:r>
            <a:endParaRPr lang="en-US" sz="1600" dirty="0">
              <a:effectLst/>
              <a:latin typeface="Arial" panose="020B0604020202020204" pitchFamily="34" charset="0"/>
              <a:ea typeface="Arial" panose="020B0604020202020204" pitchFamily="34" charset="0"/>
            </a:endParaRPr>
          </a:p>
          <a:p>
            <a:pPr marL="0" marR="0" algn="ctr">
              <a:spcBef>
                <a:spcPts val="500"/>
              </a:spcBef>
              <a:spcAft>
                <a:spcPts val="1000"/>
              </a:spcAft>
              <a:buNone/>
            </a:pPr>
            <a:r>
              <a:rPr lang="fr-HT" sz="2000" b="1" i="1" dirty="0">
                <a:effectLst/>
                <a:latin typeface="Arial" panose="020B0604020202020204" pitchFamily="34" charset="0"/>
                <a:ea typeface="Arial" panose="020B0604020202020204" pitchFamily="34" charset="0"/>
              </a:rPr>
              <a:t>Durcissement d'un Serveur </a:t>
            </a:r>
            <a:r>
              <a:rPr lang="fr-HT" sz="2000" b="1" i="1" dirty="0" err="1">
                <a:effectLst/>
                <a:latin typeface="Arial" panose="020B0604020202020204" pitchFamily="34" charset="0"/>
                <a:ea typeface="Arial" panose="020B0604020202020204" pitchFamily="34" charset="0"/>
              </a:rPr>
              <a:t>OpenSSH</a:t>
            </a:r>
            <a:r>
              <a:rPr lang="fr-HT" sz="2000" b="1" i="1" dirty="0">
                <a:effectLst/>
                <a:latin typeface="Arial" panose="020B0604020202020204" pitchFamily="34" charset="0"/>
                <a:ea typeface="Arial" panose="020B0604020202020204" pitchFamily="34" charset="0"/>
              </a:rPr>
              <a:t> : Authentification, Contrôle d'accès et Protection contre les intrusions</a:t>
            </a:r>
            <a:endParaRPr lang="en-US" dirty="0">
              <a:effectLst/>
              <a:latin typeface="Arial" panose="020B0604020202020204" pitchFamily="34" charset="0"/>
              <a:ea typeface="Arial" panose="020B0604020202020204" pitchFamily="34" charset="0"/>
            </a:endParaRPr>
          </a:p>
        </p:txBody>
      </p:sp>
      <p:sp>
        <p:nvSpPr>
          <p:cNvPr id="11" name="Title 1">
            <a:extLst>
              <a:ext uri="{FF2B5EF4-FFF2-40B4-BE49-F238E27FC236}">
                <a16:creationId xmlns:a16="http://schemas.microsoft.com/office/drawing/2014/main" id="{62750D0F-B844-DEAA-F1FD-4642C0A33D45}"/>
              </a:ext>
              <a:ext uri="{C183D7F6-B498-43B3-948B-1728B52AA6E4}">
                <adec:decorative xmlns:adec="http://schemas.microsoft.com/office/drawing/2017/decorative" val="0"/>
              </a:ext>
            </a:extLst>
          </p:cNvPr>
          <p:cNvSpPr txBox="1">
            <a:spLocks/>
          </p:cNvSpPr>
          <p:nvPr/>
        </p:nvSpPr>
        <p:spPr>
          <a:xfrm>
            <a:off x="3685243" y="1690408"/>
            <a:ext cx="7811537" cy="102741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cap="all" spc="150" baseline="0">
                <a:solidFill>
                  <a:schemeClr val="tx1">
                    <a:lumMod val="75000"/>
                    <a:lumOff val="25000"/>
                  </a:schemeClr>
                </a:solidFill>
                <a:latin typeface="+mj-lt"/>
                <a:ea typeface="+mj-ea"/>
                <a:cs typeface="+mj-cs"/>
              </a:defRPr>
            </a:lvl1pPr>
          </a:lstStyle>
          <a:p>
            <a:pPr algn="ctr"/>
            <a:br>
              <a:rPr lang="en-US" b="1" kern="0" dirty="0">
                <a:solidFill>
                  <a:srgbClr val="0070C0"/>
                </a:solidFill>
                <a:latin typeface="Arial" panose="020B0604020202020204" pitchFamily="34" charset="0"/>
                <a:cs typeface="Arial" panose="020B0604020202020204" pitchFamily="34" charset="0"/>
              </a:rPr>
            </a:br>
            <a:br>
              <a:rPr lang="en-US" b="1" kern="0" dirty="0">
                <a:solidFill>
                  <a:srgbClr val="0070C0"/>
                </a:solidFill>
                <a:latin typeface="Arial" panose="020B0604020202020204" pitchFamily="34" charset="0"/>
                <a:cs typeface="Arial" panose="020B0604020202020204" pitchFamily="34" charset="0"/>
              </a:rPr>
            </a:br>
            <a:r>
              <a:rPr lang="fr-HT" sz="4400" b="1" kern="0" dirty="0">
                <a:solidFill>
                  <a:srgbClr val="0070C0"/>
                </a:solidFill>
                <a:latin typeface="Arial" panose="020B0604020202020204" pitchFamily="34" charset="0"/>
              </a:rPr>
              <a:t>Description du Projet</a:t>
            </a:r>
            <a:endParaRPr lang="en-US"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7420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42592" y="80097"/>
            <a:ext cx="9580745" cy="597993"/>
          </a:xfrm>
        </p:spPr>
        <p:txBody>
          <a:bodyPr>
            <a:normAutofit/>
          </a:bodyPr>
          <a:lstStyle/>
          <a:p>
            <a:pPr algn="ctr"/>
            <a:r>
              <a:rPr lang="fr-FR" sz="2200" b="1" dirty="0">
                <a:solidFill>
                  <a:srgbClr val="0070C0"/>
                </a:solidFill>
                <a:latin typeface="Arial" panose="020B0604020202020204" pitchFamily="34" charset="0"/>
                <a:cs typeface="Arial" panose="020B0604020202020204" pitchFamily="34" charset="0"/>
              </a:rPr>
              <a:t>1. </a:t>
            </a:r>
            <a:r>
              <a:rPr lang="fr-FR" sz="2000" b="1" dirty="0">
                <a:solidFill>
                  <a:srgbClr val="0070C0"/>
                </a:solidFill>
                <a:latin typeface="Arial" panose="020B0604020202020204" pitchFamily="34" charset="0"/>
                <a:cs typeface="Arial" panose="020B0604020202020204" pitchFamily="34" charset="0"/>
              </a:rPr>
              <a:t>Authentification par clé cryptographique</a:t>
            </a:r>
            <a:endParaRPr lang="en-US" sz="2200" b="1"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401455" y="733309"/>
            <a:ext cx="11578212" cy="1126313"/>
          </a:xfrm>
        </p:spPr>
        <p:txBody>
          <a:bodyPr vert="horz" lIns="91440" tIns="45720" rIns="91440" bIns="45720" rtlCol="0" anchor="t">
            <a:noAutofit/>
          </a:bodyPr>
          <a:lstStyle/>
          <a:p>
            <a:pPr marL="285750" indent="-285750">
              <a:buFont typeface="Wingdings" panose="05000000000000000000" pitchFamily="2" charset="2"/>
              <a:buChar char="v"/>
            </a:pPr>
            <a:r>
              <a:rPr lang="fr-FR" sz="1800" b="1" dirty="0">
                <a:solidFill>
                  <a:srgbClr val="0070C0"/>
                </a:solidFill>
                <a:latin typeface="Arial" panose="020B0604020202020204" pitchFamily="34" charset="0"/>
                <a:cs typeface="Arial" panose="020B0604020202020204" pitchFamily="34" charset="0"/>
              </a:rPr>
              <a:t>Objectif</a:t>
            </a:r>
          </a:p>
          <a:p>
            <a:r>
              <a:rPr lang="fr-FR" sz="1800" b="1" dirty="0">
                <a:latin typeface="Arial" panose="020B0604020202020204" pitchFamily="34" charset="0"/>
                <a:cs typeface="Arial" panose="020B0604020202020204" pitchFamily="34" charset="0"/>
              </a:rPr>
              <a:t>Remplacer l'authentification par mot de passe (vulnérable aux attaques par force brute) par une paire de clés cryptographiques (clé privée sur le client, clé publique sur le serveur).</a:t>
            </a:r>
          </a:p>
          <a:p>
            <a:endParaRPr lang="fr-FR" sz="1800" b="1" noProof="1">
              <a:latin typeface="Arial" panose="020B0604020202020204" pitchFamily="34" charset="0"/>
              <a:cs typeface="Arial" panose="020B0604020202020204" pitchFamily="34" charset="0"/>
            </a:endParaRPr>
          </a:p>
          <a:p>
            <a:endParaRPr lang="fr-FR" sz="1800" b="1" noProof="1">
              <a:latin typeface="Arial" panose="020B0604020202020204" pitchFamily="34" charset="0"/>
              <a:cs typeface="Arial" panose="020B0604020202020204" pitchFamily="34" charset="0"/>
            </a:endParaRPr>
          </a:p>
          <a:p>
            <a:endParaRPr lang="fr-FR" sz="1800" b="1" noProof="1">
              <a:latin typeface="Arial" panose="020B0604020202020204" pitchFamily="34" charset="0"/>
              <a:cs typeface="Arial" panose="020B0604020202020204" pitchFamily="34" charset="0"/>
            </a:endParaRPr>
          </a:p>
          <a:p>
            <a:endParaRPr lang="en-US" sz="1800" b="1" noProof="1">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3837C9B-EE1E-2996-F075-D5F5C9755E86}"/>
              </a:ext>
            </a:extLst>
          </p:cNvPr>
          <p:cNvPicPr>
            <a:picLocks noChangeAspect="1"/>
          </p:cNvPicPr>
          <p:nvPr/>
        </p:nvPicPr>
        <p:blipFill>
          <a:blip r:embed="rId2"/>
          <a:stretch>
            <a:fillRect/>
          </a:stretch>
        </p:blipFill>
        <p:spPr>
          <a:xfrm>
            <a:off x="1870278" y="2636142"/>
            <a:ext cx="8640566" cy="3381375"/>
          </a:xfrm>
          <a:prstGeom prst="rect">
            <a:avLst/>
          </a:prstGeom>
        </p:spPr>
      </p:pic>
      <p:sp>
        <p:nvSpPr>
          <p:cNvPr id="9" name="ZoneTexte 8">
            <a:extLst>
              <a:ext uri="{FF2B5EF4-FFF2-40B4-BE49-F238E27FC236}">
                <a16:creationId xmlns:a16="http://schemas.microsoft.com/office/drawing/2014/main" id="{57C63847-400A-99BE-B1E4-0FCCB95C384C}"/>
              </a:ext>
            </a:extLst>
          </p:cNvPr>
          <p:cNvSpPr txBox="1"/>
          <p:nvPr/>
        </p:nvSpPr>
        <p:spPr>
          <a:xfrm>
            <a:off x="3084108" y="2047827"/>
            <a:ext cx="6097712" cy="400110"/>
          </a:xfrm>
          <a:prstGeom prst="rect">
            <a:avLst/>
          </a:prstGeom>
          <a:noFill/>
        </p:spPr>
        <p:txBody>
          <a:bodyPr wrap="square">
            <a:spAutoFit/>
          </a:bodyPr>
          <a:lstStyle/>
          <a:p>
            <a:pPr marL="342900" indent="-342900" algn="ctr">
              <a:spcBef>
                <a:spcPts val="300"/>
              </a:spcBef>
              <a:spcAft>
                <a:spcPts val="300"/>
              </a:spcAft>
              <a:buFont typeface="+mj-lt"/>
              <a:buAutoNum type="arabicPeriod"/>
            </a:pPr>
            <a:r>
              <a:rPr lang="fr-HT" sz="1600" dirty="0">
                <a:effectLst/>
                <a:latin typeface="Arial" panose="020B0604020202020204" pitchFamily="34" charset="0"/>
                <a:ea typeface="Arial" panose="020B0604020202020204" pitchFamily="34" charset="0"/>
              </a:rPr>
              <a:t> </a:t>
            </a:r>
            <a:r>
              <a:rPr lang="en-US" sz="16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Génération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d’une</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paire</a:t>
            </a:r>
            <a:r>
              <a:rPr lang="en-US" sz="2000" dirty="0">
                <a:latin typeface="Arial" panose="020B0604020202020204" pitchFamily="34" charset="0"/>
                <a:cs typeface="Arial" panose="020B0604020202020204" pitchFamily="34" charset="0"/>
              </a:rPr>
              <a:t> de </a:t>
            </a:r>
            <a:r>
              <a:rPr lang="en-US" sz="2000" dirty="0" err="1">
                <a:latin typeface="Arial" panose="020B0604020202020204" pitchFamily="34" charset="0"/>
                <a:cs typeface="Arial" panose="020B0604020202020204" pitchFamily="34" charset="0"/>
              </a:rPr>
              <a:t>clé</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publique</a:t>
            </a:r>
            <a:r>
              <a:rPr lang="en-US" sz="2000" dirty="0">
                <a:latin typeface="Arial" panose="020B0604020202020204" pitchFamily="34" charset="0"/>
                <a:cs typeface="Arial" panose="020B0604020202020204" pitchFamily="34" charset="0"/>
              </a:rPr>
              <a:t> et </a:t>
            </a:r>
            <a:r>
              <a:rPr lang="en-US" sz="2000" dirty="0" err="1">
                <a:latin typeface="Arial" panose="020B0604020202020204" pitchFamily="34" charset="0"/>
                <a:cs typeface="Arial" panose="020B0604020202020204" pitchFamily="34" charset="0"/>
              </a:rPr>
              <a:t>privé</a:t>
            </a:r>
            <a:r>
              <a:rPr lang="en-US" sz="2000" dirty="0">
                <a:latin typeface="Arial" panose="020B0604020202020204" pitchFamily="34" charset="0"/>
                <a:cs typeface="Arial" panose="020B0604020202020204" pitchFamily="34" charset="0"/>
              </a:rPr>
              <a:t>)</a:t>
            </a:r>
            <a:endParaRPr lang="en-US"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346372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1E9A7D-C718-B2DE-605A-7FC01562B011}"/>
              </a:ext>
            </a:extLst>
          </p:cNvPr>
          <p:cNvPicPr>
            <a:picLocks noChangeAspect="1"/>
          </p:cNvPicPr>
          <p:nvPr/>
        </p:nvPicPr>
        <p:blipFill>
          <a:blip r:embed="rId2"/>
          <a:stretch>
            <a:fillRect/>
          </a:stretch>
        </p:blipFill>
        <p:spPr>
          <a:xfrm>
            <a:off x="6096000" y="1202075"/>
            <a:ext cx="5731510" cy="4756935"/>
          </a:xfrm>
          <a:prstGeom prst="rect">
            <a:avLst/>
          </a:prstGeom>
        </p:spPr>
      </p:pic>
      <p:pic>
        <p:nvPicPr>
          <p:cNvPr id="3" name="Picture 7">
            <a:extLst>
              <a:ext uri="{FF2B5EF4-FFF2-40B4-BE49-F238E27FC236}">
                <a16:creationId xmlns:a16="http://schemas.microsoft.com/office/drawing/2014/main" id="{E1AFE9E2-F0F7-BB1E-93F9-F5155A7A9585}"/>
              </a:ext>
            </a:extLst>
          </p:cNvPr>
          <p:cNvPicPr>
            <a:picLocks noChangeAspect="1"/>
          </p:cNvPicPr>
          <p:nvPr/>
        </p:nvPicPr>
        <p:blipFill>
          <a:blip r:embed="rId3"/>
          <a:stretch>
            <a:fillRect/>
          </a:stretch>
        </p:blipFill>
        <p:spPr>
          <a:xfrm>
            <a:off x="225323" y="1202075"/>
            <a:ext cx="5731510" cy="4756935"/>
          </a:xfrm>
          <a:prstGeom prst="rect">
            <a:avLst/>
          </a:prstGeom>
        </p:spPr>
      </p:pic>
      <p:sp>
        <p:nvSpPr>
          <p:cNvPr id="6" name="ZoneTexte 5">
            <a:extLst>
              <a:ext uri="{FF2B5EF4-FFF2-40B4-BE49-F238E27FC236}">
                <a16:creationId xmlns:a16="http://schemas.microsoft.com/office/drawing/2014/main" id="{92341CA7-8345-D566-9EF1-CD19319FE8A1}"/>
              </a:ext>
            </a:extLst>
          </p:cNvPr>
          <p:cNvSpPr txBox="1"/>
          <p:nvPr/>
        </p:nvSpPr>
        <p:spPr>
          <a:xfrm>
            <a:off x="388901" y="714119"/>
            <a:ext cx="4950284" cy="369332"/>
          </a:xfrm>
          <a:prstGeom prst="rect">
            <a:avLst/>
          </a:prstGeom>
          <a:noFill/>
        </p:spPr>
        <p:txBody>
          <a:bodyPr wrap="square">
            <a:spAutoFit/>
          </a:bodyPr>
          <a:lstStyle/>
          <a:p>
            <a:pPr marL="342900" indent="-342900" algn="ctr">
              <a:spcBef>
                <a:spcPts val="300"/>
              </a:spcBef>
              <a:spcAft>
                <a:spcPts val="300"/>
              </a:spcAft>
              <a:buFont typeface="+mj-lt"/>
              <a:buAutoNum type="arabicPeriod" startAt="2"/>
            </a:pPr>
            <a:r>
              <a:rPr lang="fr-HT" b="1" dirty="0">
                <a:effectLst/>
                <a:latin typeface="Arial" panose="020B0604020202020204" pitchFamily="34" charset="0"/>
                <a:ea typeface="Arial" panose="020B0604020202020204" pitchFamily="34" charset="0"/>
              </a:rPr>
              <a:t> </a:t>
            </a:r>
            <a:r>
              <a:rPr lang="fr-FR" sz="1600" dirty="0">
                <a:latin typeface="Arial" panose="020B0604020202020204" pitchFamily="34" charset="0"/>
                <a:cs typeface="Arial" panose="020B0604020202020204" pitchFamily="34" charset="0"/>
              </a:rPr>
              <a:t>Copie la clé publique sur le serveur</a:t>
            </a:r>
            <a:endParaRPr lang="en-US" dirty="0">
              <a:latin typeface="Arial" panose="020B060402020202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F442079D-75A3-0F12-C25C-3A11088CBE6B}"/>
              </a:ext>
            </a:extLst>
          </p:cNvPr>
          <p:cNvSpPr txBox="1"/>
          <p:nvPr/>
        </p:nvSpPr>
        <p:spPr>
          <a:xfrm>
            <a:off x="6363128" y="744897"/>
            <a:ext cx="4950284" cy="338554"/>
          </a:xfrm>
          <a:prstGeom prst="rect">
            <a:avLst/>
          </a:prstGeom>
          <a:noFill/>
        </p:spPr>
        <p:txBody>
          <a:bodyPr wrap="square">
            <a:spAutoFit/>
          </a:bodyPr>
          <a:lstStyle/>
          <a:p>
            <a:pPr marL="342900" indent="-342900" algn="ctr">
              <a:spcBef>
                <a:spcPts val="300"/>
              </a:spcBef>
              <a:spcAft>
                <a:spcPts val="300"/>
              </a:spcAft>
              <a:buFont typeface="+mj-lt"/>
              <a:buAutoNum type="arabicPeriod" startAt="3"/>
            </a:pPr>
            <a:r>
              <a:rPr lang="fr-FR" sz="1600" dirty="0">
                <a:latin typeface="Arial" panose="020B0604020202020204" pitchFamily="34" charset="0"/>
                <a:cs typeface="Arial" panose="020B0604020202020204" pitchFamily="34" charset="0"/>
              </a:rPr>
              <a:t>Teste la connexion par clé avant de continuer</a:t>
            </a:r>
            <a:r>
              <a:rPr lang="fr-HT" sz="1600" dirty="0">
                <a:effectLst/>
                <a:latin typeface="Arial" panose="020B0604020202020204" pitchFamily="34" charset="0"/>
                <a:ea typeface="Arial" panose="020B0604020202020204" pitchFamily="34" charset="0"/>
              </a:rPr>
              <a:t> </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8561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40DCA2B-A510-0E0E-7E3A-C4E3361A929C}"/>
              </a:ext>
            </a:extLst>
          </p:cNvPr>
          <p:cNvSpPr txBox="1">
            <a:spLocks/>
          </p:cNvSpPr>
          <p:nvPr/>
        </p:nvSpPr>
        <p:spPr>
          <a:xfrm>
            <a:off x="1582984" y="167306"/>
            <a:ext cx="9580745" cy="5979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spc="150" baseline="0">
                <a:solidFill>
                  <a:schemeClr val="tx1">
                    <a:lumMod val="75000"/>
                    <a:lumOff val="25000"/>
                  </a:schemeClr>
                </a:solidFill>
                <a:latin typeface="+mj-lt"/>
                <a:ea typeface="+mj-ea"/>
                <a:cs typeface="+mj-cs"/>
              </a:defRPr>
            </a:lvl1pPr>
          </a:lstStyle>
          <a:p>
            <a:pPr algn="ctr"/>
            <a:r>
              <a:rPr lang="fr-FR" sz="2200" b="1" dirty="0">
                <a:solidFill>
                  <a:srgbClr val="0070C0"/>
                </a:solidFill>
                <a:latin typeface="Arial" panose="020B0604020202020204" pitchFamily="34" charset="0"/>
                <a:cs typeface="Arial" panose="020B0604020202020204" pitchFamily="34" charset="0"/>
              </a:rPr>
              <a:t>2. DESACTIVATION DU LOGIN ROOT</a:t>
            </a:r>
            <a:endParaRPr lang="en-US" sz="2200" b="1" dirty="0">
              <a:solidFill>
                <a:srgbClr val="0070C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A09F8CA-08FC-4BE7-38B2-3449DF5D84F2}"/>
              </a:ext>
            </a:extLst>
          </p:cNvPr>
          <p:cNvPicPr>
            <a:picLocks noChangeAspect="1"/>
          </p:cNvPicPr>
          <p:nvPr/>
        </p:nvPicPr>
        <p:blipFill>
          <a:blip r:embed="rId2"/>
          <a:stretch>
            <a:fillRect/>
          </a:stretch>
        </p:blipFill>
        <p:spPr>
          <a:xfrm>
            <a:off x="493923" y="1802875"/>
            <a:ext cx="5731510" cy="390525"/>
          </a:xfrm>
          <a:prstGeom prst="rect">
            <a:avLst/>
          </a:prstGeom>
        </p:spPr>
      </p:pic>
      <p:pic>
        <p:nvPicPr>
          <p:cNvPr id="7" name="Picture 6">
            <a:extLst>
              <a:ext uri="{FF2B5EF4-FFF2-40B4-BE49-F238E27FC236}">
                <a16:creationId xmlns:a16="http://schemas.microsoft.com/office/drawing/2014/main" id="{0D061A74-C6A0-B6DB-83F3-7B7E52E4D57B}"/>
              </a:ext>
            </a:extLst>
          </p:cNvPr>
          <p:cNvPicPr>
            <a:picLocks noChangeAspect="1"/>
          </p:cNvPicPr>
          <p:nvPr/>
        </p:nvPicPr>
        <p:blipFill>
          <a:blip r:embed="rId3"/>
          <a:stretch>
            <a:fillRect/>
          </a:stretch>
        </p:blipFill>
        <p:spPr>
          <a:xfrm>
            <a:off x="493923" y="2266462"/>
            <a:ext cx="5731510" cy="4396105"/>
          </a:xfrm>
          <a:prstGeom prst="rect">
            <a:avLst/>
          </a:prstGeom>
        </p:spPr>
      </p:pic>
      <p:sp>
        <p:nvSpPr>
          <p:cNvPr id="2" name="Content Placeholder 2">
            <a:extLst>
              <a:ext uri="{FF2B5EF4-FFF2-40B4-BE49-F238E27FC236}">
                <a16:creationId xmlns:a16="http://schemas.microsoft.com/office/drawing/2014/main" id="{6903A00F-85D1-E995-35C2-8C7CD8724DF9}"/>
              </a:ext>
            </a:extLst>
          </p:cNvPr>
          <p:cNvSpPr txBox="1">
            <a:spLocks/>
          </p:cNvSpPr>
          <p:nvPr/>
        </p:nvSpPr>
        <p:spPr>
          <a:xfrm>
            <a:off x="436327" y="765299"/>
            <a:ext cx="11578212" cy="103757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1800" b="1" dirty="0">
                <a:solidFill>
                  <a:srgbClr val="0070C0"/>
                </a:solidFill>
                <a:latin typeface="Arial" panose="020B0604020202020204" pitchFamily="34" charset="0"/>
                <a:cs typeface="Arial" panose="020B0604020202020204" pitchFamily="34" charset="0"/>
              </a:rPr>
              <a:t>Objectif</a:t>
            </a:r>
          </a:p>
          <a:p>
            <a:pPr marL="0" indent="0">
              <a:buNone/>
            </a:pPr>
            <a:r>
              <a:rPr lang="fr-FR" sz="1600" b="1" dirty="0">
                <a:latin typeface="Arial" panose="020B0604020202020204" pitchFamily="34" charset="0"/>
                <a:cs typeface="Arial" panose="020B0604020202020204" pitchFamily="34" charset="0"/>
              </a:rPr>
              <a:t>Le compte « root» est la cible principale des attaques automatisées. Le désactiver force les attaquants à deviner en plus le nom d'utilisateur, réduisant ainsi considérablement la surface d'attaque.</a:t>
            </a:r>
            <a:br>
              <a:rPr lang="fr-FR" dirty="0"/>
            </a:br>
            <a:endParaRPr lang="fr-FR" dirty="0"/>
          </a:p>
          <a:p>
            <a:pPr marL="0" indent="0">
              <a:buNone/>
            </a:pPr>
            <a:endParaRPr lang="en-US" sz="1600" b="1" noProof="1">
              <a:latin typeface="Arial" panose="020B0604020202020204" pitchFamily="34" charset="0"/>
              <a:cs typeface="Arial" panose="020B0604020202020204" pitchFamily="34" charset="0"/>
            </a:endParaRPr>
          </a:p>
        </p:txBody>
      </p:sp>
      <p:sp>
        <p:nvSpPr>
          <p:cNvPr id="8" name="ZoneTexte 7">
            <a:extLst>
              <a:ext uri="{FF2B5EF4-FFF2-40B4-BE49-F238E27FC236}">
                <a16:creationId xmlns:a16="http://schemas.microsoft.com/office/drawing/2014/main" id="{96BFFE17-AA88-2892-EF26-0B1E822E3AB4}"/>
              </a:ext>
            </a:extLst>
          </p:cNvPr>
          <p:cNvSpPr txBox="1"/>
          <p:nvPr/>
        </p:nvSpPr>
        <p:spPr>
          <a:xfrm>
            <a:off x="6559966" y="2528753"/>
            <a:ext cx="5362105" cy="1800493"/>
          </a:xfrm>
          <a:prstGeom prst="rect">
            <a:avLst/>
          </a:prstGeom>
          <a:noFill/>
        </p:spPr>
        <p:txBody>
          <a:bodyPr wrap="square">
            <a:spAutoFit/>
          </a:bodyPr>
          <a:lstStyle/>
          <a:p>
            <a:pPr algn="ctr">
              <a:spcBef>
                <a:spcPts val="300"/>
              </a:spcBef>
              <a:spcAft>
                <a:spcPts val="300"/>
              </a:spcAft>
            </a:pPr>
            <a:r>
              <a:rPr lang="en-US" b="1" dirty="0">
                <a:latin typeface="Arial" panose="020B0604020202020204" pitchFamily="34" charset="0"/>
                <a:cs typeface="Arial" panose="020B0604020202020204" pitchFamily="34" charset="0"/>
              </a:rPr>
              <a:t>Modification de </a:t>
            </a:r>
            <a:r>
              <a:rPr lang="en-US" b="1" dirty="0" err="1">
                <a:latin typeface="Arial" panose="020B0604020202020204" pitchFamily="34" charset="0"/>
                <a:cs typeface="Arial" panose="020B0604020202020204" pitchFamily="34" charset="0"/>
              </a:rPr>
              <a:t>ces</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lignes</a:t>
            </a:r>
            <a:r>
              <a:rPr lang="en-US" b="1" dirty="0">
                <a:latin typeface="Arial" panose="020B0604020202020204" pitchFamily="34" charset="0"/>
                <a:cs typeface="Arial" panose="020B0604020202020204" pitchFamily="34" charset="0"/>
              </a:rPr>
              <a:t> dans le </a:t>
            </a:r>
            <a:r>
              <a:rPr lang="en-US" b="1" dirty="0" err="1">
                <a:latin typeface="Arial" panose="020B0604020202020204" pitchFamily="34" charset="0"/>
                <a:cs typeface="Arial" panose="020B0604020202020204" pitchFamily="34" charset="0"/>
              </a:rPr>
              <a:t>fichier</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sshd</a:t>
            </a:r>
            <a:r>
              <a:rPr lang="en-US" b="1" dirty="0">
                <a:latin typeface="Arial" panose="020B0604020202020204" pitchFamily="34" charset="0"/>
                <a:cs typeface="Arial" panose="020B0604020202020204" pitchFamily="34" charset="0"/>
              </a:rPr>
              <a:t>:</a:t>
            </a:r>
          </a:p>
          <a:p>
            <a:pPr marL="285750" indent="-285750">
              <a:spcBef>
                <a:spcPts val="300"/>
              </a:spcBef>
              <a:spcAft>
                <a:spcPts val="300"/>
              </a:spcAft>
              <a:buFont typeface="Wingdings" panose="05000000000000000000" pitchFamily="2" charset="2"/>
              <a:buChar char="ü"/>
            </a:pPr>
            <a:r>
              <a:rPr lang="en-US" sz="2000" dirty="0" err="1">
                <a:latin typeface="Arial" panose="020B0604020202020204" pitchFamily="34" charset="0"/>
                <a:cs typeface="Arial" panose="020B0604020202020204" pitchFamily="34" charset="0"/>
              </a:rPr>
              <a:t>PermitRootlogin</a:t>
            </a:r>
            <a:r>
              <a:rPr lang="en-US" sz="2000" dirty="0">
                <a:latin typeface="Arial" panose="020B0604020202020204" pitchFamily="34" charset="0"/>
                <a:cs typeface="Arial" panose="020B0604020202020204" pitchFamily="34" charset="0"/>
              </a:rPr>
              <a:t> no</a:t>
            </a:r>
          </a:p>
          <a:p>
            <a:pPr marL="285750" indent="-285750">
              <a:spcBef>
                <a:spcPts val="300"/>
              </a:spcBef>
              <a:spcAft>
                <a:spcPts val="300"/>
              </a:spcAft>
              <a:buFont typeface="Wingdings" panose="05000000000000000000" pitchFamily="2" charset="2"/>
              <a:buChar char="ü"/>
            </a:pPr>
            <a:r>
              <a:rPr lang="en-US" sz="2000" dirty="0" err="1">
                <a:latin typeface="Arial" panose="020B0604020202020204" pitchFamily="34" charset="0"/>
                <a:cs typeface="Arial" panose="020B0604020202020204" pitchFamily="34" charset="0"/>
              </a:rPr>
              <a:t>PasswordAuthentication</a:t>
            </a:r>
            <a:r>
              <a:rPr lang="en-US" sz="2000" dirty="0">
                <a:latin typeface="Arial" panose="020B0604020202020204" pitchFamily="34" charset="0"/>
                <a:cs typeface="Arial" panose="020B0604020202020204" pitchFamily="34" charset="0"/>
              </a:rPr>
              <a:t> no</a:t>
            </a:r>
          </a:p>
          <a:p>
            <a:pPr marL="285750" indent="-285750">
              <a:spcBef>
                <a:spcPts val="300"/>
              </a:spcBef>
              <a:spcAft>
                <a:spcPts val="300"/>
              </a:spcAft>
              <a:buFont typeface="Wingdings" panose="05000000000000000000" pitchFamily="2" charset="2"/>
              <a:buChar char="ü"/>
            </a:pPr>
            <a:r>
              <a:rPr lang="en-US" sz="2000" dirty="0" err="1">
                <a:latin typeface="Arial" panose="020B0604020202020204" pitchFamily="34" charset="0"/>
                <a:cs typeface="Arial" panose="020B0604020202020204" pitchFamily="34" charset="0"/>
              </a:rPr>
              <a:t>PubkeyAuthentication</a:t>
            </a:r>
            <a:r>
              <a:rPr lang="en-US" sz="2000" dirty="0">
                <a:latin typeface="Arial" panose="020B0604020202020204" pitchFamily="34" charset="0"/>
                <a:cs typeface="Arial" panose="020B0604020202020204" pitchFamily="34" charset="0"/>
              </a:rPr>
              <a:t> yes</a:t>
            </a:r>
            <a:br>
              <a:rPr lang="en-US"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7789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6214009" y="2556888"/>
            <a:ext cx="5667119" cy="1039495"/>
          </a:xfrm>
        </p:spPr>
        <p:txBody>
          <a:bodyPr vert="horz" lIns="91440" tIns="45720" rIns="91440" bIns="45720" rtlCol="0" anchor="t">
            <a:normAutofit lnSpcReduction="10000"/>
          </a:bodyPr>
          <a:lstStyle/>
          <a:p>
            <a:pPr marL="285750" indent="-285750" algn="ctr">
              <a:buFont typeface="Wingdings" panose="05000000000000000000" pitchFamily="2" charset="2"/>
              <a:buChar char="v"/>
            </a:pPr>
            <a:r>
              <a:rPr lang="fr-FR" sz="1400" b="1" cap="none" dirty="0">
                <a:solidFill>
                  <a:schemeClr val="tx1"/>
                </a:solidFill>
                <a:latin typeface="Arial" panose="020B0604020202020204" pitchFamily="34" charset="0"/>
                <a:cs typeface="Arial" panose="020B0604020202020204" pitchFamily="34" charset="0"/>
              </a:rPr>
              <a:t>Sur les versions récentes </a:t>
            </a:r>
            <a:r>
              <a:rPr lang="fr-FR" sz="1400" b="1" cap="none" dirty="0" err="1">
                <a:solidFill>
                  <a:schemeClr val="tx1"/>
                </a:solidFill>
                <a:latin typeface="Arial" panose="020B0604020202020204" pitchFamily="34" charset="0"/>
                <a:cs typeface="Arial" panose="020B0604020202020204" pitchFamily="34" charset="0"/>
              </a:rPr>
              <a:t>d'ubuntu</a:t>
            </a:r>
            <a:r>
              <a:rPr lang="fr-FR" sz="1400" b="1" cap="none" dirty="0">
                <a:solidFill>
                  <a:schemeClr val="tx1"/>
                </a:solidFill>
                <a:latin typeface="Arial" panose="020B0604020202020204" pitchFamily="34" charset="0"/>
                <a:cs typeface="Arial" panose="020B0604020202020204" pitchFamily="34" charset="0"/>
              </a:rPr>
              <a:t>, SSH est géré par un «  socket </a:t>
            </a:r>
            <a:r>
              <a:rPr lang="fr-FR" sz="1400" b="1" cap="none" dirty="0" err="1">
                <a:solidFill>
                  <a:schemeClr val="tx1"/>
                </a:solidFill>
                <a:latin typeface="Arial" panose="020B0604020202020204" pitchFamily="34" charset="0"/>
                <a:cs typeface="Arial" panose="020B0604020202020204" pitchFamily="34" charset="0"/>
              </a:rPr>
              <a:t>systemd</a:t>
            </a:r>
            <a:r>
              <a:rPr lang="fr-FR" sz="1400" b="1" cap="none" dirty="0">
                <a:solidFill>
                  <a:schemeClr val="tx1"/>
                </a:solidFill>
                <a:latin typeface="Arial" panose="020B0604020202020204" pitchFamily="34" charset="0"/>
                <a:cs typeface="Arial" panose="020B0604020202020204" pitchFamily="34" charset="0"/>
              </a:rPr>
              <a:t>  » qui contrôle le port, et non uniquement par `</a:t>
            </a:r>
            <a:r>
              <a:rPr lang="fr-FR" sz="1400" b="1" cap="none" dirty="0" err="1">
                <a:solidFill>
                  <a:schemeClr val="tx1"/>
                </a:solidFill>
                <a:latin typeface="Arial" panose="020B0604020202020204" pitchFamily="34" charset="0"/>
                <a:cs typeface="Arial" panose="020B0604020202020204" pitchFamily="34" charset="0"/>
              </a:rPr>
              <a:t>sshd_config</a:t>
            </a:r>
            <a:r>
              <a:rPr lang="fr-FR" sz="1400" b="1" cap="none" dirty="0">
                <a:solidFill>
                  <a:schemeClr val="tx1"/>
                </a:solidFill>
                <a:latin typeface="Arial" panose="020B0604020202020204" pitchFamily="34" charset="0"/>
                <a:cs typeface="Arial" panose="020B0604020202020204" pitchFamily="34" charset="0"/>
              </a:rPr>
              <a:t>`. Si le changement de port n'a pas d'effet, il faut modifier le socket SSH :</a:t>
            </a:r>
          </a:p>
          <a:p>
            <a:endParaRPr lang="en-US" noProof="1">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147C519B-EF99-C94B-F102-BB94B3BB1302}"/>
              </a:ext>
            </a:extLst>
          </p:cNvPr>
          <p:cNvSpPr>
            <a:spLocks noGrp="1"/>
          </p:cNvSpPr>
          <p:nvPr>
            <p:ph type="title"/>
          </p:nvPr>
        </p:nvSpPr>
        <p:spPr>
          <a:xfrm>
            <a:off x="2147298" y="121028"/>
            <a:ext cx="7732160" cy="597993"/>
          </a:xfrm>
        </p:spPr>
        <p:txBody>
          <a:bodyPr>
            <a:normAutofit/>
          </a:bodyPr>
          <a:lstStyle/>
          <a:p>
            <a:pPr algn="ctr"/>
            <a:r>
              <a:rPr lang="fr-FR" sz="2200" b="1" dirty="0">
                <a:solidFill>
                  <a:srgbClr val="0070C0"/>
                </a:solidFill>
                <a:latin typeface="Arial" panose="020B0604020202020204" pitchFamily="34" charset="0"/>
                <a:cs typeface="Arial" panose="020B0604020202020204" pitchFamily="34" charset="0"/>
              </a:rPr>
              <a:t>3. Changement du port </a:t>
            </a:r>
            <a:r>
              <a:rPr lang="fr-FR" sz="2200" b="1" dirty="0" err="1">
                <a:solidFill>
                  <a:srgbClr val="0070C0"/>
                </a:solidFill>
                <a:latin typeface="Arial" panose="020B0604020202020204" pitchFamily="34" charset="0"/>
                <a:cs typeface="Arial" panose="020B0604020202020204" pitchFamily="34" charset="0"/>
              </a:rPr>
              <a:t>ssh</a:t>
            </a:r>
            <a:endParaRPr lang="en-US" sz="2200" b="1" dirty="0">
              <a:solidFill>
                <a:srgbClr val="0070C0"/>
              </a:solidFill>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6314EDBE-B9D1-B244-51FA-9DC33C72A2AE}"/>
              </a:ext>
            </a:extLst>
          </p:cNvPr>
          <p:cNvPicPr>
            <a:picLocks noChangeAspect="1"/>
          </p:cNvPicPr>
          <p:nvPr/>
        </p:nvPicPr>
        <p:blipFill>
          <a:blip r:embed="rId2"/>
          <a:stretch>
            <a:fillRect/>
          </a:stretch>
        </p:blipFill>
        <p:spPr>
          <a:xfrm>
            <a:off x="260280" y="1882328"/>
            <a:ext cx="5835720" cy="1039495"/>
          </a:xfrm>
          <a:prstGeom prst="rect">
            <a:avLst/>
          </a:prstGeom>
        </p:spPr>
      </p:pic>
      <p:pic>
        <p:nvPicPr>
          <p:cNvPr id="23" name="Picture 22">
            <a:extLst>
              <a:ext uri="{FF2B5EF4-FFF2-40B4-BE49-F238E27FC236}">
                <a16:creationId xmlns:a16="http://schemas.microsoft.com/office/drawing/2014/main" id="{E88C1C16-2550-BDA7-DFC7-634B3969F783}"/>
              </a:ext>
            </a:extLst>
          </p:cNvPr>
          <p:cNvPicPr>
            <a:picLocks noChangeAspect="1"/>
          </p:cNvPicPr>
          <p:nvPr/>
        </p:nvPicPr>
        <p:blipFill>
          <a:blip r:embed="rId3"/>
          <a:stretch>
            <a:fillRect/>
          </a:stretch>
        </p:blipFill>
        <p:spPr>
          <a:xfrm>
            <a:off x="260281" y="3503159"/>
            <a:ext cx="5835720" cy="3218316"/>
          </a:xfrm>
          <a:prstGeom prst="rect">
            <a:avLst/>
          </a:prstGeom>
        </p:spPr>
      </p:pic>
      <p:pic>
        <p:nvPicPr>
          <p:cNvPr id="26" name="Picture 25">
            <a:extLst>
              <a:ext uri="{FF2B5EF4-FFF2-40B4-BE49-F238E27FC236}">
                <a16:creationId xmlns:a16="http://schemas.microsoft.com/office/drawing/2014/main" id="{479F9466-7CE1-3B66-F8C2-392F51B56D4E}"/>
              </a:ext>
            </a:extLst>
          </p:cNvPr>
          <p:cNvPicPr>
            <a:picLocks noChangeAspect="1"/>
          </p:cNvPicPr>
          <p:nvPr/>
        </p:nvPicPr>
        <p:blipFill>
          <a:blip r:embed="rId4"/>
          <a:stretch>
            <a:fillRect/>
          </a:stretch>
        </p:blipFill>
        <p:spPr>
          <a:xfrm>
            <a:off x="6778446" y="1927046"/>
            <a:ext cx="4778655" cy="341484"/>
          </a:xfrm>
          <a:prstGeom prst="rect">
            <a:avLst/>
          </a:prstGeom>
        </p:spPr>
      </p:pic>
      <p:sp>
        <p:nvSpPr>
          <p:cNvPr id="2" name="Content Placeholder 2">
            <a:extLst>
              <a:ext uri="{FF2B5EF4-FFF2-40B4-BE49-F238E27FC236}">
                <a16:creationId xmlns:a16="http://schemas.microsoft.com/office/drawing/2014/main" id="{4491B0B1-975C-4378-0DC9-CDC469E06FA2}"/>
              </a:ext>
            </a:extLst>
          </p:cNvPr>
          <p:cNvSpPr txBox="1">
            <a:spLocks/>
          </p:cNvSpPr>
          <p:nvPr/>
        </p:nvSpPr>
        <p:spPr>
          <a:xfrm>
            <a:off x="0" y="610485"/>
            <a:ext cx="11578212" cy="9511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1800" b="1" noProof="1">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1282C9D-02FC-561A-A85B-D77980723397}"/>
              </a:ext>
            </a:extLst>
          </p:cNvPr>
          <p:cNvSpPr txBox="1">
            <a:spLocks/>
          </p:cNvSpPr>
          <p:nvPr/>
        </p:nvSpPr>
        <p:spPr>
          <a:xfrm>
            <a:off x="306894" y="492134"/>
            <a:ext cx="11578212" cy="91636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1800" b="1" dirty="0">
                <a:solidFill>
                  <a:srgbClr val="0070C0"/>
                </a:solidFill>
                <a:latin typeface="Arial" panose="020B0604020202020204" pitchFamily="34" charset="0"/>
                <a:cs typeface="Arial" panose="020B0604020202020204" pitchFamily="34" charset="0"/>
              </a:rPr>
              <a:t>Objectif</a:t>
            </a:r>
          </a:p>
          <a:p>
            <a:pPr marL="0" indent="0">
              <a:buNone/>
            </a:pPr>
            <a:r>
              <a:rPr lang="fr-FR" sz="1600" b="1" dirty="0">
                <a:latin typeface="Arial" panose="020B0604020202020204" pitchFamily="34" charset="0"/>
                <a:cs typeface="Arial" panose="020B0604020202020204" pitchFamily="34" charset="0"/>
              </a:rPr>
              <a:t>Le port 22 est scanné en permanence par des robots automatisés. Changer le port d'écoute réduit considérablement le nombre de tentatives d'intrusion visibles dans les journaux système.</a:t>
            </a:r>
          </a:p>
        </p:txBody>
      </p:sp>
      <p:sp>
        <p:nvSpPr>
          <p:cNvPr id="6" name="ZoneTexte 5">
            <a:extLst>
              <a:ext uri="{FF2B5EF4-FFF2-40B4-BE49-F238E27FC236}">
                <a16:creationId xmlns:a16="http://schemas.microsoft.com/office/drawing/2014/main" id="{2EEA4E53-C27A-8D7B-B816-A2FFBF548FEB}"/>
              </a:ext>
            </a:extLst>
          </p:cNvPr>
          <p:cNvSpPr txBox="1"/>
          <p:nvPr/>
        </p:nvSpPr>
        <p:spPr>
          <a:xfrm>
            <a:off x="482499" y="2982023"/>
            <a:ext cx="5731510" cy="638636"/>
          </a:xfrm>
          <a:prstGeom prst="rect">
            <a:avLst/>
          </a:prstGeom>
          <a:noFill/>
        </p:spPr>
        <p:txBody>
          <a:bodyPr wrap="square">
            <a:spAutoFit/>
          </a:bodyPr>
          <a:lstStyle/>
          <a:p>
            <a:pPr marL="342900" indent="-342900">
              <a:lnSpc>
                <a:spcPts val="1425"/>
              </a:lnSpc>
              <a:buFont typeface="+mj-lt"/>
              <a:buAutoNum type="arabicPeriod" startAt="2"/>
            </a:pPr>
            <a:r>
              <a:rPr lang="fr-FR" dirty="0">
                <a:latin typeface="Arial" panose="020B0604020202020204" pitchFamily="34" charset="0"/>
                <a:cs typeface="Arial" panose="020B0604020202020204" pitchFamily="34" charset="0"/>
              </a:rPr>
              <a:t>Ouverture du nouveau port dans le pare-feu avant de redémarrer SSH</a:t>
            </a:r>
          </a:p>
          <a:p>
            <a:pPr marL="342900" indent="-342900">
              <a:lnSpc>
                <a:spcPts val="1425"/>
              </a:lnSpc>
              <a:buFont typeface="+mj-lt"/>
              <a:buAutoNum type="arabicPeriod" startAt="2"/>
            </a:pPr>
            <a:endParaRPr lang="fr-FR" dirty="0">
              <a:effectLst/>
              <a:latin typeface="Arial" panose="020B060402020202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D84812BE-B5B9-C332-3826-D22AA2128B26}"/>
              </a:ext>
            </a:extLst>
          </p:cNvPr>
          <p:cNvSpPr txBox="1"/>
          <p:nvPr/>
        </p:nvSpPr>
        <p:spPr>
          <a:xfrm>
            <a:off x="562582" y="1535768"/>
            <a:ext cx="6215864" cy="286360"/>
          </a:xfrm>
          <a:prstGeom prst="rect">
            <a:avLst/>
          </a:prstGeom>
          <a:noFill/>
        </p:spPr>
        <p:txBody>
          <a:bodyPr wrap="square">
            <a:spAutoFit/>
          </a:bodyPr>
          <a:lstStyle/>
          <a:p>
            <a:pPr marL="342900" indent="-342900">
              <a:lnSpc>
                <a:spcPts val="1425"/>
              </a:lnSpc>
              <a:buFont typeface="+mj-lt"/>
              <a:buAutoNum type="arabicPeriod"/>
            </a:pPr>
            <a:r>
              <a:rPr lang="fr-FR" dirty="0">
                <a:effectLst/>
                <a:latin typeface="Arial" panose="020B0604020202020204" pitchFamily="34" charset="0"/>
                <a:cs typeface="Arial" panose="020B0604020202020204" pitchFamily="34" charset="0"/>
              </a:rPr>
              <a:t>Modification du fichier </a:t>
            </a:r>
            <a:r>
              <a:rPr lang="fr-FR" dirty="0" err="1">
                <a:effectLst/>
                <a:latin typeface="Arial" panose="020B0604020202020204" pitchFamily="34" charset="0"/>
                <a:cs typeface="Arial" panose="020B0604020202020204" pitchFamily="34" charset="0"/>
              </a:rPr>
              <a:t>sshd_config</a:t>
            </a:r>
            <a:endParaRPr lang="fr-FR" dirty="0">
              <a:effectLst/>
              <a:latin typeface="Arial" panose="020B0604020202020204" pitchFamily="34" charset="0"/>
              <a:cs typeface="Arial" panose="020B0604020202020204" pitchFamily="34" charset="0"/>
            </a:endParaRPr>
          </a:p>
        </p:txBody>
      </p:sp>
      <p:sp>
        <p:nvSpPr>
          <p:cNvPr id="8" name="ZoneTexte 7">
            <a:extLst>
              <a:ext uri="{FF2B5EF4-FFF2-40B4-BE49-F238E27FC236}">
                <a16:creationId xmlns:a16="http://schemas.microsoft.com/office/drawing/2014/main" id="{5838E2A9-14A4-5258-CE37-D7D4A6853F3F}"/>
              </a:ext>
            </a:extLst>
          </p:cNvPr>
          <p:cNvSpPr txBox="1"/>
          <p:nvPr/>
        </p:nvSpPr>
        <p:spPr>
          <a:xfrm>
            <a:off x="6859192" y="1638688"/>
            <a:ext cx="5426710" cy="459100"/>
          </a:xfrm>
          <a:prstGeom prst="rect">
            <a:avLst/>
          </a:prstGeom>
          <a:noFill/>
        </p:spPr>
        <p:txBody>
          <a:bodyPr wrap="square">
            <a:spAutoFit/>
          </a:bodyPr>
          <a:lstStyle/>
          <a:p>
            <a:pPr marL="342900" indent="-342900">
              <a:lnSpc>
                <a:spcPts val="1425"/>
              </a:lnSpc>
              <a:buFont typeface="+mj-lt"/>
              <a:buAutoNum type="arabicPeriod" startAt="3"/>
            </a:pPr>
            <a:r>
              <a:rPr lang="en-US" dirty="0" err="1">
                <a:latin typeface="Arial" panose="020B0604020202020204" pitchFamily="34" charset="0"/>
                <a:cs typeface="Arial" panose="020B0604020202020204" pitchFamily="34" charset="0"/>
              </a:rPr>
              <a:t>Redémarrage</a:t>
            </a:r>
            <a:r>
              <a:rPr lang="en-US" dirty="0">
                <a:latin typeface="Arial" panose="020B0604020202020204" pitchFamily="34" charset="0"/>
                <a:cs typeface="Arial" panose="020B0604020202020204" pitchFamily="34" charset="0"/>
              </a:rPr>
              <a:t> du service SSH</a:t>
            </a:r>
          </a:p>
          <a:p>
            <a:pPr>
              <a:lnSpc>
                <a:spcPts val="1425"/>
              </a:lnSpc>
            </a:pPr>
            <a:endParaRPr lang="fr-FR" dirty="0">
              <a:effectLst/>
              <a:latin typeface="Arial" panose="020B0604020202020204" pitchFamily="34" charset="0"/>
              <a:cs typeface="Arial" panose="020B0604020202020204" pitchFamily="34" charset="0"/>
            </a:endParaRPr>
          </a:p>
        </p:txBody>
      </p:sp>
      <p:pic>
        <p:nvPicPr>
          <p:cNvPr id="9" name="Picture 26">
            <a:extLst>
              <a:ext uri="{FF2B5EF4-FFF2-40B4-BE49-F238E27FC236}">
                <a16:creationId xmlns:a16="http://schemas.microsoft.com/office/drawing/2014/main" id="{A0979621-8625-8860-81C6-3B6F4B2F8E32}"/>
              </a:ext>
            </a:extLst>
          </p:cNvPr>
          <p:cNvPicPr>
            <a:picLocks noChangeAspect="1"/>
          </p:cNvPicPr>
          <p:nvPr/>
        </p:nvPicPr>
        <p:blipFill>
          <a:blip r:embed="rId5"/>
          <a:stretch>
            <a:fillRect/>
          </a:stretch>
        </p:blipFill>
        <p:spPr>
          <a:xfrm>
            <a:off x="6778446" y="3583244"/>
            <a:ext cx="4799766" cy="638635"/>
          </a:xfrm>
          <a:prstGeom prst="rect">
            <a:avLst/>
          </a:prstGeom>
        </p:spPr>
      </p:pic>
      <p:pic>
        <p:nvPicPr>
          <p:cNvPr id="11" name="Picture 27">
            <a:extLst>
              <a:ext uri="{FF2B5EF4-FFF2-40B4-BE49-F238E27FC236}">
                <a16:creationId xmlns:a16="http://schemas.microsoft.com/office/drawing/2014/main" id="{06099A7A-36AC-4FEF-4BFE-7F4F34407C5C}"/>
              </a:ext>
            </a:extLst>
          </p:cNvPr>
          <p:cNvPicPr>
            <a:picLocks noChangeAspect="1"/>
          </p:cNvPicPr>
          <p:nvPr/>
        </p:nvPicPr>
        <p:blipFill>
          <a:blip r:embed="rId6"/>
          <a:stretch>
            <a:fillRect/>
          </a:stretch>
        </p:blipFill>
        <p:spPr>
          <a:xfrm>
            <a:off x="6778445" y="4331143"/>
            <a:ext cx="4799765" cy="2352675"/>
          </a:xfrm>
          <a:prstGeom prst="rect">
            <a:avLst/>
          </a:prstGeom>
        </p:spPr>
      </p:pic>
    </p:spTree>
    <p:extLst>
      <p:ext uri="{BB962C8B-B14F-4D97-AF65-F5344CB8AC3E}">
        <p14:creationId xmlns:p14="http://schemas.microsoft.com/office/powerpoint/2010/main" val="2069393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370131" y="646332"/>
            <a:ext cx="10316110" cy="666800"/>
          </a:xfrm>
        </p:spPr>
        <p:txBody>
          <a:bodyPr>
            <a:normAutofit/>
          </a:bodyPr>
          <a:lstStyle/>
          <a:p>
            <a:pPr marL="285750" indent="-285750">
              <a:buFont typeface="Wingdings" panose="05000000000000000000" pitchFamily="2" charset="2"/>
              <a:buChar char="ü"/>
            </a:pPr>
            <a:r>
              <a:rPr lang="en-US" sz="2000" b="1" dirty="0">
                <a:latin typeface="Arial" panose="020B0604020202020204" pitchFamily="34" charset="0"/>
                <a:cs typeface="Arial" panose="020B0604020202020204" pitchFamily="34" charset="0"/>
              </a:rPr>
              <a:t>TEST DEPUIS UN AUTRE TERMINAL(Mon </a:t>
            </a:r>
            <a:r>
              <a:rPr lang="en-US" sz="2000" b="1" dirty="0" err="1">
                <a:latin typeface="Arial" panose="020B0604020202020204" pitchFamily="34" charset="0"/>
                <a:cs typeface="Arial" panose="020B0604020202020204" pitchFamily="34" charset="0"/>
              </a:rPr>
              <a:t>ordinateur</a:t>
            </a:r>
            <a:r>
              <a:rPr lang="en-US" sz="2000" b="1" dirty="0">
                <a:latin typeface="Arial" panose="020B0604020202020204" pitchFamily="34" charset="0"/>
                <a:cs typeface="Arial" panose="020B0604020202020204" pitchFamily="34" charset="0"/>
              </a:rPr>
              <a:t> personnel</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Arial" panose="020B0604020202020204" pitchFamily="34" charset="0"/>
            </a:endParaRPr>
          </a:p>
        </p:txBody>
      </p:sp>
      <p:pic>
        <p:nvPicPr>
          <p:cNvPr id="38" name="Picture 37">
            <a:extLst>
              <a:ext uri="{FF2B5EF4-FFF2-40B4-BE49-F238E27FC236}">
                <a16:creationId xmlns:a16="http://schemas.microsoft.com/office/drawing/2014/main" id="{E2EEA252-B5B6-B0CD-F8A0-EF283DB89AD1}"/>
              </a:ext>
            </a:extLst>
          </p:cNvPr>
          <p:cNvPicPr>
            <a:picLocks noChangeAspect="1"/>
          </p:cNvPicPr>
          <p:nvPr/>
        </p:nvPicPr>
        <p:blipFill>
          <a:blip r:embed="rId2"/>
          <a:stretch>
            <a:fillRect/>
          </a:stretch>
        </p:blipFill>
        <p:spPr>
          <a:xfrm>
            <a:off x="1265555" y="1453596"/>
            <a:ext cx="10525261" cy="4529356"/>
          </a:xfrm>
          <a:prstGeom prst="rect">
            <a:avLst/>
          </a:prstGeom>
        </p:spPr>
      </p:pic>
    </p:spTree>
    <p:extLst>
      <p:ext uri="{BB962C8B-B14F-4D97-AF65-F5344CB8AC3E}">
        <p14:creationId xmlns:p14="http://schemas.microsoft.com/office/powerpoint/2010/main" val="2121178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BC02F21-4E3C-469E-B11C-9214231082D3}"/>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30117BEA-B382-6D95-1A61-3EAEEF91332A}"/>
              </a:ext>
            </a:extLst>
          </p:cNvPr>
          <p:cNvSpPr txBox="1">
            <a:spLocks/>
          </p:cNvSpPr>
          <p:nvPr/>
        </p:nvSpPr>
        <p:spPr>
          <a:xfrm>
            <a:off x="1305627" y="176598"/>
            <a:ext cx="9580745" cy="5979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spc="150" baseline="0">
                <a:solidFill>
                  <a:schemeClr val="tx1">
                    <a:lumMod val="75000"/>
                    <a:lumOff val="25000"/>
                  </a:schemeClr>
                </a:solidFill>
                <a:latin typeface="+mj-lt"/>
                <a:ea typeface="+mj-ea"/>
                <a:cs typeface="+mj-cs"/>
              </a:defRPr>
            </a:lvl1pPr>
          </a:lstStyle>
          <a:p>
            <a:pPr algn="ctr"/>
            <a:r>
              <a:rPr lang="fr-FR" sz="2200" b="1" dirty="0">
                <a:solidFill>
                  <a:srgbClr val="0070C0"/>
                </a:solidFill>
                <a:latin typeface="Arial" panose="020B0604020202020204" pitchFamily="34" charset="0"/>
                <a:cs typeface="Arial" panose="020B0604020202020204" pitchFamily="34" charset="0"/>
              </a:rPr>
              <a:t>4. MISE EN PLACE DE FAIL2BAN</a:t>
            </a:r>
            <a:endParaRPr lang="en-US" sz="2200" b="1" dirty="0">
              <a:solidFill>
                <a:srgbClr val="0070C0"/>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DDAA25C-CE2B-B1F7-CDA8-021812C270F2}"/>
              </a:ext>
            </a:extLst>
          </p:cNvPr>
          <p:cNvPicPr>
            <a:picLocks noChangeAspect="1"/>
          </p:cNvPicPr>
          <p:nvPr/>
        </p:nvPicPr>
        <p:blipFill>
          <a:blip r:embed="rId2"/>
          <a:stretch>
            <a:fillRect/>
          </a:stretch>
        </p:blipFill>
        <p:spPr>
          <a:xfrm>
            <a:off x="363129" y="2369324"/>
            <a:ext cx="5731510" cy="1980565"/>
          </a:xfrm>
          <a:prstGeom prst="rect">
            <a:avLst/>
          </a:prstGeom>
        </p:spPr>
      </p:pic>
      <p:pic>
        <p:nvPicPr>
          <p:cNvPr id="37" name="Picture 36">
            <a:extLst>
              <a:ext uri="{FF2B5EF4-FFF2-40B4-BE49-F238E27FC236}">
                <a16:creationId xmlns:a16="http://schemas.microsoft.com/office/drawing/2014/main" id="{BB99C3A3-DBE2-AB21-8B89-CA8315F9664D}"/>
              </a:ext>
            </a:extLst>
          </p:cNvPr>
          <p:cNvPicPr>
            <a:picLocks noChangeAspect="1"/>
          </p:cNvPicPr>
          <p:nvPr/>
        </p:nvPicPr>
        <p:blipFill>
          <a:blip r:embed="rId3"/>
          <a:stretch>
            <a:fillRect/>
          </a:stretch>
        </p:blipFill>
        <p:spPr>
          <a:xfrm>
            <a:off x="363129" y="4508987"/>
            <a:ext cx="5731510" cy="1289685"/>
          </a:xfrm>
          <a:prstGeom prst="rect">
            <a:avLst/>
          </a:prstGeom>
        </p:spPr>
      </p:pic>
      <p:pic>
        <p:nvPicPr>
          <p:cNvPr id="38" name="Picture 37">
            <a:extLst>
              <a:ext uri="{FF2B5EF4-FFF2-40B4-BE49-F238E27FC236}">
                <a16:creationId xmlns:a16="http://schemas.microsoft.com/office/drawing/2014/main" id="{BD6931E3-73DB-0A77-112F-12F3EBD19436}"/>
              </a:ext>
            </a:extLst>
          </p:cNvPr>
          <p:cNvPicPr>
            <a:picLocks noChangeAspect="1"/>
          </p:cNvPicPr>
          <p:nvPr/>
        </p:nvPicPr>
        <p:blipFill>
          <a:blip r:embed="rId4"/>
          <a:stretch>
            <a:fillRect/>
          </a:stretch>
        </p:blipFill>
        <p:spPr>
          <a:xfrm>
            <a:off x="6508952" y="2453785"/>
            <a:ext cx="5319919" cy="352778"/>
          </a:xfrm>
          <a:prstGeom prst="rect">
            <a:avLst/>
          </a:prstGeom>
        </p:spPr>
      </p:pic>
      <p:pic>
        <p:nvPicPr>
          <p:cNvPr id="39" name="Picture 38">
            <a:extLst>
              <a:ext uri="{FF2B5EF4-FFF2-40B4-BE49-F238E27FC236}">
                <a16:creationId xmlns:a16="http://schemas.microsoft.com/office/drawing/2014/main" id="{68E0596F-EC01-3F17-4EE8-423EF69D9B80}"/>
              </a:ext>
            </a:extLst>
          </p:cNvPr>
          <p:cNvPicPr>
            <a:picLocks noChangeAspect="1"/>
          </p:cNvPicPr>
          <p:nvPr/>
        </p:nvPicPr>
        <p:blipFill>
          <a:blip r:embed="rId5"/>
          <a:stretch>
            <a:fillRect/>
          </a:stretch>
        </p:blipFill>
        <p:spPr>
          <a:xfrm>
            <a:off x="6478183" y="3506322"/>
            <a:ext cx="5319919" cy="2292350"/>
          </a:xfrm>
          <a:prstGeom prst="rect">
            <a:avLst/>
          </a:prstGeom>
        </p:spPr>
      </p:pic>
      <p:sp>
        <p:nvSpPr>
          <p:cNvPr id="8" name="Content Placeholder 2">
            <a:extLst>
              <a:ext uri="{FF2B5EF4-FFF2-40B4-BE49-F238E27FC236}">
                <a16:creationId xmlns:a16="http://schemas.microsoft.com/office/drawing/2014/main" id="{F19A18AC-E281-1A64-700C-2EBEB64CC634}"/>
              </a:ext>
            </a:extLst>
          </p:cNvPr>
          <p:cNvSpPr txBox="1">
            <a:spLocks/>
          </p:cNvSpPr>
          <p:nvPr/>
        </p:nvSpPr>
        <p:spPr>
          <a:xfrm>
            <a:off x="399361" y="730986"/>
            <a:ext cx="11578212" cy="91636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000" b="1" dirty="0">
                <a:solidFill>
                  <a:srgbClr val="0070C0"/>
                </a:solidFill>
                <a:latin typeface="Arial" panose="020B0604020202020204" pitchFamily="34" charset="0"/>
                <a:cs typeface="Arial" panose="020B0604020202020204" pitchFamily="34" charset="0"/>
              </a:rPr>
              <a:t>Objectif</a:t>
            </a:r>
          </a:p>
          <a:p>
            <a:pPr marL="0" indent="0">
              <a:buNone/>
            </a:pPr>
            <a:r>
              <a:rPr lang="fr-FR" sz="1800" b="1" dirty="0">
                <a:latin typeface="Arial" panose="020B0604020202020204" pitchFamily="34" charset="0"/>
                <a:cs typeface="Arial" panose="020B0604020202020204" pitchFamily="34" charset="0"/>
              </a:rPr>
              <a:t>Fail2ban surveille les journaux SSH et bloque automatiquement les adresses IP qui échouent trop souvent à s'authentifier, protégeant ainsi le serveur contre les attaques par force brute.</a:t>
            </a:r>
          </a:p>
        </p:txBody>
      </p:sp>
      <p:sp>
        <p:nvSpPr>
          <p:cNvPr id="9" name="ZoneTexte 8">
            <a:extLst>
              <a:ext uri="{FF2B5EF4-FFF2-40B4-BE49-F238E27FC236}">
                <a16:creationId xmlns:a16="http://schemas.microsoft.com/office/drawing/2014/main" id="{E1603449-BBC8-6A60-A37C-7F93E044C9AC}"/>
              </a:ext>
            </a:extLst>
          </p:cNvPr>
          <p:cNvSpPr txBox="1"/>
          <p:nvPr/>
        </p:nvSpPr>
        <p:spPr>
          <a:xfrm>
            <a:off x="617213" y="2005786"/>
            <a:ext cx="6215864" cy="279564"/>
          </a:xfrm>
          <a:prstGeom prst="rect">
            <a:avLst/>
          </a:prstGeom>
          <a:noFill/>
        </p:spPr>
        <p:txBody>
          <a:bodyPr wrap="square">
            <a:spAutoFit/>
          </a:bodyPr>
          <a:lstStyle/>
          <a:p>
            <a:pPr marL="342900" indent="-342900">
              <a:lnSpc>
                <a:spcPts val="1425"/>
              </a:lnSpc>
              <a:buFont typeface="+mj-lt"/>
              <a:buAutoNum type="arabicPeriod"/>
            </a:pPr>
            <a:r>
              <a:rPr lang="en-US" dirty="0">
                <a:latin typeface="Arial" panose="020B0604020202020204" pitchFamily="34" charset="0"/>
                <a:cs typeface="Arial" panose="020B0604020202020204" pitchFamily="34" charset="0"/>
              </a:rPr>
              <a:t>Update du </a:t>
            </a:r>
            <a:r>
              <a:rPr lang="en-US" dirty="0" err="1">
                <a:latin typeface="Arial" panose="020B0604020202020204" pitchFamily="34" charset="0"/>
                <a:cs typeface="Arial" panose="020B0604020202020204" pitchFamily="34" charset="0"/>
              </a:rPr>
              <a:t>Serveur</a:t>
            </a:r>
            <a:r>
              <a:rPr lang="en-US" dirty="0">
                <a:latin typeface="Arial" panose="020B0604020202020204" pitchFamily="34" charset="0"/>
                <a:cs typeface="Arial" panose="020B0604020202020204" pitchFamily="34" charset="0"/>
              </a:rPr>
              <a:t> &amp; Installation de fail2ban</a:t>
            </a:r>
          </a:p>
        </p:txBody>
      </p:sp>
      <p:sp>
        <p:nvSpPr>
          <p:cNvPr id="13" name="ZoneTexte 12">
            <a:extLst>
              <a:ext uri="{FF2B5EF4-FFF2-40B4-BE49-F238E27FC236}">
                <a16:creationId xmlns:a16="http://schemas.microsoft.com/office/drawing/2014/main" id="{01D3A131-675D-84C7-E3C2-AB93A2C49659}"/>
              </a:ext>
            </a:extLst>
          </p:cNvPr>
          <p:cNvSpPr txBox="1"/>
          <p:nvPr/>
        </p:nvSpPr>
        <p:spPr>
          <a:xfrm>
            <a:off x="6597940" y="2054535"/>
            <a:ext cx="5141942" cy="459100"/>
          </a:xfrm>
          <a:prstGeom prst="rect">
            <a:avLst/>
          </a:prstGeom>
          <a:noFill/>
        </p:spPr>
        <p:txBody>
          <a:bodyPr wrap="square">
            <a:spAutoFit/>
          </a:bodyPr>
          <a:lstStyle/>
          <a:p>
            <a:pPr marL="342900" indent="-342900">
              <a:lnSpc>
                <a:spcPts val="1425"/>
              </a:lnSpc>
              <a:buFont typeface="+mj-lt"/>
              <a:buAutoNum type="arabicPeriod" startAt="2"/>
            </a:pPr>
            <a:r>
              <a:rPr lang="fr-FR" dirty="0">
                <a:latin typeface="Arial" panose="020B0604020202020204" pitchFamily="34" charset="0"/>
                <a:cs typeface="Arial" panose="020B0604020202020204" pitchFamily="34" charset="0"/>
              </a:rPr>
              <a:t>Création du fichier de configuration local</a:t>
            </a:r>
          </a:p>
          <a:p>
            <a:pPr>
              <a:lnSpc>
                <a:spcPts val="1425"/>
              </a:lnSpc>
            </a:pPr>
            <a:endParaRPr lang="en-US" dirty="0">
              <a:latin typeface="Arial" panose="020B0604020202020204" pitchFamily="34" charset="0"/>
              <a:cs typeface="Arial" panose="020B0604020202020204" pitchFamily="34" charset="0"/>
            </a:endParaRPr>
          </a:p>
        </p:txBody>
      </p:sp>
      <p:sp>
        <p:nvSpPr>
          <p:cNvPr id="14" name="ZoneTexte 13">
            <a:extLst>
              <a:ext uri="{FF2B5EF4-FFF2-40B4-BE49-F238E27FC236}">
                <a16:creationId xmlns:a16="http://schemas.microsoft.com/office/drawing/2014/main" id="{14A33E76-F56E-955E-BEC8-894F92D1FDBC}"/>
              </a:ext>
            </a:extLst>
          </p:cNvPr>
          <p:cNvSpPr txBox="1"/>
          <p:nvPr/>
        </p:nvSpPr>
        <p:spPr>
          <a:xfrm>
            <a:off x="6597940" y="3131526"/>
            <a:ext cx="5141942" cy="459100"/>
          </a:xfrm>
          <a:prstGeom prst="rect">
            <a:avLst/>
          </a:prstGeom>
          <a:noFill/>
        </p:spPr>
        <p:txBody>
          <a:bodyPr wrap="square">
            <a:spAutoFit/>
          </a:bodyPr>
          <a:lstStyle/>
          <a:p>
            <a:pPr marL="342900" indent="-342900">
              <a:lnSpc>
                <a:spcPts val="1425"/>
              </a:lnSpc>
              <a:buFont typeface="+mj-lt"/>
              <a:buAutoNum type="arabicPeriod" startAt="3"/>
            </a:pPr>
            <a:r>
              <a:rPr lang="fr-FR" dirty="0">
                <a:latin typeface="Arial" panose="020B0604020202020204" pitchFamily="34" charset="0"/>
                <a:cs typeface="Arial" panose="020B0604020202020204" pitchFamily="34" charset="0"/>
              </a:rPr>
              <a:t>Modification de la section [</a:t>
            </a:r>
            <a:r>
              <a:rPr lang="fr-FR" dirty="0" err="1">
                <a:latin typeface="Arial" panose="020B0604020202020204" pitchFamily="34" charset="0"/>
                <a:cs typeface="Arial" panose="020B0604020202020204" pitchFamily="34" charset="0"/>
              </a:rPr>
              <a:t>sshd</a:t>
            </a:r>
            <a:r>
              <a:rPr lang="fr-FR" dirty="0">
                <a:latin typeface="Arial" panose="020B0604020202020204" pitchFamily="34" charset="0"/>
                <a:cs typeface="Arial" panose="020B0604020202020204" pitchFamily="34" charset="0"/>
              </a:rPr>
              <a:t>]</a:t>
            </a:r>
          </a:p>
          <a:p>
            <a:pPr>
              <a:lnSpc>
                <a:spcPts val="1425"/>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85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D461D-6E0F-CAD6-CD4D-0A78157DECE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0200163-413B-4852-8433-6B1CC61A7737}"/>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Arial" panose="020B0604020202020204" pitchFamily="34" charset="0"/>
            </a:endParaRPr>
          </a:p>
        </p:txBody>
      </p:sp>
      <p:pic>
        <p:nvPicPr>
          <p:cNvPr id="40" name="Picture 39">
            <a:extLst>
              <a:ext uri="{FF2B5EF4-FFF2-40B4-BE49-F238E27FC236}">
                <a16:creationId xmlns:a16="http://schemas.microsoft.com/office/drawing/2014/main" id="{445F3C1C-CA7D-3954-F86E-3A835B0A07A0}"/>
              </a:ext>
            </a:extLst>
          </p:cNvPr>
          <p:cNvPicPr>
            <a:picLocks noChangeAspect="1"/>
          </p:cNvPicPr>
          <p:nvPr/>
        </p:nvPicPr>
        <p:blipFill>
          <a:blip r:embed="rId2"/>
          <a:stretch>
            <a:fillRect/>
          </a:stretch>
        </p:blipFill>
        <p:spPr>
          <a:xfrm>
            <a:off x="6096000" y="1520340"/>
            <a:ext cx="5731510" cy="942340"/>
          </a:xfrm>
          <a:prstGeom prst="rect">
            <a:avLst/>
          </a:prstGeom>
        </p:spPr>
      </p:pic>
      <p:pic>
        <p:nvPicPr>
          <p:cNvPr id="41" name="Picture 40">
            <a:extLst>
              <a:ext uri="{FF2B5EF4-FFF2-40B4-BE49-F238E27FC236}">
                <a16:creationId xmlns:a16="http://schemas.microsoft.com/office/drawing/2014/main" id="{B505C442-2AFE-D62A-1E96-ECC6B093C456}"/>
              </a:ext>
            </a:extLst>
          </p:cNvPr>
          <p:cNvPicPr>
            <a:picLocks noChangeAspect="1"/>
          </p:cNvPicPr>
          <p:nvPr/>
        </p:nvPicPr>
        <p:blipFill>
          <a:blip r:embed="rId3"/>
          <a:stretch>
            <a:fillRect/>
          </a:stretch>
        </p:blipFill>
        <p:spPr>
          <a:xfrm>
            <a:off x="6096000" y="3425535"/>
            <a:ext cx="5731510" cy="1781175"/>
          </a:xfrm>
          <a:prstGeom prst="rect">
            <a:avLst/>
          </a:prstGeom>
        </p:spPr>
      </p:pic>
      <p:sp>
        <p:nvSpPr>
          <p:cNvPr id="9" name="ZoneTexte 8">
            <a:extLst>
              <a:ext uri="{FF2B5EF4-FFF2-40B4-BE49-F238E27FC236}">
                <a16:creationId xmlns:a16="http://schemas.microsoft.com/office/drawing/2014/main" id="{9CEED2BE-D5EF-2C94-3A59-F2A2F7DA38D5}"/>
              </a:ext>
            </a:extLst>
          </p:cNvPr>
          <p:cNvSpPr txBox="1"/>
          <p:nvPr/>
        </p:nvSpPr>
        <p:spPr>
          <a:xfrm>
            <a:off x="6219290" y="1089750"/>
            <a:ext cx="5141942" cy="286360"/>
          </a:xfrm>
          <a:prstGeom prst="rect">
            <a:avLst/>
          </a:prstGeom>
          <a:noFill/>
        </p:spPr>
        <p:txBody>
          <a:bodyPr wrap="square">
            <a:spAutoFit/>
          </a:bodyPr>
          <a:lstStyle/>
          <a:p>
            <a:pPr marL="342900" indent="-342900">
              <a:lnSpc>
                <a:spcPts val="1425"/>
              </a:lnSpc>
              <a:buFont typeface="+mj-lt"/>
              <a:buAutoNum type="arabicPeriod" startAt="4"/>
            </a:pPr>
            <a:r>
              <a:rPr lang="fr-FR" dirty="0">
                <a:latin typeface="Arial" panose="020B0604020202020204" pitchFamily="34" charset="0"/>
                <a:cs typeface="Arial" panose="020B0604020202020204" pitchFamily="34" charset="0"/>
              </a:rPr>
              <a:t>Activation et démarrage de Fail2ban</a:t>
            </a:r>
          </a:p>
        </p:txBody>
      </p:sp>
      <p:sp>
        <p:nvSpPr>
          <p:cNvPr id="10" name="ZoneTexte 9">
            <a:extLst>
              <a:ext uri="{FF2B5EF4-FFF2-40B4-BE49-F238E27FC236}">
                <a16:creationId xmlns:a16="http://schemas.microsoft.com/office/drawing/2014/main" id="{280E0077-87B3-E550-82C3-03E2BB3C5015}"/>
              </a:ext>
            </a:extLst>
          </p:cNvPr>
          <p:cNvSpPr txBox="1"/>
          <p:nvPr/>
        </p:nvSpPr>
        <p:spPr>
          <a:xfrm>
            <a:off x="6303156" y="3037500"/>
            <a:ext cx="5141942" cy="286360"/>
          </a:xfrm>
          <a:prstGeom prst="rect">
            <a:avLst/>
          </a:prstGeom>
          <a:noFill/>
        </p:spPr>
        <p:txBody>
          <a:bodyPr wrap="square">
            <a:spAutoFit/>
          </a:bodyPr>
          <a:lstStyle/>
          <a:p>
            <a:pPr marL="342900" indent="-342900">
              <a:lnSpc>
                <a:spcPts val="1425"/>
              </a:lnSpc>
              <a:buFont typeface="+mj-lt"/>
              <a:buAutoNum type="arabicPeriod" startAt="5"/>
            </a:pPr>
            <a:r>
              <a:rPr lang="en-US" dirty="0">
                <a:latin typeface="Arial" panose="020B0604020202020204" pitchFamily="34" charset="0"/>
                <a:cs typeface="Arial" panose="020B0604020202020204" pitchFamily="34" charset="0"/>
              </a:rPr>
              <a:t>status de fail2ban</a:t>
            </a: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7462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27F0B4EE-0C84-A8C9-8591-16611BA0BBB3}"/>
              </a:ext>
            </a:extLst>
          </p:cNvPr>
          <p:cNvSpPr txBox="1">
            <a:spLocks/>
          </p:cNvSpPr>
          <p:nvPr/>
        </p:nvSpPr>
        <p:spPr>
          <a:xfrm>
            <a:off x="1695999" y="280363"/>
            <a:ext cx="9580745" cy="5979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spc="150" baseline="0">
                <a:solidFill>
                  <a:schemeClr val="tx1">
                    <a:lumMod val="75000"/>
                    <a:lumOff val="25000"/>
                  </a:schemeClr>
                </a:solidFill>
                <a:latin typeface="+mj-lt"/>
                <a:ea typeface="+mj-ea"/>
                <a:cs typeface="+mj-cs"/>
              </a:defRPr>
            </a:lvl1pPr>
          </a:lstStyle>
          <a:p>
            <a:pPr algn="ctr"/>
            <a:r>
              <a:rPr lang="fr-FR" sz="2200" b="1" dirty="0">
                <a:solidFill>
                  <a:srgbClr val="0070C0"/>
                </a:solidFill>
                <a:latin typeface="Arial" panose="020B0604020202020204" pitchFamily="34" charset="0"/>
                <a:cs typeface="Arial" panose="020B0604020202020204" pitchFamily="34" charset="0"/>
              </a:rPr>
              <a:t>5. Limitations des utilisateurs autorises</a:t>
            </a:r>
            <a:endParaRPr lang="en-US" sz="2200" b="1" dirty="0">
              <a:solidFill>
                <a:srgbClr val="0070C0"/>
              </a:solidFill>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37320E05-F4C5-E563-6866-B0C80E6CBBD4}"/>
              </a:ext>
            </a:extLst>
          </p:cNvPr>
          <p:cNvPicPr>
            <a:picLocks noChangeAspect="1"/>
          </p:cNvPicPr>
          <p:nvPr/>
        </p:nvPicPr>
        <p:blipFill>
          <a:blip r:embed="rId2"/>
          <a:stretch>
            <a:fillRect/>
          </a:stretch>
        </p:blipFill>
        <p:spPr>
          <a:xfrm>
            <a:off x="1797978" y="3019542"/>
            <a:ext cx="8856322" cy="808841"/>
          </a:xfrm>
          <a:prstGeom prst="rect">
            <a:avLst/>
          </a:prstGeom>
        </p:spPr>
      </p:pic>
      <p:sp>
        <p:nvSpPr>
          <p:cNvPr id="3" name="Content Placeholder 2">
            <a:extLst>
              <a:ext uri="{FF2B5EF4-FFF2-40B4-BE49-F238E27FC236}">
                <a16:creationId xmlns:a16="http://schemas.microsoft.com/office/drawing/2014/main" id="{E6709B0B-33DE-7B58-C0E4-7AAD16187D63}"/>
              </a:ext>
            </a:extLst>
          </p:cNvPr>
          <p:cNvSpPr txBox="1">
            <a:spLocks/>
          </p:cNvSpPr>
          <p:nvPr/>
        </p:nvSpPr>
        <p:spPr>
          <a:xfrm>
            <a:off x="440458" y="878356"/>
            <a:ext cx="11578212" cy="91636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000" b="1" dirty="0">
                <a:solidFill>
                  <a:srgbClr val="0070C0"/>
                </a:solidFill>
                <a:latin typeface="Arial" panose="020B0604020202020204" pitchFamily="34" charset="0"/>
                <a:cs typeface="Arial" panose="020B0604020202020204" pitchFamily="34" charset="0"/>
              </a:rPr>
              <a:t>Objectif</a:t>
            </a:r>
          </a:p>
          <a:p>
            <a:pPr marL="0" indent="0">
              <a:buNone/>
            </a:pPr>
            <a:r>
              <a:rPr lang="fr-FR" sz="1800" b="1" dirty="0">
                <a:latin typeface="Arial" panose="020B0604020202020204" pitchFamily="34" charset="0"/>
                <a:cs typeface="Arial" panose="020B0604020202020204" pitchFamily="34" charset="0"/>
              </a:rPr>
              <a:t>Restreindre les connexions SSH uniquement aux utilisateurs explicitement listés, même si d'autres comptes existent sur le serveur.</a:t>
            </a:r>
          </a:p>
          <a:p>
            <a:pPr marL="0" indent="0">
              <a:buNone/>
            </a:pPr>
            <a:endParaRPr lang="fr-FR" sz="2000" b="1" dirty="0">
              <a:solidFill>
                <a:srgbClr val="0070C0"/>
              </a:solidFill>
              <a:latin typeface="Arial" panose="020B0604020202020204" pitchFamily="34" charset="0"/>
              <a:cs typeface="Arial" panose="020B0604020202020204" pitchFamily="34" charset="0"/>
            </a:endParaRPr>
          </a:p>
        </p:txBody>
      </p:sp>
      <p:sp>
        <p:nvSpPr>
          <p:cNvPr id="6" name="ZoneTexte 5">
            <a:extLst>
              <a:ext uri="{FF2B5EF4-FFF2-40B4-BE49-F238E27FC236}">
                <a16:creationId xmlns:a16="http://schemas.microsoft.com/office/drawing/2014/main" id="{559341EF-C783-CB6A-4B4A-E781677316AC}"/>
              </a:ext>
            </a:extLst>
          </p:cNvPr>
          <p:cNvSpPr txBox="1"/>
          <p:nvPr/>
        </p:nvSpPr>
        <p:spPr>
          <a:xfrm>
            <a:off x="3525029" y="2636595"/>
            <a:ext cx="5141942" cy="286360"/>
          </a:xfrm>
          <a:prstGeom prst="rect">
            <a:avLst/>
          </a:prstGeom>
          <a:noFill/>
        </p:spPr>
        <p:txBody>
          <a:bodyPr wrap="square">
            <a:spAutoFit/>
          </a:bodyPr>
          <a:lstStyle/>
          <a:p>
            <a:pPr marL="342900" indent="-342900">
              <a:lnSpc>
                <a:spcPts val="1425"/>
              </a:lnSpc>
              <a:buFont typeface="+mj-lt"/>
              <a:buAutoNum type="arabicPeriod"/>
            </a:pPr>
            <a:r>
              <a:rPr lang="fr-FR" dirty="0">
                <a:latin typeface="Arial" panose="020B0604020202020204" pitchFamily="34" charset="0"/>
                <a:cs typeface="Arial" panose="020B0604020202020204" pitchFamily="34" charset="0"/>
              </a:rPr>
              <a:t>Modification du fichier </a:t>
            </a:r>
            <a:r>
              <a:rPr lang="fr-FR" dirty="0" err="1">
                <a:latin typeface="Arial" panose="020B0604020202020204" pitchFamily="34" charset="0"/>
                <a:cs typeface="Arial" panose="020B0604020202020204" pitchFamily="34" charset="0"/>
              </a:rPr>
              <a:t>sshd_config</a:t>
            </a:r>
            <a:endParaRPr lang="fr-FR" dirty="0">
              <a:latin typeface="Arial" panose="020B0604020202020204" pitchFamily="34" charset="0"/>
              <a:cs typeface="Arial" panose="020B0604020202020204" pitchFamily="34" charset="0"/>
            </a:endParaRPr>
          </a:p>
        </p:txBody>
      </p:sp>
      <p:pic>
        <p:nvPicPr>
          <p:cNvPr id="8" name="Picture 23">
            <a:extLst>
              <a:ext uri="{FF2B5EF4-FFF2-40B4-BE49-F238E27FC236}">
                <a16:creationId xmlns:a16="http://schemas.microsoft.com/office/drawing/2014/main" id="{695C51B7-9E2A-E151-41C4-BE3281F938E2}"/>
              </a:ext>
            </a:extLst>
          </p:cNvPr>
          <p:cNvPicPr>
            <a:picLocks noChangeAspect="1"/>
          </p:cNvPicPr>
          <p:nvPr/>
        </p:nvPicPr>
        <p:blipFill>
          <a:blip r:embed="rId3"/>
          <a:stretch>
            <a:fillRect/>
          </a:stretch>
        </p:blipFill>
        <p:spPr>
          <a:xfrm>
            <a:off x="1797978" y="4059872"/>
            <a:ext cx="8856322" cy="2479040"/>
          </a:xfrm>
          <a:prstGeom prst="rect">
            <a:avLst/>
          </a:prstGeom>
        </p:spPr>
      </p:pic>
    </p:spTree>
    <p:extLst>
      <p:ext uri="{BB962C8B-B14F-4D97-AF65-F5344CB8AC3E}">
        <p14:creationId xmlns:p14="http://schemas.microsoft.com/office/powerpoint/2010/main" val="4151694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6422-E94E-74D2-60CF-84147CC50090}"/>
            </a:ext>
          </a:extLst>
        </p:cNvPr>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F6AB9669-92FD-A06C-38FF-4FD502A5070F}"/>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Arial" panose="020B0604020202020204" pitchFamily="34" charset="0"/>
            </a:endParaRPr>
          </a:p>
        </p:txBody>
      </p:sp>
      <p:pic>
        <p:nvPicPr>
          <p:cNvPr id="25" name="Picture 24">
            <a:extLst>
              <a:ext uri="{FF2B5EF4-FFF2-40B4-BE49-F238E27FC236}">
                <a16:creationId xmlns:a16="http://schemas.microsoft.com/office/drawing/2014/main" id="{BA5390B8-2BF0-F1F0-A8C9-1EBCE4052A42}"/>
              </a:ext>
            </a:extLst>
          </p:cNvPr>
          <p:cNvPicPr>
            <a:picLocks noChangeAspect="1"/>
          </p:cNvPicPr>
          <p:nvPr/>
        </p:nvPicPr>
        <p:blipFill>
          <a:blip r:embed="rId2"/>
          <a:stretch>
            <a:fillRect/>
          </a:stretch>
        </p:blipFill>
        <p:spPr>
          <a:xfrm>
            <a:off x="2438169" y="807841"/>
            <a:ext cx="8915631" cy="599446"/>
          </a:xfrm>
          <a:prstGeom prst="rect">
            <a:avLst/>
          </a:prstGeom>
        </p:spPr>
      </p:pic>
      <p:pic>
        <p:nvPicPr>
          <p:cNvPr id="26" name="Picture 25">
            <a:extLst>
              <a:ext uri="{FF2B5EF4-FFF2-40B4-BE49-F238E27FC236}">
                <a16:creationId xmlns:a16="http://schemas.microsoft.com/office/drawing/2014/main" id="{854CA392-405E-8FD6-9C07-5730F3980BD9}"/>
              </a:ext>
            </a:extLst>
          </p:cNvPr>
          <p:cNvPicPr>
            <a:picLocks noChangeAspect="1"/>
          </p:cNvPicPr>
          <p:nvPr/>
        </p:nvPicPr>
        <p:blipFill>
          <a:blip r:embed="rId3"/>
          <a:stretch>
            <a:fillRect/>
          </a:stretch>
        </p:blipFill>
        <p:spPr>
          <a:xfrm>
            <a:off x="2438166" y="1493227"/>
            <a:ext cx="8915630" cy="641871"/>
          </a:xfrm>
          <a:prstGeom prst="rect">
            <a:avLst/>
          </a:prstGeom>
        </p:spPr>
      </p:pic>
      <p:pic>
        <p:nvPicPr>
          <p:cNvPr id="27" name="Picture 26">
            <a:extLst>
              <a:ext uri="{FF2B5EF4-FFF2-40B4-BE49-F238E27FC236}">
                <a16:creationId xmlns:a16="http://schemas.microsoft.com/office/drawing/2014/main" id="{083CB344-BAA5-569E-8EF4-42F438953D8E}"/>
              </a:ext>
            </a:extLst>
          </p:cNvPr>
          <p:cNvPicPr>
            <a:picLocks noChangeAspect="1"/>
          </p:cNvPicPr>
          <p:nvPr/>
        </p:nvPicPr>
        <p:blipFill>
          <a:blip r:embed="rId4"/>
          <a:stretch>
            <a:fillRect/>
          </a:stretch>
        </p:blipFill>
        <p:spPr>
          <a:xfrm>
            <a:off x="2438166" y="2284649"/>
            <a:ext cx="8915631" cy="1880377"/>
          </a:xfrm>
          <a:prstGeom prst="rect">
            <a:avLst/>
          </a:prstGeom>
        </p:spPr>
      </p:pic>
      <p:sp>
        <p:nvSpPr>
          <p:cNvPr id="3" name="ZoneTexte 2">
            <a:extLst>
              <a:ext uri="{FF2B5EF4-FFF2-40B4-BE49-F238E27FC236}">
                <a16:creationId xmlns:a16="http://schemas.microsoft.com/office/drawing/2014/main" id="{028D23D9-DD8A-B8AD-04CF-5C35791D7E72}"/>
              </a:ext>
            </a:extLst>
          </p:cNvPr>
          <p:cNvSpPr txBox="1"/>
          <p:nvPr/>
        </p:nvSpPr>
        <p:spPr>
          <a:xfrm>
            <a:off x="4031892" y="487432"/>
            <a:ext cx="5512800" cy="320409"/>
          </a:xfrm>
          <a:prstGeom prst="rect">
            <a:avLst/>
          </a:prstGeom>
          <a:noFill/>
        </p:spPr>
        <p:txBody>
          <a:bodyPr wrap="square">
            <a:spAutoFit/>
          </a:bodyPr>
          <a:lstStyle/>
          <a:p>
            <a:pPr marL="342900" indent="-342900" algn="ctr">
              <a:lnSpc>
                <a:spcPts val="1425"/>
              </a:lnSpc>
              <a:buFont typeface="Wingdings" panose="05000000000000000000" pitchFamily="2" charset="2"/>
              <a:buChar char="ü"/>
            </a:pPr>
            <a:r>
              <a:rPr lang="en-US" sz="3200" b="1" dirty="0">
                <a:latin typeface="Arial" panose="020B0604020202020204" pitchFamily="34" charset="0"/>
                <a:cs typeface="Arial" panose="020B0604020202020204" pitchFamily="34" charset="0"/>
              </a:rPr>
              <a:t> Tests de verification</a:t>
            </a:r>
          </a:p>
        </p:txBody>
      </p:sp>
      <p:pic>
        <p:nvPicPr>
          <p:cNvPr id="4" name="Picture 6">
            <a:extLst>
              <a:ext uri="{FF2B5EF4-FFF2-40B4-BE49-F238E27FC236}">
                <a16:creationId xmlns:a16="http://schemas.microsoft.com/office/drawing/2014/main" id="{38C14997-78C5-982A-84ED-A6F5C82A045A}"/>
              </a:ext>
            </a:extLst>
          </p:cNvPr>
          <p:cNvPicPr>
            <a:picLocks noChangeAspect="1"/>
          </p:cNvPicPr>
          <p:nvPr/>
        </p:nvPicPr>
        <p:blipFill>
          <a:blip r:embed="rId5"/>
          <a:stretch>
            <a:fillRect/>
          </a:stretch>
        </p:blipFill>
        <p:spPr>
          <a:xfrm>
            <a:off x="2438165" y="4314577"/>
            <a:ext cx="8915631" cy="2332803"/>
          </a:xfrm>
          <a:prstGeom prst="rect">
            <a:avLst/>
          </a:prstGeom>
        </p:spPr>
      </p:pic>
    </p:spTree>
    <p:extLst>
      <p:ext uri="{BB962C8B-B14F-4D97-AF65-F5344CB8AC3E}">
        <p14:creationId xmlns:p14="http://schemas.microsoft.com/office/powerpoint/2010/main" val="74461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1">
            <a:extLst>
              <a:ext uri="{FF2B5EF4-FFF2-40B4-BE49-F238E27FC236}">
                <a16:creationId xmlns:a16="http://schemas.microsoft.com/office/drawing/2014/main" id="{66E47D63-84D7-8395-2E78-AA4524E83239}"/>
              </a:ext>
              <a:ext uri="{C183D7F6-B498-43B3-948B-1728B52AA6E4}">
                <adec:decorative xmlns:adec="http://schemas.microsoft.com/office/drawing/2017/decorative" val="0"/>
              </a:ext>
            </a:extLst>
          </p:cNvPr>
          <p:cNvSpPr>
            <a:spLocks noGrp="1"/>
          </p:cNvSpPr>
          <p:nvPr>
            <p:ph type="title"/>
          </p:nvPr>
        </p:nvSpPr>
        <p:spPr/>
        <p:txBody>
          <a:bodyPr/>
          <a:lstStyle/>
          <a:p>
            <a:r>
              <a:rPr lang="en-US" b="1" dirty="0">
                <a:solidFill>
                  <a:srgbClr val="0070C0"/>
                </a:solidFill>
                <a:latin typeface="Arial" panose="020B0604020202020204" pitchFamily="34" charset="0"/>
                <a:cs typeface="Arial" panose="020B0604020202020204" pitchFamily="34" charset="0"/>
              </a:rPr>
              <a:t>conclusion</a:t>
            </a:r>
          </a:p>
        </p:txBody>
      </p:sp>
      <p:sp>
        <p:nvSpPr>
          <p:cNvPr id="2" name="Content Placeholder 1">
            <a:extLst>
              <a:ext uri="{FF2B5EF4-FFF2-40B4-BE49-F238E27FC236}">
                <a16:creationId xmlns:a16="http://schemas.microsoft.com/office/drawing/2014/main" id="{D6962266-D624-39E2-A6C8-EAEABFA5D149}"/>
              </a:ext>
            </a:extLst>
          </p:cNvPr>
          <p:cNvSpPr>
            <a:spLocks noGrp="1"/>
          </p:cNvSpPr>
          <p:nvPr>
            <p:ph sz="quarter" idx="16"/>
          </p:nvPr>
        </p:nvSpPr>
        <p:spPr>
          <a:xfrm>
            <a:off x="838199" y="1500810"/>
            <a:ext cx="10515599" cy="4333254"/>
          </a:xfrm>
        </p:spPr>
        <p:txBody>
          <a:bodyPr>
            <a:noAutofit/>
          </a:bodyPr>
          <a:lstStyle/>
          <a:p>
            <a:pPr marL="0" indent="0">
              <a:buNone/>
            </a:pPr>
            <a:r>
              <a:rPr lang="fr-HT" sz="1800" dirty="0"/>
              <a:t>Ce projet de durcissement d'un serveur </a:t>
            </a:r>
            <a:r>
              <a:rPr lang="fr-HT" sz="1800" dirty="0" err="1"/>
              <a:t>OpenSSH</a:t>
            </a:r>
            <a:r>
              <a:rPr lang="fr-HT" sz="1800" dirty="0"/>
              <a:t> nous a permis de mettre en pratique de façon concrète les principes fondamentaux de la sécurité système. À travers cinq mesures complémentaires authentification par clé, désactivation du root, changement de port, déploiement de Fail2ban et limitation des utilisateurs, nous avons construit une configuration SSH robuste et défensive en profondeur.</a:t>
            </a:r>
            <a:endParaRPr lang="en-US" sz="1800" dirty="0"/>
          </a:p>
          <a:p>
            <a:pPr marL="0" indent="0">
              <a:buNone/>
            </a:pPr>
            <a:r>
              <a:rPr lang="fr-HT" sz="1800" dirty="0"/>
              <a:t>L'environnement VirtualBox a fourni un terrain d'expérimentation idéal, nous permettant de tester chaque modification sans risque, de simuler des attaques et de valider les mécanismes de défense mis en place. Chacune des mesures appliquées a été vérifiée par des tests de connexion documentés, dont les résultats confirment l'efficacité du durcissement.</a:t>
            </a:r>
            <a:endParaRPr lang="en-US" sz="1800" dirty="0"/>
          </a:p>
          <a:p>
            <a:pPr marL="0" indent="0">
              <a:buNone/>
            </a:pPr>
            <a:r>
              <a:rPr lang="fr-FR" sz="1800" dirty="0"/>
              <a:t>Durant la mise en œuvre, le changement de port SSH a provoqué des erreurs de redémarrage du service. Fail2ban ne détectait pas les journaux au bon emplacement et a nécessité un ajustement. Enfin, des permissions incorrectes sur </a:t>
            </a:r>
            <a:r>
              <a:rPr lang="fr-FR" sz="1800" dirty="0" err="1"/>
              <a:t>authorized_keys</a:t>
            </a:r>
            <a:r>
              <a:rPr lang="fr-FR" sz="1800" dirty="0"/>
              <a:t> empêchaient la reconnaissance des clés SSH.</a:t>
            </a:r>
            <a:endParaRPr lang="en-US" sz="1800" dirty="0"/>
          </a:p>
          <a:p>
            <a:pPr marL="0" indent="0">
              <a:buNone/>
            </a:pPr>
            <a:r>
              <a:rPr lang="fr-HT" sz="1800" dirty="0"/>
              <a:t>En conclusion, ce projet illustre que la sécurité n'est pas un état binaire, mais un processus continu d'amélioration. Les mesures mises en place constituent une base solide, que des solutions plus </a:t>
            </a:r>
            <a:r>
              <a:rPr lang="fr-HT" sz="1800"/>
              <a:t>avancées comme </a:t>
            </a:r>
            <a:r>
              <a:rPr lang="fr-HT" sz="1800" dirty="0"/>
              <a:t>l'authentification à deux facteurs ou l'automatisation </a:t>
            </a:r>
            <a:r>
              <a:rPr lang="fr-HT" sz="1800"/>
              <a:t>Ansible pourraient </a:t>
            </a:r>
            <a:r>
              <a:rPr lang="fr-HT" sz="1800" dirty="0"/>
              <a:t>renforcer davantage dans un environnement de production.</a:t>
            </a:r>
            <a:endParaRPr lang="en-US" sz="1800" dirty="0"/>
          </a:p>
          <a:p>
            <a:pPr marL="0" indent="0">
              <a:buNone/>
            </a:pPr>
            <a:endParaRPr lang="en-US" sz="1800" dirty="0"/>
          </a:p>
        </p:txBody>
      </p:sp>
    </p:spTree>
    <p:extLst>
      <p:ext uri="{BB962C8B-B14F-4D97-AF65-F5344CB8AC3E}">
        <p14:creationId xmlns:p14="http://schemas.microsoft.com/office/powerpoint/2010/main" val="3477453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B349-3207-552C-B33E-B8EC9BDF4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D4622-A7C2-1A80-7904-D7F524A61648}"/>
              </a:ext>
            </a:extLst>
          </p:cNvPr>
          <p:cNvSpPr>
            <a:spLocks noGrp="1"/>
          </p:cNvSpPr>
          <p:nvPr>
            <p:ph type="title"/>
          </p:nvPr>
        </p:nvSpPr>
        <p:spPr>
          <a:xfrm>
            <a:off x="1885156" y="892177"/>
            <a:ext cx="8421688" cy="1325563"/>
          </a:xfrm>
        </p:spPr>
        <p:txBody>
          <a:bodyPr/>
          <a:lstStyle/>
          <a:p>
            <a:r>
              <a:rPr lang="en-US" dirty="0">
                <a:latin typeface="Arial" panose="020B0604020202020204" pitchFamily="34" charset="0"/>
                <a:cs typeface="Arial" panose="020B0604020202020204" pitchFamily="34" charset="0"/>
              </a:rPr>
              <a:t>MEET THE TEAM</a:t>
            </a:r>
          </a:p>
        </p:txBody>
      </p:sp>
      <p:pic>
        <p:nvPicPr>
          <p:cNvPr id="47" name="Picture Placeholder 46" descr="Team member headshot">
            <a:extLst>
              <a:ext uri="{FF2B5EF4-FFF2-40B4-BE49-F238E27FC236}">
                <a16:creationId xmlns:a16="http://schemas.microsoft.com/office/drawing/2014/main" id="{A0762C25-BF79-2122-CE5B-442E592FC2D6}"/>
              </a:ext>
            </a:extLst>
          </p:cNvPr>
          <p:cNvPicPr>
            <a:picLocks noGrp="1" noChangeAspect="1"/>
          </p:cNvPicPr>
          <p:nvPr>
            <p:ph type="pic" sz="quarter" idx="15"/>
          </p:nvPr>
        </p:nvPicPr>
        <p:blipFill rotWithShape="1">
          <a:blip r:embed="rId2">
            <a:extLst>
              <a:ext uri="{28A0092B-C50C-407E-A947-70E740481C1C}">
                <a14:useLocalDpi xmlns:a14="http://schemas.microsoft.com/office/drawing/2010/main" val="0"/>
              </a:ext>
            </a:extLst>
          </a:blip>
          <a:srcRect/>
          <a:stretch/>
        </p:blipFill>
        <p:spPr>
          <a:xfrm>
            <a:off x="3836914" y="2886074"/>
            <a:ext cx="1845511" cy="1845511"/>
          </a:xfrm>
        </p:spPr>
      </p:pic>
      <p:pic>
        <p:nvPicPr>
          <p:cNvPr id="45" name="Picture Placeholder 44" descr="Team member headshot">
            <a:extLst>
              <a:ext uri="{FF2B5EF4-FFF2-40B4-BE49-F238E27FC236}">
                <a16:creationId xmlns:a16="http://schemas.microsoft.com/office/drawing/2014/main" id="{787D0F63-6DF4-F133-FEFE-1E6C83C248EA}"/>
              </a:ext>
            </a:extLst>
          </p:cNvPr>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a:stretch/>
        </p:blipFill>
        <p:spPr>
          <a:xfrm>
            <a:off x="6327578" y="2886074"/>
            <a:ext cx="1845511" cy="1845511"/>
          </a:xfrm>
        </p:spPr>
      </p:pic>
      <p:pic>
        <p:nvPicPr>
          <p:cNvPr id="43" name="Picture Placeholder 42" descr="Team member headshot">
            <a:extLst>
              <a:ext uri="{FF2B5EF4-FFF2-40B4-BE49-F238E27FC236}">
                <a16:creationId xmlns:a16="http://schemas.microsoft.com/office/drawing/2014/main" id="{744BEB21-D18E-BDC8-D982-470C289FFFC7}"/>
              </a:ext>
            </a:extLst>
          </p:cNvPr>
          <p:cNvPicPr>
            <a:picLocks noGrp="1" noChangeAspect="1"/>
          </p:cNvPicPr>
          <p:nvPr>
            <p:ph type="pic" sz="quarter" idx="17"/>
          </p:nvPr>
        </p:nvPicPr>
        <p:blipFill rotWithShape="1">
          <a:blip r:embed="rId4">
            <a:extLst>
              <a:ext uri="{28A0092B-C50C-407E-A947-70E740481C1C}">
                <a14:useLocalDpi xmlns:a14="http://schemas.microsoft.com/office/drawing/2010/main" val="0"/>
              </a:ext>
            </a:extLst>
          </a:blip>
          <a:srcRect/>
          <a:stretch/>
        </p:blipFill>
        <p:spPr>
          <a:xfrm>
            <a:off x="8747458" y="2886074"/>
            <a:ext cx="1845511" cy="1845511"/>
          </a:xfrm>
        </p:spPr>
      </p:pic>
      <p:sp>
        <p:nvSpPr>
          <p:cNvPr id="24" name="Text Placeholder 23">
            <a:extLst>
              <a:ext uri="{FF2B5EF4-FFF2-40B4-BE49-F238E27FC236}">
                <a16:creationId xmlns:a16="http://schemas.microsoft.com/office/drawing/2014/main" id="{770E754B-2AAD-8739-A088-B5E5A2B7F7C9}"/>
              </a:ext>
            </a:extLst>
          </p:cNvPr>
          <p:cNvSpPr>
            <a:spLocks noGrp="1"/>
          </p:cNvSpPr>
          <p:nvPr>
            <p:ph type="body" idx="1"/>
          </p:nvPr>
        </p:nvSpPr>
        <p:spPr>
          <a:xfrm>
            <a:off x="1343248" y="5084524"/>
            <a:ext cx="2123743" cy="343061"/>
          </a:xfrm>
        </p:spPr>
        <p:txBody>
          <a:bodyPr/>
          <a:lstStyle/>
          <a:p>
            <a:r>
              <a:rPr lang="en-US" dirty="0" err="1">
                <a:latin typeface="Arial" panose="020B0604020202020204" pitchFamily="34" charset="0"/>
                <a:cs typeface="Arial" panose="020B0604020202020204" pitchFamily="34" charset="0"/>
              </a:rPr>
              <a:t>Donsam</a:t>
            </a:r>
            <a:r>
              <a:rPr lang="en-US" dirty="0">
                <a:latin typeface="Arial" panose="020B0604020202020204" pitchFamily="34" charset="0"/>
                <a:cs typeface="Arial" panose="020B0604020202020204" pitchFamily="34" charset="0"/>
              </a:rPr>
              <a:t> Jean Gabard NOEL</a:t>
            </a:r>
          </a:p>
        </p:txBody>
      </p:sp>
      <p:sp>
        <p:nvSpPr>
          <p:cNvPr id="33" name="Text Placeholder 32">
            <a:extLst>
              <a:ext uri="{FF2B5EF4-FFF2-40B4-BE49-F238E27FC236}">
                <a16:creationId xmlns:a16="http://schemas.microsoft.com/office/drawing/2014/main" id="{E078C7C3-3B4C-E3B6-ADA1-6E4C415120C8}"/>
              </a:ext>
            </a:extLst>
          </p:cNvPr>
          <p:cNvSpPr>
            <a:spLocks noGrp="1"/>
          </p:cNvSpPr>
          <p:nvPr>
            <p:ph type="body" idx="18"/>
          </p:nvPr>
        </p:nvSpPr>
        <p:spPr>
          <a:xfrm>
            <a:off x="3692980" y="5099206"/>
            <a:ext cx="2135755" cy="343061"/>
          </a:xfrm>
        </p:spPr>
        <p:txBody>
          <a:bodyPr/>
          <a:lstStyle/>
          <a:p>
            <a:r>
              <a:rPr lang="en-US" dirty="0">
                <a:latin typeface="Arial" panose="020B0604020202020204" pitchFamily="34" charset="0"/>
                <a:cs typeface="Arial" panose="020B0604020202020204" pitchFamily="34" charset="0"/>
              </a:rPr>
              <a:t>MIRJAM NILSSON​</a:t>
            </a:r>
          </a:p>
        </p:txBody>
      </p:sp>
      <p:sp>
        <p:nvSpPr>
          <p:cNvPr id="34" name="Text Placeholder 33">
            <a:extLst>
              <a:ext uri="{FF2B5EF4-FFF2-40B4-BE49-F238E27FC236}">
                <a16:creationId xmlns:a16="http://schemas.microsoft.com/office/drawing/2014/main" id="{8553090E-D3CE-191B-F7A5-6C8FA99F9924}"/>
              </a:ext>
            </a:extLst>
          </p:cNvPr>
          <p:cNvSpPr>
            <a:spLocks noGrp="1"/>
          </p:cNvSpPr>
          <p:nvPr>
            <p:ph type="body" idx="19"/>
          </p:nvPr>
        </p:nvSpPr>
        <p:spPr>
          <a:xfrm>
            <a:off x="6183644" y="5099206"/>
            <a:ext cx="2123743" cy="343061"/>
          </a:xfrm>
        </p:spPr>
        <p:txBody>
          <a:bodyPr/>
          <a:lstStyle/>
          <a:p>
            <a:r>
              <a:rPr lang="en-US" dirty="0">
                <a:latin typeface="Arial" panose="020B0604020202020204" pitchFamily="34" charset="0"/>
                <a:cs typeface="Arial" panose="020B0604020202020204" pitchFamily="34" charset="0"/>
              </a:rPr>
              <a:t>FLORA BERGGREN​</a:t>
            </a:r>
          </a:p>
        </p:txBody>
      </p:sp>
      <p:sp>
        <p:nvSpPr>
          <p:cNvPr id="35" name="Text Placeholder 34">
            <a:extLst>
              <a:ext uri="{FF2B5EF4-FFF2-40B4-BE49-F238E27FC236}">
                <a16:creationId xmlns:a16="http://schemas.microsoft.com/office/drawing/2014/main" id="{77D54B5D-0BE0-86F8-2746-77BD3D7FE978}"/>
              </a:ext>
            </a:extLst>
          </p:cNvPr>
          <p:cNvSpPr>
            <a:spLocks noGrp="1"/>
          </p:cNvSpPr>
          <p:nvPr>
            <p:ph type="body" idx="20"/>
          </p:nvPr>
        </p:nvSpPr>
        <p:spPr>
          <a:xfrm>
            <a:off x="8603525" y="5084524"/>
            <a:ext cx="2123742" cy="343061"/>
          </a:xfrm>
        </p:spPr>
        <p:txBody>
          <a:bodyPr/>
          <a:lstStyle/>
          <a:p>
            <a:r>
              <a:rPr lang="en-US" dirty="0">
                <a:latin typeface="Arial" panose="020B0604020202020204" pitchFamily="34" charset="0"/>
                <a:cs typeface="Arial" panose="020B0604020202020204" pitchFamily="34" charset="0"/>
              </a:rPr>
              <a:t>RAJESH SANTOSHI​</a:t>
            </a:r>
          </a:p>
        </p:txBody>
      </p:sp>
      <p:sp>
        <p:nvSpPr>
          <p:cNvPr id="36" name="Text Placeholder 35">
            <a:extLst>
              <a:ext uri="{FF2B5EF4-FFF2-40B4-BE49-F238E27FC236}">
                <a16:creationId xmlns:a16="http://schemas.microsoft.com/office/drawing/2014/main" id="{EC372EEF-6490-3F6B-1DA2-E665E048DD20}"/>
              </a:ext>
            </a:extLst>
          </p:cNvPr>
          <p:cNvSpPr>
            <a:spLocks noGrp="1"/>
          </p:cNvSpPr>
          <p:nvPr>
            <p:ph type="body" idx="21"/>
          </p:nvPr>
        </p:nvSpPr>
        <p:spPr>
          <a:xfrm>
            <a:off x="1487181" y="5464114"/>
            <a:ext cx="1845511" cy="343061"/>
          </a:xfrm>
        </p:spPr>
        <p:txBody>
          <a:bodyPr/>
          <a:lstStyle/>
          <a:p>
            <a:r>
              <a:rPr lang="en-US" dirty="0" err="1">
                <a:latin typeface="Arial" panose="020B0604020202020204" pitchFamily="34" charset="0"/>
                <a:cs typeface="Arial" panose="020B0604020202020204" pitchFamily="34" charset="0"/>
              </a:rPr>
              <a:t>Etudiant</a:t>
            </a:r>
            <a:r>
              <a:rPr lang="en-US" dirty="0">
                <a:latin typeface="Arial" panose="020B0604020202020204" pitchFamily="34" charset="0"/>
                <a:cs typeface="Arial" panose="020B0604020202020204" pitchFamily="34" charset="0"/>
              </a:rPr>
              <a:t> L3</a:t>
            </a:r>
          </a:p>
        </p:txBody>
      </p:sp>
      <p:sp>
        <p:nvSpPr>
          <p:cNvPr id="37" name="Text Placeholder 36">
            <a:extLst>
              <a:ext uri="{FF2B5EF4-FFF2-40B4-BE49-F238E27FC236}">
                <a16:creationId xmlns:a16="http://schemas.microsoft.com/office/drawing/2014/main" id="{86288FF7-DFE9-7DB7-7EA0-6435D180998A}"/>
              </a:ext>
            </a:extLst>
          </p:cNvPr>
          <p:cNvSpPr>
            <a:spLocks noGrp="1"/>
          </p:cNvSpPr>
          <p:nvPr>
            <p:ph type="body" idx="22"/>
          </p:nvPr>
        </p:nvSpPr>
        <p:spPr>
          <a:xfrm>
            <a:off x="3836913" y="5478796"/>
            <a:ext cx="1855949" cy="343061"/>
          </a:xfrm>
        </p:spPr>
        <p:txBody>
          <a:bodyPr/>
          <a:lstStyle/>
          <a:p>
            <a:r>
              <a:rPr lang="en-US" dirty="0">
                <a:latin typeface="Arial" panose="020B0604020202020204" pitchFamily="34" charset="0"/>
                <a:cs typeface="Arial" panose="020B0604020202020204" pitchFamily="34" charset="0"/>
              </a:rPr>
              <a:t>Chief Executive Officer</a:t>
            </a:r>
          </a:p>
        </p:txBody>
      </p:sp>
      <p:sp>
        <p:nvSpPr>
          <p:cNvPr id="38" name="Text Placeholder 37">
            <a:extLst>
              <a:ext uri="{FF2B5EF4-FFF2-40B4-BE49-F238E27FC236}">
                <a16:creationId xmlns:a16="http://schemas.microsoft.com/office/drawing/2014/main" id="{D7D418C7-B549-AD36-B29C-DBB301DBA957}"/>
              </a:ext>
            </a:extLst>
          </p:cNvPr>
          <p:cNvSpPr>
            <a:spLocks noGrp="1"/>
          </p:cNvSpPr>
          <p:nvPr>
            <p:ph type="body" idx="23"/>
          </p:nvPr>
        </p:nvSpPr>
        <p:spPr>
          <a:xfrm>
            <a:off x="6327577" y="5478796"/>
            <a:ext cx="1845511" cy="343061"/>
          </a:xfrm>
        </p:spPr>
        <p:txBody>
          <a:bodyPr/>
          <a:lstStyle/>
          <a:p>
            <a:r>
              <a:rPr lang="en-US" dirty="0">
                <a:latin typeface="Arial" panose="020B0604020202020204" pitchFamily="34" charset="0"/>
                <a:cs typeface="Arial" panose="020B0604020202020204" pitchFamily="34" charset="0"/>
              </a:rPr>
              <a:t>Chief Operations Officer</a:t>
            </a:r>
          </a:p>
          <a:p>
            <a:endParaRPr lang="en-US" dirty="0">
              <a:latin typeface="Arial" panose="020B0604020202020204" pitchFamily="34" charset="0"/>
              <a:cs typeface="Arial" panose="020B0604020202020204" pitchFamily="34" charset="0"/>
            </a:endParaRPr>
          </a:p>
        </p:txBody>
      </p:sp>
      <p:sp>
        <p:nvSpPr>
          <p:cNvPr id="39" name="Text Placeholder 38">
            <a:extLst>
              <a:ext uri="{FF2B5EF4-FFF2-40B4-BE49-F238E27FC236}">
                <a16:creationId xmlns:a16="http://schemas.microsoft.com/office/drawing/2014/main" id="{23797BDC-F6A0-C1D1-59F4-CD0C40575F9C}"/>
              </a:ext>
            </a:extLst>
          </p:cNvPr>
          <p:cNvSpPr>
            <a:spLocks noGrp="1"/>
          </p:cNvSpPr>
          <p:nvPr>
            <p:ph type="body" idx="24"/>
          </p:nvPr>
        </p:nvSpPr>
        <p:spPr>
          <a:xfrm>
            <a:off x="8747458" y="5464114"/>
            <a:ext cx="1845510" cy="343061"/>
          </a:xfrm>
        </p:spPr>
        <p:txBody>
          <a:bodyPr/>
          <a:lstStyle/>
          <a:p>
            <a:r>
              <a:rPr lang="en-US" dirty="0">
                <a:latin typeface="Arial" panose="020B0604020202020204" pitchFamily="34" charset="0"/>
                <a:cs typeface="Arial" panose="020B0604020202020204" pitchFamily="34" charset="0"/>
              </a:rPr>
              <a:t>VP Marketing</a:t>
            </a: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2ECE122-687C-9408-0650-B13CB7938BCF}"/>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Arial" panose="020B0604020202020204" pitchFamily="34" charset="0"/>
            </a:endParaRPr>
          </a:p>
        </p:txBody>
      </p:sp>
      <p:pic>
        <p:nvPicPr>
          <p:cNvPr id="9" name="Espace réservé pour une image  8">
            <a:extLst>
              <a:ext uri="{FF2B5EF4-FFF2-40B4-BE49-F238E27FC236}">
                <a16:creationId xmlns:a16="http://schemas.microsoft.com/office/drawing/2014/main" id="{97807665-ECFB-E9DC-3B31-A783FDEAE227}"/>
              </a:ext>
            </a:extLst>
          </p:cNvPr>
          <p:cNvPicPr>
            <a:picLocks noGrp="1" noChangeAspect="1"/>
          </p:cNvPicPr>
          <p:nvPr>
            <p:ph type="pic" sz="quarter" idx="14"/>
          </p:nvPr>
        </p:nvPicPr>
        <p:blipFill>
          <a:blip r:embed="rId5"/>
          <a:srcRect b="24936"/>
          <a:stretch>
            <a:fillRect/>
          </a:stretch>
        </p:blipFill>
        <p:spPr>
          <a:xfrm>
            <a:off x="1487181" y="2886074"/>
            <a:ext cx="1845511" cy="1845511"/>
          </a:xfrm>
          <a:prstGeom prst="rect">
            <a:avLst/>
          </a:prstGeom>
          <a:solidFill>
            <a:prstClr val="white">
              <a:lumMod val="95000"/>
            </a:prstClr>
          </a:solidFill>
        </p:spPr>
      </p:pic>
    </p:spTree>
    <p:extLst>
      <p:ext uri="{BB962C8B-B14F-4D97-AF65-F5344CB8AC3E}">
        <p14:creationId xmlns:p14="http://schemas.microsoft.com/office/powerpoint/2010/main" val="1358989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a:bodyPr>
          <a:lstStyle/>
          <a:p>
            <a:r>
              <a:rPr lang="en-US" dirty="0">
                <a:latin typeface="Arial" panose="020B0604020202020204" pitchFamily="34" charset="0"/>
                <a:cs typeface="Arial" panose="020B0604020202020204" pitchFamily="34" charset="0"/>
              </a:rPr>
              <a:t>Mirjam Nilsson​</a:t>
            </a:r>
          </a:p>
          <a:p>
            <a:r>
              <a:rPr lang="en-US" dirty="0">
                <a:latin typeface="Arial" panose="020B0604020202020204" pitchFamily="34" charset="0"/>
                <a:cs typeface="Arial" panose="020B0604020202020204" pitchFamily="34" charset="0"/>
              </a:rPr>
              <a:t>206-555-0146</a:t>
            </a:r>
          </a:p>
          <a:p>
            <a:r>
              <a:rPr lang="en-US" dirty="0">
                <a:latin typeface="Arial" panose="020B0604020202020204" pitchFamily="34" charset="0"/>
                <a:cs typeface="Arial" panose="020B0604020202020204" pitchFamily="34" charset="0"/>
              </a:rPr>
              <a:t>mirjam@contoso.com</a:t>
            </a:r>
          </a:p>
          <a:p>
            <a:r>
              <a:rPr lang="en-US" dirty="0">
                <a:latin typeface="Arial" panose="020B0604020202020204" pitchFamily="34" charset="0"/>
                <a:cs typeface="Arial" panose="020B0604020202020204" pitchFamily="34" charset="0"/>
              </a:rPr>
              <a:t>www.contoso.com</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19</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{0101CBB1-026B-44E1-83F2-ED60199C4897}TF1ed81438-95a7-4ae9-841d-43ea2c64f7fc8ae7ff09_win32-aa52a5bb69e3</Template>
  <TotalTime>366</TotalTime>
  <Words>1282</Words>
  <Application>Microsoft Office PowerPoint</Application>
  <PresentationFormat>Widescreen</PresentationFormat>
  <Paragraphs>123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Wingdings</vt:lpstr>
      <vt:lpstr>Calibri</vt:lpstr>
      <vt:lpstr>Tenorite</vt:lpstr>
      <vt:lpstr>Monoline</vt:lpstr>
      <vt:lpstr>FACULTÉ DES SCIENCES ET DES TECHNOLOGIES  (FST)</vt:lpstr>
      <vt:lpstr>PowerPoint Presentation</vt:lpstr>
      <vt:lpstr>introduction</vt:lpstr>
      <vt:lpstr>Objectifs du Projet </vt:lpstr>
      <vt:lpstr>  Problématique </vt:lpstr>
      <vt:lpstr>  Méthodologie </vt:lpstr>
      <vt:lpstr>PowerPoint Presentation</vt:lpstr>
      <vt:lpstr>1. Authentification par clé cryptographique</vt:lpstr>
      <vt:lpstr>PowerPoint Presentation</vt:lpstr>
      <vt:lpstr>PowerPoint Presentation</vt:lpstr>
      <vt:lpstr>3. Changement du port ssh</vt:lpstr>
      <vt:lpstr>TEST DEPUIS UN AUTRE TERMINAL(Mon ordinateur personnel</vt:lpstr>
      <vt:lpstr>PowerPoint Presentation</vt:lpstr>
      <vt:lpstr>PowerPoint Presentation</vt:lpstr>
      <vt:lpstr>PowerPoint Presentation</vt:lpstr>
      <vt:lpstr>PowerPoint Presentation</vt:lpstr>
      <vt:lpstr>conclusion</vt:lpstr>
      <vt:lpstr>MEET THE TEAM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lens petiote</dc:creator>
  <cp:lastModifiedBy>lens petiote</cp:lastModifiedBy>
  <cp:revision>7</cp:revision>
  <dcterms:created xsi:type="dcterms:W3CDTF">2026-05-17T17:47:05Z</dcterms:created>
  <dcterms:modified xsi:type="dcterms:W3CDTF">2026-05-19T02:16:45Z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